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2" r:id="rId6"/>
    <p:sldId id="265" r:id="rId7"/>
    <p:sldId id="266" r:id="rId8"/>
    <p:sldId id="267" r:id="rId9"/>
    <p:sldId id="278" r:id="rId10"/>
    <p:sldId id="279" r:id="rId11"/>
    <p:sldId id="268" r:id="rId12"/>
    <p:sldId id="284" r:id="rId13"/>
    <p:sldId id="274" r:id="rId14"/>
    <p:sldId id="290" r:id="rId15"/>
    <p:sldId id="270" r:id="rId16"/>
    <p:sldId id="293" r:id="rId17"/>
    <p:sldId id="292" r:id="rId18"/>
    <p:sldId id="291" r:id="rId19"/>
    <p:sldId id="275" r:id="rId20"/>
  </p:sldIdLst>
  <p:sldSz cx="18288000" cy="10287000"/>
  <p:notesSz cx="6858000" cy="9144000"/>
  <p:embeddedFontLst>
    <p:embeddedFont>
      <p:font typeface="Glacial Indifference" panose="020B0604020202020204" charset="0"/>
      <p:regular r:id="rId21"/>
    </p:embeddedFont>
    <p:embeddedFont>
      <p:font typeface="Glacial Indifference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D4CD"/>
    <a:srgbClr val="04345C"/>
    <a:srgbClr val="1D5B78"/>
    <a:srgbClr val="205F7B"/>
    <a:srgbClr val="3B5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1" d="100"/>
          <a:sy n="51" d="100"/>
        </p:scale>
        <p:origin x="898"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3261929">
            <a:off x="9293478" y="-3927861"/>
            <a:ext cx="12406564" cy="12856543"/>
          </a:xfrm>
          <a:custGeom>
            <a:avLst/>
            <a:gdLst/>
            <a:ahLst/>
            <a:cxnLst/>
            <a:rect l="l" t="t" r="r" b="b"/>
            <a:pathLst>
              <a:path w="12406564" h="12856543">
                <a:moveTo>
                  <a:pt x="0" y="0"/>
                </a:moveTo>
                <a:lnTo>
                  <a:pt x="12406564" y="0"/>
                </a:lnTo>
                <a:lnTo>
                  <a:pt x="12406564" y="12856543"/>
                </a:lnTo>
                <a:lnTo>
                  <a:pt x="0" y="12856543"/>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4" name="Freeform 4"/>
          <p:cNvSpPr/>
          <p:nvPr/>
        </p:nvSpPr>
        <p:spPr>
          <a:xfrm rot="6512446">
            <a:off x="2886989" y="123521"/>
            <a:ext cx="10179983" cy="10549205"/>
          </a:xfrm>
          <a:custGeom>
            <a:avLst/>
            <a:gdLst/>
            <a:ahLst/>
            <a:cxnLst/>
            <a:rect l="l" t="t" r="r" b="b"/>
            <a:pathLst>
              <a:path w="10179983" h="10549205">
                <a:moveTo>
                  <a:pt x="0" y="0"/>
                </a:moveTo>
                <a:lnTo>
                  <a:pt x="10179983" y="0"/>
                </a:lnTo>
                <a:lnTo>
                  <a:pt x="10179983" y="10549205"/>
                </a:lnTo>
                <a:lnTo>
                  <a:pt x="0" y="1054920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5" name="Group 5"/>
          <p:cNvGrpSpPr/>
          <p:nvPr/>
        </p:nvGrpSpPr>
        <p:grpSpPr>
          <a:xfrm>
            <a:off x="17259300" y="2331504"/>
            <a:ext cx="571500" cy="571500"/>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7" name="TextBox 7"/>
          <p:cNvSpPr txBox="1"/>
          <p:nvPr/>
        </p:nvSpPr>
        <p:spPr>
          <a:xfrm>
            <a:off x="457200" y="1571245"/>
            <a:ext cx="17373600" cy="2585323"/>
          </a:xfrm>
          <a:prstGeom prst="rect">
            <a:avLst/>
          </a:prstGeom>
        </p:spPr>
        <p:txBody>
          <a:bodyPr wrap="square" lIns="0" tIns="0" rIns="0" bIns="0" rtlCol="0" anchor="t">
            <a:spAutoFit/>
          </a:bodyPr>
          <a:lstStyle/>
          <a:p>
            <a:pPr algn="ctr"/>
            <a:r>
              <a:rPr lang="en-US" sz="6000" b="1" dirty="0">
                <a:solidFill>
                  <a:srgbClr val="6BD4CD"/>
                </a:solidFill>
                <a:latin typeface="Times New Roman" panose="02020603050405020304" pitchFamily="18" charset="0"/>
                <a:cs typeface="Times New Roman" panose="02020603050405020304" pitchFamily="18" charset="0"/>
              </a:rPr>
              <a:t>Cloud Infrastructure &amp; System Administration Intern</a:t>
            </a:r>
            <a:endParaRPr lang="en-US" sz="6000" dirty="0">
              <a:solidFill>
                <a:srgbClr val="6BD4CD"/>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pPr>
            <a:endParaRPr lang="en-IN" sz="3600" dirty="0">
              <a:solidFill>
                <a:schemeClr val="bg1"/>
              </a:solidFill>
              <a:effectLst/>
              <a:latin typeface="Glacial Indifference Bold" panose="020B0604020202020204" charset="0"/>
              <a:ea typeface="Calibri" panose="020F0502020204030204" pitchFamily="34" charset="0"/>
              <a:cs typeface="Times New Roman" panose="02020603050405020304" pitchFamily="18" charset="0"/>
            </a:endParaRPr>
          </a:p>
        </p:txBody>
      </p:sp>
      <p:sp>
        <p:nvSpPr>
          <p:cNvPr id="8" name="TextBox 8"/>
          <p:cNvSpPr txBox="1"/>
          <p:nvPr/>
        </p:nvSpPr>
        <p:spPr>
          <a:xfrm>
            <a:off x="435429" y="6936961"/>
            <a:ext cx="7115133" cy="474489"/>
          </a:xfrm>
          <a:prstGeom prst="rect">
            <a:avLst/>
          </a:prstGeom>
        </p:spPr>
        <p:txBody>
          <a:bodyPr lIns="0" tIns="0" rIns="0" bIns="0" rtlCol="0" anchor="t">
            <a:spAutoFit/>
          </a:bodyPr>
          <a:lstStyle/>
          <a:p>
            <a:pPr>
              <a:lnSpc>
                <a:spcPts val="3730"/>
              </a:lnSpc>
              <a:spcBef>
                <a:spcPct val="0"/>
              </a:spcBef>
            </a:pPr>
            <a:endParaRPr lang="en-US" sz="3108" spc="310" dirty="0">
              <a:solidFill>
                <a:srgbClr val="FFFFFF"/>
              </a:solidFill>
              <a:latin typeface="Glacial Indifference"/>
            </a:endParaRPr>
          </a:p>
        </p:txBody>
      </p:sp>
      <p:sp>
        <p:nvSpPr>
          <p:cNvPr id="9" name="TextBox 9"/>
          <p:cNvSpPr txBox="1"/>
          <p:nvPr/>
        </p:nvSpPr>
        <p:spPr>
          <a:xfrm>
            <a:off x="9364624" y="6936961"/>
            <a:ext cx="8180426" cy="699615"/>
          </a:xfrm>
          <a:prstGeom prst="rect">
            <a:avLst/>
          </a:prstGeom>
        </p:spPr>
        <p:txBody>
          <a:bodyPr lIns="0" tIns="0" rIns="0" bIns="0" rtlCol="0" anchor="t">
            <a:spAutoFit/>
          </a:bodyPr>
          <a:lstStyle/>
          <a:p>
            <a:pPr algn="ctr">
              <a:lnSpc>
                <a:spcPts val="5667"/>
              </a:lnSpc>
              <a:spcBef>
                <a:spcPct val="0"/>
              </a:spcBef>
            </a:pPr>
            <a:endParaRPr lang="en-US" sz="4722" spc="472" dirty="0">
              <a:solidFill>
                <a:srgbClr val="FFFFFF"/>
              </a:solidFill>
              <a:latin typeface="Glacial Indifference"/>
            </a:endParaRPr>
          </a:p>
        </p:txBody>
      </p:sp>
      <p:sp>
        <p:nvSpPr>
          <p:cNvPr id="10" name="TextBox 10"/>
          <p:cNvSpPr txBox="1"/>
          <p:nvPr/>
        </p:nvSpPr>
        <p:spPr>
          <a:xfrm>
            <a:off x="5867400" y="4305301"/>
            <a:ext cx="6205252" cy="3795911"/>
          </a:xfrm>
          <a:prstGeom prst="rect">
            <a:avLst/>
          </a:prstGeom>
        </p:spPr>
        <p:txBody>
          <a:bodyPr wrap="square" lIns="0" tIns="0" rIns="0" bIns="0" rtlCol="0" anchor="t">
            <a:spAutoFit/>
          </a:bodyPr>
          <a:lstStyle/>
          <a:p>
            <a:pPr algn="ctr">
              <a:lnSpc>
                <a:spcPts val="3730"/>
              </a:lnSpc>
              <a:spcBef>
                <a:spcPct val="0"/>
              </a:spcBef>
            </a:pPr>
            <a:r>
              <a:rPr lang="en-US" sz="4000" spc="310" dirty="0">
                <a:solidFill>
                  <a:srgbClr val="FFFFFF"/>
                </a:solidFill>
                <a:latin typeface="Times New Roman" panose="02020603050405020304" pitchFamily="18" charset="0"/>
                <a:cs typeface="Times New Roman" panose="02020603050405020304" pitchFamily="18" charset="0"/>
              </a:rPr>
              <a:t>INTERNSHIP VIVA</a:t>
            </a:r>
          </a:p>
          <a:p>
            <a:pPr algn="ctr">
              <a:lnSpc>
                <a:spcPts val="3730"/>
              </a:lnSpc>
              <a:spcBef>
                <a:spcPct val="0"/>
              </a:spcBef>
            </a:pPr>
            <a:r>
              <a:rPr lang="en-US" sz="4000" spc="310" dirty="0">
                <a:solidFill>
                  <a:srgbClr val="FFFFFF"/>
                </a:solidFill>
                <a:latin typeface="Times New Roman" panose="02020603050405020304" pitchFamily="18" charset="0"/>
                <a:cs typeface="Times New Roman" panose="02020603050405020304" pitchFamily="18" charset="0"/>
              </a:rPr>
              <a:t>30-Nov-2025</a:t>
            </a:r>
          </a:p>
          <a:p>
            <a:pPr algn="ctr">
              <a:lnSpc>
                <a:spcPts val="3730"/>
              </a:lnSpc>
              <a:spcBef>
                <a:spcPct val="0"/>
              </a:spcBef>
            </a:pPr>
            <a:endParaRPr lang="en-US" sz="4000" spc="310" dirty="0">
              <a:solidFill>
                <a:srgbClr val="FFFFFF"/>
              </a:solidFill>
              <a:latin typeface="Times New Roman" panose="02020603050405020304" pitchFamily="18" charset="0"/>
              <a:cs typeface="Times New Roman" panose="02020603050405020304" pitchFamily="18" charset="0"/>
            </a:endParaRPr>
          </a:p>
          <a:p>
            <a:pPr algn="ctr">
              <a:lnSpc>
                <a:spcPts val="3730"/>
              </a:lnSpc>
              <a:spcBef>
                <a:spcPct val="0"/>
              </a:spcBef>
            </a:pPr>
            <a:r>
              <a:rPr lang="en-US" sz="4000" b="1" dirty="0">
                <a:solidFill>
                  <a:schemeClr val="bg1"/>
                </a:solidFill>
                <a:latin typeface="Times New Roman" panose="02020603050405020304" pitchFamily="18" charset="0"/>
                <a:cs typeface="Times New Roman" panose="02020603050405020304" pitchFamily="18" charset="0"/>
              </a:rPr>
              <a:t>[EA2432251010355]</a:t>
            </a:r>
            <a:endParaRPr lang="en-IN" sz="4000" dirty="0">
              <a:solidFill>
                <a:schemeClr val="bg1"/>
              </a:solidFill>
              <a:latin typeface="Times New Roman" panose="02020603050405020304" pitchFamily="18" charset="0"/>
              <a:cs typeface="Times New Roman" panose="02020603050405020304" pitchFamily="18" charset="0"/>
            </a:endParaRPr>
          </a:p>
          <a:p>
            <a:pPr algn="ctr">
              <a:lnSpc>
                <a:spcPts val="3730"/>
              </a:lnSpc>
              <a:spcBef>
                <a:spcPct val="0"/>
              </a:spcBef>
            </a:pPr>
            <a:endParaRPr lang="en-US" sz="4000" spc="310" dirty="0">
              <a:solidFill>
                <a:srgbClr val="FFFFFF"/>
              </a:solidFill>
              <a:latin typeface="Times New Roman" panose="02020603050405020304" pitchFamily="18" charset="0"/>
              <a:cs typeface="Times New Roman" panose="02020603050405020304" pitchFamily="18" charset="0"/>
            </a:endParaRPr>
          </a:p>
          <a:p>
            <a:pPr algn="ctr">
              <a:lnSpc>
                <a:spcPts val="3730"/>
              </a:lnSpc>
              <a:spcBef>
                <a:spcPct val="0"/>
              </a:spcBef>
            </a:pPr>
            <a:r>
              <a:rPr lang="en-US" sz="4000" b="1" spc="310" dirty="0">
                <a:solidFill>
                  <a:srgbClr val="FFFFFF"/>
                </a:solidFill>
                <a:latin typeface="Times New Roman" panose="02020603050405020304" pitchFamily="18" charset="0"/>
                <a:cs typeface="Times New Roman" panose="02020603050405020304" pitchFamily="18" charset="0"/>
              </a:rPr>
              <a:t>Utkarsh Srivastava</a:t>
            </a:r>
          </a:p>
          <a:p>
            <a:pPr algn="ctr">
              <a:lnSpc>
                <a:spcPts val="3730"/>
              </a:lnSpc>
              <a:spcBef>
                <a:spcPct val="0"/>
              </a:spcBef>
            </a:pPr>
            <a:endParaRPr lang="en-US" sz="3108" spc="310" dirty="0">
              <a:solidFill>
                <a:srgbClr val="FFFFFF"/>
              </a:solidFill>
              <a:latin typeface="Glacial Indifference" panose="020B0604020202020204" charset="0"/>
            </a:endParaRPr>
          </a:p>
          <a:p>
            <a:pPr>
              <a:lnSpc>
                <a:spcPts val="3730"/>
              </a:lnSpc>
              <a:spcBef>
                <a:spcPct val="0"/>
              </a:spcBef>
            </a:pPr>
            <a:endParaRPr lang="en-US" sz="3108" spc="310" dirty="0">
              <a:solidFill>
                <a:srgbClr val="FFFFFF"/>
              </a:solidFill>
              <a:latin typeface="Glacial Indifference"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a:off x="121099" y="922297"/>
            <a:ext cx="9022901" cy="9350156"/>
          </a:xfrm>
          <a:custGeom>
            <a:avLst/>
            <a:gdLst/>
            <a:ahLst/>
            <a:cxnLst/>
            <a:rect l="l" t="t" r="r" b="b"/>
            <a:pathLst>
              <a:path w="9022901" h="9350156">
                <a:moveTo>
                  <a:pt x="0" y="0"/>
                </a:moveTo>
                <a:lnTo>
                  <a:pt x="9022900" y="0"/>
                </a:lnTo>
                <a:lnTo>
                  <a:pt x="9022900" y="9350156"/>
                </a:lnTo>
                <a:lnTo>
                  <a:pt x="0" y="935015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rot="-5400000">
            <a:off x="13615654" y="-2642814"/>
            <a:ext cx="5534692" cy="5735432"/>
          </a:xfrm>
          <a:custGeom>
            <a:avLst/>
            <a:gdLst/>
            <a:ahLst/>
            <a:cxnLst/>
            <a:rect l="l" t="t" r="r" b="b"/>
            <a:pathLst>
              <a:path w="5534692" h="5735432">
                <a:moveTo>
                  <a:pt x="0" y="0"/>
                </a:moveTo>
                <a:lnTo>
                  <a:pt x="5534692" y="0"/>
                </a:lnTo>
                <a:lnTo>
                  <a:pt x="5534692" y="5735431"/>
                </a:lnTo>
                <a:lnTo>
                  <a:pt x="0" y="5735431"/>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9653010">
            <a:off x="-2329864" y="2214716"/>
            <a:ext cx="8774102" cy="9092333"/>
          </a:xfrm>
          <a:custGeom>
            <a:avLst/>
            <a:gdLst/>
            <a:ahLst/>
            <a:cxnLst/>
            <a:rect l="l" t="t" r="r" b="b"/>
            <a:pathLst>
              <a:path w="8774102" h="9092333">
                <a:moveTo>
                  <a:pt x="0" y="0"/>
                </a:moveTo>
                <a:lnTo>
                  <a:pt x="8774102" y="0"/>
                </a:lnTo>
                <a:lnTo>
                  <a:pt x="8774102" y="9092334"/>
                </a:lnTo>
                <a:lnTo>
                  <a:pt x="0" y="9092334"/>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896806">
            <a:off x="-1451748" y="4448377"/>
            <a:ext cx="6599197" cy="6838546"/>
          </a:xfrm>
          <a:custGeom>
            <a:avLst/>
            <a:gdLst/>
            <a:ahLst/>
            <a:cxnLst/>
            <a:rect l="l" t="t" r="r" b="b"/>
            <a:pathLst>
              <a:path w="6599197" h="6838546">
                <a:moveTo>
                  <a:pt x="0" y="0"/>
                </a:moveTo>
                <a:lnTo>
                  <a:pt x="6599196" y="0"/>
                </a:lnTo>
                <a:lnTo>
                  <a:pt x="6599196" y="6838546"/>
                </a:lnTo>
                <a:lnTo>
                  <a:pt x="0" y="68385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rot="-1327134">
            <a:off x="16950340" y="6599166"/>
            <a:ext cx="1658546" cy="1718700"/>
          </a:xfrm>
          <a:custGeom>
            <a:avLst/>
            <a:gdLst/>
            <a:ahLst/>
            <a:cxnLst/>
            <a:rect l="l" t="t" r="r" b="b"/>
            <a:pathLst>
              <a:path w="1658546" h="1718700">
                <a:moveTo>
                  <a:pt x="0" y="0"/>
                </a:moveTo>
                <a:lnTo>
                  <a:pt x="1658546" y="0"/>
                </a:lnTo>
                <a:lnTo>
                  <a:pt x="1658546" y="1718700"/>
                </a:lnTo>
                <a:lnTo>
                  <a:pt x="0" y="1718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7" name="Group 7"/>
          <p:cNvGrpSpPr/>
          <p:nvPr/>
        </p:nvGrpSpPr>
        <p:grpSpPr>
          <a:xfrm>
            <a:off x="-152400" y="1028700"/>
            <a:ext cx="1181100" cy="1181100"/>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txBody>
            <a:bodyPr/>
            <a:lstStyle/>
            <a:p>
              <a:endParaRPr lang="en-IN"/>
            </a:p>
          </p:txBody>
        </p:sp>
      </p:grpSp>
      <p:grpSp>
        <p:nvGrpSpPr>
          <p:cNvPr id="9" name="Group 9"/>
          <p:cNvGrpSpPr/>
          <p:nvPr/>
        </p:nvGrpSpPr>
        <p:grpSpPr>
          <a:xfrm>
            <a:off x="16687800" y="8686800"/>
            <a:ext cx="571500" cy="5715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txBody>
            <a:bodyPr/>
            <a:lstStyle/>
            <a:p>
              <a:endParaRPr lang="en-IN"/>
            </a:p>
          </p:txBody>
        </p:sp>
      </p:grpSp>
      <p:sp>
        <p:nvSpPr>
          <p:cNvPr id="12" name="TextBox 12"/>
          <p:cNvSpPr txBox="1"/>
          <p:nvPr/>
        </p:nvSpPr>
        <p:spPr>
          <a:xfrm>
            <a:off x="5917714" y="419101"/>
            <a:ext cx="6693805" cy="807913"/>
          </a:xfrm>
          <a:prstGeom prst="rect">
            <a:avLst/>
          </a:prstGeom>
        </p:spPr>
        <p:txBody>
          <a:bodyPr wrap="square" lIns="0" tIns="0" rIns="0" bIns="0" rtlCol="0" anchor="t">
            <a:spAutoFit/>
          </a:bodyPr>
          <a:lstStyle/>
          <a:p>
            <a:pPr algn="ctr">
              <a:lnSpc>
                <a:spcPts val="6343"/>
              </a:lnSpc>
            </a:pPr>
            <a:r>
              <a:rPr lang="en-US" sz="5286" spc="528" dirty="0">
                <a:solidFill>
                  <a:srgbClr val="04345C"/>
                </a:solidFill>
                <a:latin typeface="Glacial Indifference Bold"/>
              </a:rPr>
              <a:t>CONTENTS</a:t>
            </a:r>
          </a:p>
        </p:txBody>
      </p:sp>
      <p:sp>
        <p:nvSpPr>
          <p:cNvPr id="14" name="Content Placeholder 2">
            <a:extLst>
              <a:ext uri="{FF2B5EF4-FFF2-40B4-BE49-F238E27FC236}">
                <a16:creationId xmlns:a16="http://schemas.microsoft.com/office/drawing/2014/main" id="{BCAE3BFB-6A0B-EB7A-4F14-13C0163B73E6}"/>
              </a:ext>
            </a:extLst>
          </p:cNvPr>
          <p:cNvSpPr txBox="1"/>
          <p:nvPr/>
        </p:nvSpPr>
        <p:spPr>
          <a:xfrm>
            <a:off x="1264426" y="1227014"/>
            <a:ext cx="9459299" cy="894568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50000"/>
              </a:lnSpc>
              <a:buFont typeface="Wingdings" panose="05000000000000000000" pitchFamily="2" charset="2"/>
              <a:buChar char="v"/>
            </a:pPr>
            <a:r>
              <a:rPr lang="en-US" sz="2800" b="1" dirty="0">
                <a:solidFill>
                  <a:srgbClr val="002060"/>
                </a:solidFill>
                <a:latin typeface="Times New Roman" panose="02020603050405020304" pitchFamily="18" charset="0"/>
                <a:cs typeface="Times New Roman" panose="02020603050405020304" pitchFamily="18" charset="0"/>
              </a:rPr>
              <a:t>Abstract</a:t>
            </a:r>
          </a:p>
          <a:p>
            <a:pPr lvl="2">
              <a:lnSpc>
                <a:spcPct val="150000"/>
              </a:lnSpc>
              <a:buFont typeface="Wingdings" panose="05000000000000000000" pitchFamily="2" charset="2"/>
              <a:buChar char="v"/>
            </a:pPr>
            <a:r>
              <a:rPr lang="en-IN" sz="2800" b="1" dirty="0">
                <a:solidFill>
                  <a:srgbClr val="002060"/>
                </a:solidFill>
                <a:latin typeface="Times New Roman" panose="02020603050405020304" pitchFamily="18" charset="0"/>
                <a:cs typeface="Times New Roman" panose="02020603050405020304" pitchFamily="18" charset="0"/>
              </a:rPr>
              <a:t>Introduction</a:t>
            </a:r>
          </a:p>
          <a:p>
            <a:pPr lvl="2">
              <a:lnSpc>
                <a:spcPct val="150000"/>
              </a:lnSpc>
              <a:buFont typeface="Wingdings" panose="05000000000000000000" pitchFamily="2" charset="2"/>
              <a:buChar char="v"/>
            </a:pPr>
            <a:r>
              <a:rPr lang="en-IN" sz="2800" b="1" dirty="0">
                <a:solidFill>
                  <a:srgbClr val="002060"/>
                </a:solidFill>
                <a:latin typeface="Times New Roman" panose="02020603050405020304" pitchFamily="18" charset="0"/>
                <a:cs typeface="Times New Roman" panose="02020603050405020304" pitchFamily="18" charset="0"/>
              </a:rPr>
              <a:t>Analysis &amp; Requirements </a:t>
            </a:r>
          </a:p>
          <a:p>
            <a:pPr lvl="2">
              <a:lnSpc>
                <a:spcPct val="150000"/>
              </a:lnSpc>
              <a:buFont typeface="Wingdings" panose="05000000000000000000" pitchFamily="2" charset="2"/>
              <a:buChar char="v"/>
            </a:pPr>
            <a:r>
              <a:rPr lang="en-IN" sz="2800" b="1" dirty="0">
                <a:solidFill>
                  <a:srgbClr val="002060"/>
                </a:solidFill>
                <a:latin typeface="Times New Roman" panose="02020603050405020304" pitchFamily="18" charset="0"/>
                <a:cs typeface="Times New Roman" panose="02020603050405020304" pitchFamily="18" charset="0"/>
              </a:rPr>
              <a:t>Problem Description</a:t>
            </a:r>
          </a:p>
          <a:p>
            <a:pPr lvl="2">
              <a:lnSpc>
                <a:spcPct val="150000"/>
              </a:lnSpc>
              <a:buFont typeface="Wingdings" panose="05000000000000000000" pitchFamily="2" charset="2"/>
              <a:buChar char="v"/>
            </a:pPr>
            <a:r>
              <a:rPr lang="en-IN" sz="2800" b="1" dirty="0">
                <a:solidFill>
                  <a:srgbClr val="002060"/>
                </a:solidFill>
                <a:latin typeface="Times New Roman" panose="02020603050405020304" pitchFamily="18" charset="0"/>
                <a:cs typeface="Times New Roman" panose="02020603050405020304" pitchFamily="18" charset="0"/>
              </a:rPr>
              <a:t>Design Phase</a:t>
            </a:r>
          </a:p>
          <a:p>
            <a:pPr lvl="2">
              <a:lnSpc>
                <a:spcPct val="150000"/>
              </a:lnSpc>
              <a:buFont typeface="Wingdings" panose="05000000000000000000" pitchFamily="2" charset="2"/>
              <a:buChar char="v"/>
            </a:pPr>
            <a:r>
              <a:rPr lang="en-IN" sz="2800" b="1" dirty="0">
                <a:solidFill>
                  <a:srgbClr val="002060"/>
                </a:solidFill>
                <a:latin typeface="Times New Roman" panose="02020603050405020304" pitchFamily="18" charset="0"/>
                <a:cs typeface="Times New Roman" panose="02020603050405020304" pitchFamily="18" charset="0"/>
              </a:rPr>
              <a:t>Implementation Phase</a:t>
            </a:r>
          </a:p>
          <a:p>
            <a:pPr lvl="2">
              <a:lnSpc>
                <a:spcPct val="150000"/>
              </a:lnSpc>
              <a:buFont typeface="Wingdings" panose="05000000000000000000" pitchFamily="2" charset="2"/>
              <a:buChar char="v"/>
            </a:pPr>
            <a:r>
              <a:rPr lang="en-IN" sz="2800" b="1" dirty="0">
                <a:solidFill>
                  <a:srgbClr val="002060"/>
                </a:solidFill>
                <a:latin typeface="Times New Roman" panose="02020603050405020304" pitchFamily="18" charset="0"/>
                <a:cs typeface="Times New Roman" panose="02020603050405020304" pitchFamily="18" charset="0"/>
              </a:rPr>
              <a:t>Testing Phase</a:t>
            </a:r>
          </a:p>
          <a:p>
            <a:pPr lvl="2">
              <a:lnSpc>
                <a:spcPct val="150000"/>
              </a:lnSpc>
              <a:buFont typeface="Wingdings" panose="05000000000000000000" pitchFamily="2" charset="2"/>
              <a:buChar char="v"/>
            </a:pPr>
            <a:r>
              <a:rPr lang="en-IN" sz="2800" b="1" dirty="0">
                <a:solidFill>
                  <a:srgbClr val="002060"/>
                </a:solidFill>
                <a:latin typeface="Times New Roman" panose="02020603050405020304" pitchFamily="18" charset="0"/>
                <a:cs typeface="Times New Roman" panose="02020603050405020304" pitchFamily="18" charset="0"/>
              </a:rPr>
              <a:t>Conclusion</a:t>
            </a:r>
          </a:p>
          <a:p>
            <a:pPr lvl="2">
              <a:lnSpc>
                <a:spcPct val="150000"/>
              </a:lnSpc>
              <a:buFont typeface="Wingdings" panose="05000000000000000000" pitchFamily="2" charset="2"/>
              <a:buChar char="v"/>
            </a:pPr>
            <a:r>
              <a:rPr lang="en-IN" sz="2800" b="1" dirty="0">
                <a:solidFill>
                  <a:srgbClr val="002060"/>
                </a:solidFill>
                <a:latin typeface="Times New Roman" panose="02020603050405020304" pitchFamily="18" charset="0"/>
                <a:cs typeface="Times New Roman" panose="02020603050405020304" pitchFamily="18" charset="0"/>
              </a:rPr>
              <a:t>Appendices</a:t>
            </a:r>
          </a:p>
          <a:p>
            <a:pPr lvl="2">
              <a:lnSpc>
                <a:spcPct val="150000"/>
              </a:lnSpc>
              <a:buFont typeface="Wingdings" panose="05000000000000000000" pitchFamily="2" charset="2"/>
              <a:buChar char="v"/>
            </a:pPr>
            <a:r>
              <a:rPr lang="en-IN" sz="2800" b="1" dirty="0">
                <a:solidFill>
                  <a:srgbClr val="002060"/>
                </a:solidFill>
                <a:latin typeface="Times New Roman" panose="02020603050405020304" pitchFamily="18" charset="0"/>
                <a:cs typeface="Times New Roman" panose="02020603050405020304" pitchFamily="18" charset="0"/>
              </a:rPr>
              <a:t>Screenshots</a:t>
            </a:r>
          </a:p>
          <a:p>
            <a:pPr lvl="2">
              <a:lnSpc>
                <a:spcPct val="150000"/>
              </a:lnSpc>
              <a:buFont typeface="Wingdings" panose="05000000000000000000" pitchFamily="2" charset="2"/>
              <a:buChar char="v"/>
            </a:pPr>
            <a:r>
              <a:rPr lang="en-IN" sz="2800" b="1" dirty="0">
                <a:solidFill>
                  <a:srgbClr val="002060"/>
                </a:solidFill>
                <a:latin typeface="Times New Roman" panose="02020603050405020304" pitchFamily="18" charset="0"/>
                <a:cs typeface="Times New Roman" panose="02020603050405020304" pitchFamily="18" charset="0"/>
              </a:rPr>
              <a:t>References</a:t>
            </a:r>
          </a:p>
          <a:p>
            <a:pPr lvl="2">
              <a:lnSpc>
                <a:spcPct val="150000"/>
              </a:lnSpc>
              <a:buFont typeface="Wingdings" panose="05000000000000000000" pitchFamily="2" charset="2"/>
              <a:buChar char="v"/>
            </a:pPr>
            <a:endParaRPr lang="en-IN" sz="2800" b="1" dirty="0">
              <a:solidFill>
                <a:srgbClr val="002060"/>
              </a:solidFill>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v"/>
            </a:pPr>
            <a:endParaRPr lang="en-US" sz="3200" b="1" dirty="0">
              <a:solidFill>
                <a:srgbClr val="04345C"/>
              </a:solidFill>
              <a:latin typeface="Glacial Indifference" panose="020B0604020202020204" charset="0"/>
              <a:cs typeface="Times New Roman" panose="02020603050405020304" pitchFamily="18" charset="0"/>
            </a:endParaRPr>
          </a:p>
          <a:p>
            <a:pPr>
              <a:buFont typeface="Wingdings" panose="05000000000000000000" pitchFamily="2" charset="2"/>
              <a:buChar char="v"/>
            </a:pPr>
            <a:endParaRPr lang="en-US" sz="2800" b="1" dirty="0">
              <a:solidFill>
                <a:srgbClr val="04345C"/>
              </a:solidFill>
              <a:latin typeface="Glacial Indifference" panose="020B060402020202020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9986250">
            <a:off x="-4102298" y="-524776"/>
            <a:ext cx="8880774" cy="9202874"/>
          </a:xfrm>
          <a:custGeom>
            <a:avLst/>
            <a:gdLst/>
            <a:ahLst/>
            <a:cxnLst/>
            <a:rect l="l" t="t" r="r" b="b"/>
            <a:pathLst>
              <a:path w="8880774" h="9202874">
                <a:moveTo>
                  <a:pt x="0" y="0"/>
                </a:moveTo>
                <a:lnTo>
                  <a:pt x="8880774" y="0"/>
                </a:lnTo>
                <a:lnTo>
                  <a:pt x="8880774" y="9202875"/>
                </a:lnTo>
                <a:lnTo>
                  <a:pt x="0" y="920287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rot="5375633">
            <a:off x="-489467" y="7372231"/>
            <a:ext cx="4693285" cy="4863507"/>
          </a:xfrm>
          <a:custGeom>
            <a:avLst/>
            <a:gdLst/>
            <a:ahLst/>
            <a:cxnLst/>
            <a:rect l="l" t="t" r="r" b="b"/>
            <a:pathLst>
              <a:path w="4693285" h="4863507">
                <a:moveTo>
                  <a:pt x="0" y="0"/>
                </a:moveTo>
                <a:lnTo>
                  <a:pt x="4693284" y="0"/>
                </a:lnTo>
                <a:lnTo>
                  <a:pt x="4693284" y="4863507"/>
                </a:lnTo>
                <a:lnTo>
                  <a:pt x="0" y="486350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6087273">
            <a:off x="16499100" y="4419465"/>
            <a:ext cx="6599197" cy="6838546"/>
          </a:xfrm>
          <a:custGeom>
            <a:avLst/>
            <a:gdLst/>
            <a:ahLst/>
            <a:cxnLst/>
            <a:rect l="l" t="t" r="r" b="b"/>
            <a:pathLst>
              <a:path w="6599197" h="6838546">
                <a:moveTo>
                  <a:pt x="0" y="0"/>
                </a:moveTo>
                <a:lnTo>
                  <a:pt x="6599196" y="0"/>
                </a:lnTo>
                <a:lnTo>
                  <a:pt x="6599196" y="6838546"/>
                </a:lnTo>
                <a:lnTo>
                  <a:pt x="0" y="68385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4420793">
            <a:off x="10604897" y="-4495251"/>
            <a:ext cx="9951332" cy="10312261"/>
          </a:xfrm>
          <a:custGeom>
            <a:avLst/>
            <a:gdLst/>
            <a:ahLst/>
            <a:cxnLst/>
            <a:rect l="l" t="t" r="r" b="b"/>
            <a:pathLst>
              <a:path w="9951332" h="10312261">
                <a:moveTo>
                  <a:pt x="0" y="0"/>
                </a:moveTo>
                <a:lnTo>
                  <a:pt x="9951332" y="0"/>
                </a:lnTo>
                <a:lnTo>
                  <a:pt x="9951332" y="10312261"/>
                </a:lnTo>
                <a:lnTo>
                  <a:pt x="0" y="1031226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52339" y="9518234"/>
            <a:ext cx="571500" cy="571500"/>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p:cNvGrpSpPr/>
          <p:nvPr/>
        </p:nvGrpSpPr>
        <p:grpSpPr>
          <a:xfrm>
            <a:off x="52339" y="0"/>
            <a:ext cx="17893175" cy="10164872"/>
            <a:chOff x="0" y="-714872"/>
            <a:chExt cx="23477367" cy="12981718"/>
          </a:xfrm>
        </p:grpSpPr>
        <p:sp>
          <p:nvSpPr>
            <p:cNvPr id="9" name="TextBox 9"/>
            <p:cNvSpPr txBox="1"/>
            <p:nvPr/>
          </p:nvSpPr>
          <p:spPr>
            <a:xfrm>
              <a:off x="0" y="-714872"/>
              <a:ext cx="23326852" cy="3242797"/>
            </a:xfrm>
            <a:prstGeom prst="rect">
              <a:avLst/>
            </a:prstGeom>
          </p:spPr>
          <p:txBody>
            <a:bodyPr wrap="square" lIns="0" tIns="0" rIns="0" bIns="0" rtlCol="0" anchor="t">
              <a:spAutoFit/>
            </a:bodyPr>
            <a:lstStyle/>
            <a:p>
              <a:pPr>
                <a:lnSpc>
                  <a:spcPts val="9918"/>
                </a:lnSpc>
              </a:pPr>
              <a:r>
                <a:rPr lang="en-US" sz="8265" spc="826" dirty="0">
                  <a:solidFill>
                    <a:srgbClr val="6BD4CD"/>
                  </a:solidFill>
                  <a:latin typeface="Glacial Indifference Bold"/>
                </a:rPr>
                <a:t>ABSTRACT</a:t>
              </a:r>
            </a:p>
            <a:p>
              <a:pPr>
                <a:lnSpc>
                  <a:spcPts val="9918"/>
                </a:lnSpc>
              </a:pPr>
              <a:endParaRPr lang="en-US" sz="8265" spc="826" dirty="0">
                <a:solidFill>
                  <a:srgbClr val="6BD4CD"/>
                </a:solidFill>
                <a:latin typeface="Glacial Indifference Bold"/>
              </a:endParaRPr>
            </a:p>
          </p:txBody>
        </p:sp>
        <p:sp>
          <p:nvSpPr>
            <p:cNvPr id="10" name="TextBox 10"/>
            <p:cNvSpPr txBox="1"/>
            <p:nvPr/>
          </p:nvSpPr>
          <p:spPr>
            <a:xfrm>
              <a:off x="1" y="946536"/>
              <a:ext cx="23477366" cy="11320310"/>
            </a:xfrm>
            <a:prstGeom prst="rect">
              <a:avLst/>
            </a:prstGeom>
          </p:spPr>
          <p:txBody>
            <a:bodyPr wrap="square" lIns="0" tIns="0" rIns="0" bIns="0" rtlCol="0" anchor="t">
              <a:spAutoFit/>
            </a:bodyPr>
            <a:lstStyle/>
            <a:p>
              <a:pPr>
                <a:spcAft>
                  <a:spcPts val="2400"/>
                </a:spcAft>
              </a:pPr>
              <a:r>
                <a:rPr lang="en-IN" sz="3600" dirty="0">
                  <a:solidFill>
                    <a:srgbClr val="6BD4CD"/>
                  </a:solidFill>
                  <a:latin typeface="Times New Roman" panose="02020603050405020304" pitchFamily="18" charset="0"/>
                  <a:cs typeface="Times New Roman" panose="02020603050405020304" pitchFamily="18" charset="0"/>
                </a:rPr>
                <a:t>This internship at </a:t>
              </a:r>
              <a:r>
                <a:rPr lang="en-IN" sz="3600" b="1" dirty="0">
                  <a:solidFill>
                    <a:srgbClr val="6BD4CD"/>
                  </a:solidFill>
                  <a:latin typeface="Times New Roman" panose="02020603050405020304" pitchFamily="18" charset="0"/>
                  <a:cs typeface="Times New Roman" panose="02020603050405020304" pitchFamily="18" charset="0"/>
                </a:rPr>
                <a:t>Ansys Software Pvt Ltd</a:t>
              </a:r>
              <a:r>
                <a:rPr lang="en-IN" sz="3600" dirty="0">
                  <a:solidFill>
                    <a:srgbClr val="6BD4CD"/>
                  </a:solidFill>
                  <a:latin typeface="Times New Roman" panose="02020603050405020304" pitchFamily="18" charset="0"/>
                  <a:cs typeface="Times New Roman" panose="02020603050405020304" pitchFamily="18" charset="0"/>
                </a:rPr>
                <a:t> provided valuable hands-on experience in the field of </a:t>
              </a:r>
              <a:r>
                <a:rPr lang="en-IN" sz="3600" b="1" dirty="0">
                  <a:solidFill>
                    <a:srgbClr val="6BD4CD"/>
                  </a:solidFill>
                  <a:latin typeface="Times New Roman" panose="02020603050405020304" pitchFamily="18" charset="0"/>
                  <a:cs typeface="Times New Roman" panose="02020603050405020304" pitchFamily="18" charset="0"/>
                </a:rPr>
                <a:t>Cloud Infrastructure Support using AWS And Azure</a:t>
              </a:r>
              <a:r>
                <a:rPr lang="en-IN" sz="3600" dirty="0">
                  <a:solidFill>
                    <a:srgbClr val="6BD4CD"/>
                  </a:solidFill>
                  <a:latin typeface="Times New Roman" panose="02020603050405020304" pitchFamily="18" charset="0"/>
                  <a:cs typeface="Times New Roman" panose="02020603050405020304" pitchFamily="18" charset="0"/>
                </a:rPr>
                <a:t>. The internship was aimed at enhancing my practical understanding of cloud computing concepts, system administration practices, and enterprise IT infrastructure management.</a:t>
              </a:r>
            </a:p>
            <a:p>
              <a:pPr>
                <a:spcAft>
                  <a:spcPts val="2400"/>
                </a:spcAft>
              </a:pPr>
              <a:r>
                <a:rPr lang="en-IN" sz="3600" dirty="0">
                  <a:solidFill>
                    <a:srgbClr val="6BD4CD"/>
                  </a:solidFill>
                  <a:latin typeface="Times New Roman" panose="02020603050405020304" pitchFamily="18" charset="0"/>
                  <a:cs typeface="Times New Roman" panose="02020603050405020304" pitchFamily="18" charset="0"/>
                </a:rPr>
                <a:t>During the internship, I worked on provisioning and configuring </a:t>
              </a:r>
              <a:r>
                <a:rPr lang="en-IN" sz="3600" b="1" dirty="0">
                  <a:solidFill>
                    <a:srgbClr val="6BD4CD"/>
                  </a:solidFill>
                  <a:latin typeface="Times New Roman" panose="02020603050405020304" pitchFamily="18" charset="0"/>
                  <a:cs typeface="Times New Roman" panose="02020603050405020304" pitchFamily="18" charset="0"/>
                </a:rPr>
                <a:t>virtual machines</a:t>
              </a:r>
              <a:r>
                <a:rPr lang="en-IN" sz="3600" dirty="0">
                  <a:solidFill>
                    <a:srgbClr val="6BD4CD"/>
                  </a:solidFill>
                  <a:latin typeface="Times New Roman" panose="02020603050405020304" pitchFamily="18" charset="0"/>
                  <a:cs typeface="Times New Roman" panose="02020603050405020304" pitchFamily="18" charset="0"/>
                </a:rPr>
                <a:t>, managing </a:t>
              </a:r>
              <a:r>
                <a:rPr lang="en-IN" sz="3600" b="1" dirty="0">
                  <a:solidFill>
                    <a:srgbClr val="6BD4CD"/>
                  </a:solidFill>
                  <a:latin typeface="Times New Roman" panose="02020603050405020304" pitchFamily="18" charset="0"/>
                  <a:cs typeface="Times New Roman" panose="02020603050405020304" pitchFamily="18" charset="0"/>
                </a:rPr>
                <a:t>cloud storage solutions</a:t>
              </a:r>
              <a:r>
                <a:rPr lang="en-IN" sz="3600" dirty="0">
                  <a:solidFill>
                    <a:srgbClr val="6BD4CD"/>
                  </a:solidFill>
                  <a:latin typeface="Times New Roman" panose="02020603050405020304" pitchFamily="18" charset="0"/>
                  <a:cs typeface="Times New Roman" panose="02020603050405020304" pitchFamily="18" charset="0"/>
                </a:rPr>
                <a:t>, designing </a:t>
              </a:r>
              <a:r>
                <a:rPr lang="en-IN" sz="3600" b="1" dirty="0">
                  <a:solidFill>
                    <a:srgbClr val="6BD4CD"/>
                  </a:solidFill>
                  <a:latin typeface="Times New Roman" panose="02020603050405020304" pitchFamily="18" charset="0"/>
                  <a:cs typeface="Times New Roman" panose="02020603050405020304" pitchFamily="18" charset="0"/>
                </a:rPr>
                <a:t>virtual networks</a:t>
              </a:r>
              <a:r>
                <a:rPr lang="en-IN" sz="3600" dirty="0">
                  <a:solidFill>
                    <a:srgbClr val="6BD4CD"/>
                  </a:solidFill>
                  <a:latin typeface="Times New Roman" panose="02020603050405020304" pitchFamily="18" charset="0"/>
                  <a:cs typeface="Times New Roman" panose="02020603050405020304" pitchFamily="18" charset="0"/>
                </a:rPr>
                <a:t>, and setting up </a:t>
              </a:r>
              <a:r>
                <a:rPr lang="en-IN" sz="3600" b="1" dirty="0">
                  <a:solidFill>
                    <a:srgbClr val="6BD4CD"/>
                  </a:solidFill>
                  <a:latin typeface="Times New Roman" panose="02020603050405020304" pitchFamily="18" charset="0"/>
                  <a:cs typeface="Times New Roman" panose="02020603050405020304" pitchFamily="18" charset="0"/>
                </a:rPr>
                <a:t>identity and access management policies</a:t>
              </a:r>
              <a:r>
                <a:rPr lang="en-IN" sz="3600" dirty="0">
                  <a:solidFill>
                    <a:srgbClr val="6BD4CD"/>
                  </a:solidFill>
                  <a:latin typeface="Times New Roman" panose="02020603050405020304" pitchFamily="18" charset="0"/>
                  <a:cs typeface="Times New Roman" panose="02020603050405020304" pitchFamily="18" charset="0"/>
                </a:rPr>
                <a:t>. I was also involved in </a:t>
              </a:r>
              <a:r>
                <a:rPr lang="en-IN" sz="3600" b="1" dirty="0">
                  <a:solidFill>
                    <a:srgbClr val="6BD4CD"/>
                  </a:solidFill>
                  <a:latin typeface="Times New Roman" panose="02020603050405020304" pitchFamily="18" charset="0"/>
                  <a:cs typeface="Times New Roman" panose="02020603050405020304" pitchFamily="18" charset="0"/>
                </a:rPr>
                <a:t>monitoring system performance</a:t>
              </a:r>
              <a:r>
                <a:rPr lang="en-IN" sz="3600" dirty="0">
                  <a:solidFill>
                    <a:srgbClr val="6BD4CD"/>
                  </a:solidFill>
                  <a:latin typeface="Times New Roman" panose="02020603050405020304" pitchFamily="18" charset="0"/>
                  <a:cs typeface="Times New Roman" panose="02020603050405020304" pitchFamily="18" charset="0"/>
                </a:rPr>
                <a:t>, ensuring </a:t>
              </a:r>
              <a:r>
                <a:rPr lang="en-IN" sz="3600" b="1" dirty="0">
                  <a:solidFill>
                    <a:srgbClr val="6BD4CD"/>
                  </a:solidFill>
                  <a:latin typeface="Times New Roman" panose="02020603050405020304" pitchFamily="18" charset="0"/>
                  <a:cs typeface="Times New Roman" panose="02020603050405020304" pitchFamily="18" charset="0"/>
                </a:rPr>
                <a:t>data security and compliance</a:t>
              </a:r>
              <a:r>
                <a:rPr lang="en-IN" sz="3600" dirty="0">
                  <a:solidFill>
                    <a:srgbClr val="6BD4CD"/>
                  </a:solidFill>
                  <a:latin typeface="Times New Roman" panose="02020603050405020304" pitchFamily="18" charset="0"/>
                  <a:cs typeface="Times New Roman" panose="02020603050405020304" pitchFamily="18" charset="0"/>
                </a:rPr>
                <a:t>, and supporting </a:t>
              </a:r>
              <a:r>
                <a:rPr lang="en-IN" sz="3600" b="1" dirty="0">
                  <a:solidFill>
                    <a:srgbClr val="6BD4CD"/>
                  </a:solidFill>
                  <a:latin typeface="Times New Roman" panose="02020603050405020304" pitchFamily="18" charset="0"/>
                  <a:cs typeface="Times New Roman" panose="02020603050405020304" pitchFamily="18" charset="0"/>
                </a:rPr>
                <a:t>backup and disaster recovery operations</a:t>
              </a:r>
              <a:r>
                <a:rPr lang="en-IN" sz="3600" dirty="0">
                  <a:solidFill>
                    <a:srgbClr val="6BD4CD"/>
                  </a:solidFill>
                  <a:latin typeface="Times New Roman" panose="02020603050405020304" pitchFamily="18" charset="0"/>
                  <a:cs typeface="Times New Roman" panose="02020603050405020304" pitchFamily="18" charset="0"/>
                </a:rPr>
                <a:t>.</a:t>
              </a:r>
            </a:p>
            <a:p>
              <a:pPr>
                <a:spcAft>
                  <a:spcPts val="2400"/>
                </a:spcAft>
              </a:pPr>
              <a:r>
                <a:rPr lang="en-IN" sz="3600" dirty="0">
                  <a:solidFill>
                    <a:srgbClr val="6BD4CD"/>
                  </a:solidFill>
                  <a:latin typeface="Times New Roman" panose="02020603050405020304" pitchFamily="18" charset="0"/>
                  <a:cs typeface="Times New Roman" panose="02020603050405020304" pitchFamily="18" charset="0"/>
                </a:rPr>
                <a:t>Through active collaboration with the Cloud Infrastructure team, I gained exposure to hybrid cloud environments, automation tools, and best practices in maintaining high availability and scalability. This internship not only strengthened my knowledge of AWS but also improved my problem-solving and technical support skills, which are essential for a career in </a:t>
              </a:r>
              <a:r>
                <a:rPr lang="en-IN" sz="3600" b="1" dirty="0">
                  <a:solidFill>
                    <a:srgbClr val="6BD4CD"/>
                  </a:solidFill>
                  <a:latin typeface="Times New Roman" panose="02020603050405020304" pitchFamily="18" charset="0"/>
                  <a:cs typeface="Times New Roman" panose="02020603050405020304" pitchFamily="18" charset="0"/>
                </a:rPr>
                <a:t>Cloud Infrastructure and System Administration</a:t>
              </a:r>
              <a:r>
                <a:rPr lang="en-US" sz="3600" dirty="0">
                  <a:solidFill>
                    <a:srgbClr val="6BD4CD"/>
                  </a:solidFill>
                  <a:latin typeface="Times New Roman" panose="02020603050405020304" pitchFamily="18" charset="0"/>
                  <a:cs typeface="Times New Roman" panose="02020603050405020304" pitchFamily="18" charset="0"/>
                </a:rPr>
                <a:t>.</a:t>
              </a:r>
              <a:endParaRPr lang="en-IN" sz="3600" dirty="0">
                <a:solidFill>
                  <a:srgbClr val="6BD4CD"/>
                </a:solidFill>
                <a:latin typeface="Times New Roman" panose="02020603050405020304" pitchFamily="18" charset="0"/>
                <a:cs typeface="Times New Roman" panose="02020603050405020304" pitchFamily="18" charset="0"/>
              </a:endParaRPr>
            </a:p>
            <a:p>
              <a:pPr marL="330623" lvl="1">
                <a:lnSpc>
                  <a:spcPct val="150000"/>
                </a:lnSpc>
              </a:pPr>
              <a:endParaRPr lang="en-US" sz="3600" dirty="0">
                <a:solidFill>
                  <a:schemeClr val="accent5">
                    <a:lumMod val="60000"/>
                    <a:lumOff val="40000"/>
                  </a:schemeClr>
                </a:solidFill>
                <a:latin typeface="Glacial Indifference" panose="020B0604020202020204" charset="0"/>
              </a:endParaRPr>
            </a:p>
          </p:txBody>
        </p:sp>
      </p:grpSp>
      <p:sp>
        <p:nvSpPr>
          <p:cNvPr id="11" name="Freeform 11"/>
          <p:cNvSpPr/>
          <p:nvPr/>
        </p:nvSpPr>
        <p:spPr>
          <a:xfrm rot="-2059948">
            <a:off x="6506073" y="-1271691"/>
            <a:ext cx="2350917" cy="2436183"/>
          </a:xfrm>
          <a:custGeom>
            <a:avLst/>
            <a:gdLst/>
            <a:ahLst/>
            <a:cxnLst/>
            <a:rect l="l" t="t" r="r" b="b"/>
            <a:pathLst>
              <a:path w="2350917" h="2436183">
                <a:moveTo>
                  <a:pt x="0" y="0"/>
                </a:moveTo>
                <a:lnTo>
                  <a:pt x="2350917" y="0"/>
                </a:lnTo>
                <a:lnTo>
                  <a:pt x="2350917" y="2436183"/>
                </a:lnTo>
                <a:lnTo>
                  <a:pt x="0" y="24361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a:off x="14444223" y="5750572"/>
            <a:ext cx="5630153" cy="5834356"/>
          </a:xfrm>
          <a:custGeom>
            <a:avLst/>
            <a:gdLst/>
            <a:ahLst/>
            <a:cxnLst/>
            <a:rect l="l" t="t" r="r" b="b"/>
            <a:pathLst>
              <a:path w="5630153" h="5834356">
                <a:moveTo>
                  <a:pt x="0" y="0"/>
                </a:moveTo>
                <a:lnTo>
                  <a:pt x="5630154" y="0"/>
                </a:lnTo>
                <a:lnTo>
                  <a:pt x="5630154" y="5834356"/>
                </a:lnTo>
                <a:lnTo>
                  <a:pt x="0" y="583435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3858459">
            <a:off x="11785864" y="-1420005"/>
            <a:ext cx="7958550" cy="8247202"/>
          </a:xfrm>
          <a:custGeom>
            <a:avLst/>
            <a:gdLst/>
            <a:ahLst/>
            <a:cxnLst/>
            <a:rect l="l" t="t" r="r" b="b"/>
            <a:pathLst>
              <a:path w="7958550" h="8247202">
                <a:moveTo>
                  <a:pt x="0" y="0"/>
                </a:moveTo>
                <a:lnTo>
                  <a:pt x="7958550" y="0"/>
                </a:lnTo>
                <a:lnTo>
                  <a:pt x="7958550" y="8247202"/>
                </a:lnTo>
                <a:lnTo>
                  <a:pt x="0" y="824720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6938171">
            <a:off x="-2270898" y="4389359"/>
            <a:ext cx="6599197" cy="6838546"/>
          </a:xfrm>
          <a:custGeom>
            <a:avLst/>
            <a:gdLst/>
            <a:ahLst/>
            <a:cxnLst/>
            <a:rect l="l" t="t" r="r" b="b"/>
            <a:pathLst>
              <a:path w="6599197" h="6838546">
                <a:moveTo>
                  <a:pt x="0" y="0"/>
                </a:moveTo>
                <a:lnTo>
                  <a:pt x="6599196" y="0"/>
                </a:lnTo>
                <a:lnTo>
                  <a:pt x="6599196" y="6838546"/>
                </a:lnTo>
                <a:lnTo>
                  <a:pt x="0" y="68385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9653010">
            <a:off x="-2653501" y="-3517467"/>
            <a:ext cx="8774102" cy="9092333"/>
          </a:xfrm>
          <a:custGeom>
            <a:avLst/>
            <a:gdLst/>
            <a:ahLst/>
            <a:cxnLst/>
            <a:rect l="l" t="t" r="r" b="b"/>
            <a:pathLst>
              <a:path w="8774102" h="9092333">
                <a:moveTo>
                  <a:pt x="0" y="0"/>
                </a:moveTo>
                <a:lnTo>
                  <a:pt x="8774102" y="0"/>
                </a:lnTo>
                <a:lnTo>
                  <a:pt x="8774102" y="9092334"/>
                </a:lnTo>
                <a:lnTo>
                  <a:pt x="0" y="9092334"/>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16078200" y="9258300"/>
            <a:ext cx="1181100" cy="1181100"/>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8" name="Group 8"/>
          <p:cNvGrpSpPr/>
          <p:nvPr/>
        </p:nvGrpSpPr>
        <p:grpSpPr>
          <a:xfrm>
            <a:off x="1028700" y="1028700"/>
            <a:ext cx="571500" cy="5715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0" name="Group 10"/>
          <p:cNvGrpSpPr/>
          <p:nvPr/>
        </p:nvGrpSpPr>
        <p:grpSpPr>
          <a:xfrm>
            <a:off x="399385" y="191755"/>
            <a:ext cx="16859915" cy="9342790"/>
            <a:chOff x="0" y="0"/>
            <a:chExt cx="22479886" cy="12457051"/>
          </a:xfrm>
        </p:grpSpPr>
        <p:sp>
          <p:nvSpPr>
            <p:cNvPr id="11" name="TextBox 11"/>
            <p:cNvSpPr txBox="1"/>
            <p:nvPr/>
          </p:nvSpPr>
          <p:spPr>
            <a:xfrm>
              <a:off x="0" y="0"/>
              <a:ext cx="22479886" cy="1435100"/>
            </a:xfrm>
            <a:prstGeom prst="rect">
              <a:avLst/>
            </a:prstGeom>
          </p:spPr>
          <p:txBody>
            <a:bodyPr lIns="0" tIns="0" rIns="0" bIns="0" rtlCol="0" anchor="t">
              <a:spAutoFit/>
            </a:bodyPr>
            <a:lstStyle/>
            <a:p>
              <a:pPr>
                <a:lnSpc>
                  <a:spcPts val="8496"/>
                </a:lnSpc>
              </a:pPr>
              <a:r>
                <a:rPr lang="en-US" sz="7080" spc="708" dirty="0">
                  <a:solidFill>
                    <a:srgbClr val="04345C"/>
                  </a:solidFill>
                  <a:latin typeface="Glacial Indifference Bold"/>
                </a:rPr>
                <a:t>INTRODUCTION</a:t>
              </a:r>
            </a:p>
          </p:txBody>
        </p:sp>
        <p:sp>
          <p:nvSpPr>
            <p:cNvPr id="12" name="TextBox 12"/>
            <p:cNvSpPr txBox="1"/>
            <p:nvPr/>
          </p:nvSpPr>
          <p:spPr>
            <a:xfrm>
              <a:off x="0" y="1748993"/>
              <a:ext cx="22479886" cy="10708058"/>
            </a:xfrm>
            <a:prstGeom prst="rect">
              <a:avLst/>
            </a:prstGeom>
          </p:spPr>
          <p:txBody>
            <a:bodyPr lIns="0" tIns="0" rIns="0" bIns="0" rtlCol="0" anchor="t">
              <a:spAutoFit/>
            </a:bodyPr>
            <a:lstStyle/>
            <a:p>
              <a:pPr>
                <a:lnSpc>
                  <a:spcPct val="150000"/>
                </a:lnSpc>
              </a:pPr>
              <a:r>
                <a:rPr lang="en-US" sz="4000" dirty="0">
                  <a:solidFill>
                    <a:srgbClr val="002060"/>
                  </a:solidFill>
                  <a:latin typeface="Times New Roman" panose="02020603050405020304" pitchFamily="18" charset="0"/>
                  <a:cs typeface="Times New Roman" panose="02020603050405020304" pitchFamily="18" charset="0"/>
                </a:rPr>
                <a:t>Ansys Software Pvt Ltd is a global leader in engineering simulation software, delivering innovative solutions to help customers design .</a:t>
              </a:r>
              <a:br>
                <a:rPr lang="en-US" sz="4000" dirty="0">
                  <a:solidFill>
                    <a:srgbClr val="002060"/>
                  </a:solidFill>
                  <a:latin typeface="Times New Roman" panose="02020603050405020304" pitchFamily="18" charset="0"/>
                  <a:cs typeface="Times New Roman" panose="02020603050405020304" pitchFamily="18" charset="0"/>
                </a:rPr>
              </a:br>
              <a:r>
                <a:rPr lang="en-US" sz="4000" dirty="0">
                  <a:solidFill>
                    <a:srgbClr val="002060"/>
                  </a:solidFill>
                  <a:latin typeface="Times New Roman" panose="02020603050405020304" pitchFamily="18" charset="0"/>
                  <a:cs typeface="Times New Roman" panose="02020603050405020304" pitchFamily="18" charset="0"/>
                </a:rPr>
                <a:t>and optimize products. The Cloud Infrastructure &amp; System Administration team plays a critical role in enabling secure and scalable cloud services to </a:t>
              </a:r>
              <a:br>
                <a:rPr lang="en-US" sz="4000" dirty="0">
                  <a:solidFill>
                    <a:srgbClr val="002060"/>
                  </a:solidFill>
                  <a:latin typeface="Times New Roman" panose="02020603050405020304" pitchFamily="18" charset="0"/>
                  <a:cs typeface="Times New Roman" panose="02020603050405020304" pitchFamily="18" charset="0"/>
                </a:rPr>
              </a:br>
              <a:r>
                <a:rPr lang="en-US" sz="4000" dirty="0">
                  <a:solidFill>
                    <a:srgbClr val="002060"/>
                  </a:solidFill>
                  <a:latin typeface="Times New Roman" panose="02020603050405020304" pitchFamily="18" charset="0"/>
                  <a:cs typeface="Times New Roman" panose="02020603050405020304" pitchFamily="18" charset="0"/>
                </a:rPr>
                <a:t>support global operations. My role as a System Administrator Intern included contributing to the setup, monitoring, and support of AWS &amp; Azure resources. </a:t>
              </a:r>
              <a:br>
                <a:rPr lang="en-US" sz="4000" dirty="0">
                  <a:solidFill>
                    <a:srgbClr val="002060"/>
                  </a:solidFill>
                  <a:latin typeface="Times New Roman" panose="02020603050405020304" pitchFamily="18" charset="0"/>
                  <a:cs typeface="Times New Roman" panose="02020603050405020304" pitchFamily="18" charset="0"/>
                </a:rPr>
              </a:br>
              <a:r>
                <a:rPr lang="en-US" sz="4000" dirty="0">
                  <a:solidFill>
                    <a:srgbClr val="002060"/>
                  </a:solidFill>
                  <a:latin typeface="Times New Roman" panose="02020603050405020304" pitchFamily="18" charset="0"/>
                  <a:cs typeface="Times New Roman" panose="02020603050405020304" pitchFamily="18" charset="0"/>
                </a:rPr>
                <a:t>This internship provided me with exposure to real-world enterprise cloud operations, including hybrid deployments and security management.</a:t>
              </a:r>
              <a:endParaRPr lang="en-IN" sz="4000" dirty="0">
                <a:solidFill>
                  <a:srgbClr val="002060"/>
                </a:solidFill>
                <a:latin typeface="Times New Roman" panose="02020603050405020304" pitchFamily="18" charset="0"/>
                <a:cs typeface="Times New Roman" panose="02020603050405020304" pitchFamily="18" charset="0"/>
              </a:endParaRPr>
            </a:p>
            <a:p>
              <a:pPr marL="304074" lvl="1" algn="just">
                <a:lnSpc>
                  <a:spcPts val="5525"/>
                </a:lnSpc>
              </a:pPr>
              <a:endParaRPr lang="en-US" sz="3600" dirty="0">
                <a:solidFill>
                  <a:srgbClr val="04345C"/>
                </a:solidFill>
                <a:latin typeface="Glacial Indifference" panose="020B0604020202020204" charset="0"/>
              </a:endParaRPr>
            </a:p>
          </p:txBody>
        </p:sp>
      </p:grpSp>
      <p:sp>
        <p:nvSpPr>
          <p:cNvPr id="13" name="Freeform 13"/>
          <p:cNvSpPr/>
          <p:nvPr/>
        </p:nvSpPr>
        <p:spPr>
          <a:xfrm rot="690501">
            <a:off x="17438639" y="7418650"/>
            <a:ext cx="2410762" cy="2498199"/>
          </a:xfrm>
          <a:custGeom>
            <a:avLst/>
            <a:gdLst/>
            <a:ahLst/>
            <a:cxnLst/>
            <a:rect l="l" t="t" r="r" b="b"/>
            <a:pathLst>
              <a:path w="2410762" h="2498199">
                <a:moveTo>
                  <a:pt x="0" y="0"/>
                </a:moveTo>
                <a:lnTo>
                  <a:pt x="2410762" y="0"/>
                </a:lnTo>
                <a:lnTo>
                  <a:pt x="2410762" y="2498200"/>
                </a:lnTo>
                <a:lnTo>
                  <a:pt x="0" y="24982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rot="1314425">
            <a:off x="11016941" y="2480588"/>
            <a:ext cx="9403949" cy="9745025"/>
          </a:xfrm>
          <a:custGeom>
            <a:avLst/>
            <a:gdLst/>
            <a:ahLst/>
            <a:cxnLst/>
            <a:rect l="l" t="t" r="r" b="b"/>
            <a:pathLst>
              <a:path w="9403949" h="9745025">
                <a:moveTo>
                  <a:pt x="0" y="0"/>
                </a:moveTo>
                <a:lnTo>
                  <a:pt x="9403950" y="0"/>
                </a:lnTo>
                <a:lnTo>
                  <a:pt x="9403950" y="9745025"/>
                </a:lnTo>
                <a:lnTo>
                  <a:pt x="0" y="974502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10010836">
            <a:off x="-3311325" y="-3250085"/>
            <a:ext cx="9403949" cy="9745025"/>
          </a:xfrm>
          <a:custGeom>
            <a:avLst/>
            <a:gdLst/>
            <a:ahLst/>
            <a:cxnLst/>
            <a:rect l="l" t="t" r="r" b="b"/>
            <a:pathLst>
              <a:path w="9403949" h="9745025">
                <a:moveTo>
                  <a:pt x="0" y="0"/>
                </a:moveTo>
                <a:lnTo>
                  <a:pt x="9403950" y="0"/>
                </a:lnTo>
                <a:lnTo>
                  <a:pt x="9403950" y="9745025"/>
                </a:lnTo>
                <a:lnTo>
                  <a:pt x="0" y="974502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4" name="Freeform 4"/>
          <p:cNvSpPr/>
          <p:nvPr/>
        </p:nvSpPr>
        <p:spPr>
          <a:xfrm rot="-3343398">
            <a:off x="13743895" y="-2598699"/>
            <a:ext cx="6197943" cy="6422739"/>
          </a:xfrm>
          <a:custGeom>
            <a:avLst/>
            <a:gdLst/>
            <a:ahLst/>
            <a:cxnLst/>
            <a:rect l="l" t="t" r="r" b="b"/>
            <a:pathLst>
              <a:path w="6197943" h="6422739">
                <a:moveTo>
                  <a:pt x="0" y="0"/>
                </a:moveTo>
                <a:lnTo>
                  <a:pt x="6197942" y="0"/>
                </a:lnTo>
                <a:lnTo>
                  <a:pt x="6197942" y="6422738"/>
                </a:lnTo>
                <a:lnTo>
                  <a:pt x="0" y="6422738"/>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7077988">
            <a:off x="-1639595" y="5792955"/>
            <a:ext cx="5037123" cy="5219817"/>
          </a:xfrm>
          <a:custGeom>
            <a:avLst/>
            <a:gdLst/>
            <a:ahLst/>
            <a:cxnLst/>
            <a:rect l="l" t="t" r="r" b="b"/>
            <a:pathLst>
              <a:path w="5037123" h="5219817">
                <a:moveTo>
                  <a:pt x="0" y="0"/>
                </a:moveTo>
                <a:lnTo>
                  <a:pt x="5037123" y="0"/>
                </a:lnTo>
                <a:lnTo>
                  <a:pt x="5037123" y="5219817"/>
                </a:lnTo>
                <a:lnTo>
                  <a:pt x="0" y="52198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16973550" y="8972550"/>
            <a:ext cx="571500" cy="571500"/>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txBody>
            <a:bodyPr/>
            <a:lstStyle/>
            <a:p>
              <a:endParaRPr lang="en-IN"/>
            </a:p>
          </p:txBody>
        </p:sp>
      </p:grpSp>
      <p:grpSp>
        <p:nvGrpSpPr>
          <p:cNvPr id="8" name="Group 8"/>
          <p:cNvGrpSpPr/>
          <p:nvPr/>
        </p:nvGrpSpPr>
        <p:grpSpPr>
          <a:xfrm>
            <a:off x="-320056" y="612670"/>
            <a:ext cx="1348756" cy="1348756"/>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345C"/>
            </a:solidFill>
          </p:spPr>
          <p:txBody>
            <a:bodyPr/>
            <a:lstStyle/>
            <a:p>
              <a:endParaRPr lang="en-IN"/>
            </a:p>
          </p:txBody>
        </p:sp>
      </p:grpSp>
      <p:sp>
        <p:nvSpPr>
          <p:cNvPr id="10" name="Freeform 10"/>
          <p:cNvSpPr/>
          <p:nvPr/>
        </p:nvSpPr>
        <p:spPr>
          <a:xfrm>
            <a:off x="4574167" y="5849063"/>
            <a:ext cx="643767" cy="669517"/>
          </a:xfrm>
          <a:custGeom>
            <a:avLst/>
            <a:gdLst/>
            <a:ahLst/>
            <a:cxnLst/>
            <a:rect l="l" t="t" r="r" b="b"/>
            <a:pathLst>
              <a:path w="643767" h="669517">
                <a:moveTo>
                  <a:pt x="0" y="0"/>
                </a:moveTo>
                <a:lnTo>
                  <a:pt x="643766" y="0"/>
                </a:lnTo>
                <a:lnTo>
                  <a:pt x="643766" y="669518"/>
                </a:lnTo>
                <a:lnTo>
                  <a:pt x="0" y="6695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11" name="Group 11"/>
          <p:cNvGrpSpPr/>
          <p:nvPr/>
        </p:nvGrpSpPr>
        <p:grpSpPr>
          <a:xfrm>
            <a:off x="1526053" y="3636310"/>
            <a:ext cx="1381041" cy="1431131"/>
            <a:chOff x="0" y="0"/>
            <a:chExt cx="1841389" cy="1908175"/>
          </a:xfrm>
        </p:grpSpPr>
        <p:sp>
          <p:nvSpPr>
            <p:cNvPr id="12" name="Freeform 12"/>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3" name="Freeform 13"/>
            <p:cNvSpPr/>
            <p:nvPr/>
          </p:nvSpPr>
          <p:spPr>
            <a:xfrm>
              <a:off x="411328" y="400351"/>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grpSp>
        <p:nvGrpSpPr>
          <p:cNvPr id="14" name="Group 14"/>
          <p:cNvGrpSpPr/>
          <p:nvPr/>
        </p:nvGrpSpPr>
        <p:grpSpPr>
          <a:xfrm>
            <a:off x="3352801" y="1078114"/>
            <a:ext cx="14192250" cy="9618018"/>
            <a:chOff x="-177317" y="-500390"/>
            <a:chExt cx="18447483" cy="12162820"/>
          </a:xfrm>
        </p:grpSpPr>
        <p:sp>
          <p:nvSpPr>
            <p:cNvPr id="15" name="TextBox 15"/>
            <p:cNvSpPr txBox="1"/>
            <p:nvPr/>
          </p:nvSpPr>
          <p:spPr>
            <a:xfrm>
              <a:off x="-177317" y="-500390"/>
              <a:ext cx="18447483" cy="12162820"/>
            </a:xfrm>
            <a:prstGeom prst="rect">
              <a:avLst/>
            </a:prstGeom>
          </p:spPr>
          <p:txBody>
            <a:bodyPr wrap="square" lIns="0" tIns="0" rIns="0" bIns="0" rtlCol="0" anchor="t">
              <a:spAutoFit/>
            </a:bodyPr>
            <a:lstStyle/>
            <a:p>
              <a:pPr>
                <a:lnSpc>
                  <a:spcPts val="5040"/>
                </a:lnSpc>
              </a:pPr>
              <a:endParaRPr lang="en-US" sz="2800" b="1" dirty="0">
                <a:solidFill>
                  <a:srgbClr val="002060"/>
                </a:solidFill>
                <a:latin typeface="Times New Roman" panose="02020603050405020304" pitchFamily="18" charset="0"/>
                <a:cs typeface="Times New Roman" panose="02020603050405020304" pitchFamily="18" charset="0"/>
              </a:endParaRPr>
            </a:p>
            <a:p>
              <a:pPr>
                <a:lnSpc>
                  <a:spcPts val="5040"/>
                </a:lnSpc>
              </a:pPr>
              <a:r>
                <a:rPr lang="en-US" sz="2800" b="1" dirty="0">
                  <a:solidFill>
                    <a:srgbClr val="002060"/>
                  </a:solidFill>
                  <a:latin typeface="Times New Roman" panose="02020603050405020304" pitchFamily="18" charset="0"/>
                  <a:cs typeface="Times New Roman" panose="02020603050405020304" pitchFamily="18" charset="0"/>
                </a:rPr>
                <a:t>The Cloud Infrastructure Support internship required both technical and analytical skills for managing IT infrastructure in the cloud. </a:t>
              </a:r>
            </a:p>
            <a:p>
              <a:pPr>
                <a:lnSpc>
                  <a:spcPts val="5040"/>
                </a:lnSpc>
              </a:pPr>
              <a:br>
                <a:rPr lang="en-US" sz="2200" dirty="0">
                  <a:solidFill>
                    <a:srgbClr val="002060"/>
                  </a:solidFill>
                  <a:latin typeface="Times New Roman" panose="02020603050405020304" pitchFamily="18" charset="0"/>
                  <a:cs typeface="Times New Roman" panose="02020603050405020304" pitchFamily="18" charset="0"/>
                </a:rPr>
              </a:br>
              <a:r>
                <a:rPr lang="en-US" sz="2800" dirty="0">
                  <a:solidFill>
                    <a:srgbClr val="002060"/>
                  </a:solidFill>
                  <a:latin typeface="Times New Roman" panose="02020603050405020304" pitchFamily="18" charset="0"/>
                  <a:cs typeface="Times New Roman" panose="02020603050405020304" pitchFamily="18" charset="0"/>
                </a:rPr>
                <a:t>Skills &amp; Knowledge Required:</a:t>
              </a:r>
              <a:br>
                <a:rPr lang="en-US" sz="2800" dirty="0">
                  <a:solidFill>
                    <a:srgbClr val="002060"/>
                  </a:solidFill>
                  <a:latin typeface="Times New Roman" panose="02020603050405020304" pitchFamily="18" charset="0"/>
                  <a:cs typeface="Times New Roman" panose="02020603050405020304" pitchFamily="18" charset="0"/>
                </a:rPr>
              </a:br>
              <a:r>
                <a:rPr lang="en-US" sz="2800" dirty="0">
                  <a:solidFill>
                    <a:srgbClr val="002060"/>
                  </a:solidFill>
                  <a:latin typeface="Times New Roman" panose="02020603050405020304" pitchFamily="18" charset="0"/>
                  <a:cs typeface="Times New Roman" panose="02020603050405020304" pitchFamily="18" charset="0"/>
                </a:rPr>
                <a:t>- Networking fundamentals, Linux/Windows administration, and virtualization. </a:t>
              </a:r>
              <a:br>
                <a:rPr lang="en-US" sz="2800" dirty="0">
                  <a:solidFill>
                    <a:srgbClr val="002060"/>
                  </a:solidFill>
                  <a:latin typeface="Times New Roman" panose="02020603050405020304" pitchFamily="18" charset="0"/>
                  <a:cs typeface="Times New Roman" panose="02020603050405020304" pitchFamily="18" charset="0"/>
                </a:rPr>
              </a:br>
              <a:r>
                <a:rPr lang="en-US" sz="2800" dirty="0">
                  <a:solidFill>
                    <a:srgbClr val="002060"/>
                  </a:solidFill>
                  <a:latin typeface="Times New Roman" panose="02020603050405020304" pitchFamily="18" charset="0"/>
                  <a:cs typeface="Times New Roman" panose="02020603050405020304" pitchFamily="18" charset="0"/>
                </a:rPr>
                <a:t>- AWS services such as EC2, S3, IAM, and VPC. </a:t>
              </a:r>
              <a:br>
                <a:rPr lang="en-US" sz="2800" dirty="0">
                  <a:solidFill>
                    <a:srgbClr val="002060"/>
                  </a:solidFill>
                  <a:latin typeface="Times New Roman" panose="02020603050405020304" pitchFamily="18" charset="0"/>
                  <a:cs typeface="Times New Roman" panose="02020603050405020304" pitchFamily="18" charset="0"/>
                </a:rPr>
              </a:br>
              <a:r>
                <a:rPr lang="en-US" sz="2800" dirty="0">
                  <a:solidFill>
                    <a:srgbClr val="002060"/>
                  </a:solidFill>
                  <a:latin typeface="Times New Roman" panose="02020603050405020304" pitchFamily="18" charset="0"/>
                  <a:cs typeface="Times New Roman" panose="02020603050405020304" pitchFamily="18" charset="0"/>
                </a:rPr>
                <a:t>- Azure services such as Virtual Machines, Blob Storage, Virtual Networks, and Azure Active Directory. </a:t>
              </a:r>
            </a:p>
            <a:p>
              <a:pPr>
                <a:lnSpc>
                  <a:spcPts val="5040"/>
                </a:lnSpc>
              </a:pPr>
              <a:br>
                <a:rPr lang="en-US" dirty="0">
                  <a:solidFill>
                    <a:srgbClr val="002060"/>
                  </a:solidFill>
                </a:rPr>
              </a:br>
              <a:r>
                <a:rPr lang="en-US" sz="2800" dirty="0">
                  <a:solidFill>
                    <a:srgbClr val="002060"/>
                  </a:solidFill>
                  <a:latin typeface="Times New Roman" panose="02020603050405020304" pitchFamily="18" charset="0"/>
                  <a:cs typeface="Times New Roman" panose="02020603050405020304" pitchFamily="18" charset="0"/>
                </a:rPr>
                <a:t>Tools &amp; Technologies Used:</a:t>
              </a:r>
              <a:br>
                <a:rPr lang="en-US" sz="2800" dirty="0">
                  <a:solidFill>
                    <a:srgbClr val="002060"/>
                  </a:solidFill>
                  <a:latin typeface="Times New Roman" panose="02020603050405020304" pitchFamily="18" charset="0"/>
                  <a:cs typeface="Times New Roman" panose="02020603050405020304" pitchFamily="18" charset="0"/>
                </a:rPr>
              </a:br>
              <a:r>
                <a:rPr lang="en-US" sz="2800" dirty="0">
                  <a:solidFill>
                    <a:srgbClr val="002060"/>
                  </a:solidFill>
                  <a:latin typeface="Times New Roman" panose="02020603050405020304" pitchFamily="18" charset="0"/>
                  <a:cs typeface="Times New Roman" panose="02020603050405020304" pitchFamily="18" charset="0"/>
                </a:rPr>
                <a:t>- AWS Console, Azure Portal, CLI, and PowerShell. </a:t>
              </a:r>
              <a:br>
                <a:rPr lang="en-US" sz="2800" dirty="0">
                  <a:solidFill>
                    <a:srgbClr val="002060"/>
                  </a:solidFill>
                  <a:latin typeface="Times New Roman" panose="02020603050405020304" pitchFamily="18" charset="0"/>
                  <a:cs typeface="Times New Roman" panose="02020603050405020304" pitchFamily="18" charset="0"/>
                </a:rPr>
              </a:br>
              <a:r>
                <a:rPr lang="en-US" sz="2800" dirty="0">
                  <a:solidFill>
                    <a:srgbClr val="002060"/>
                  </a:solidFill>
                  <a:latin typeface="Times New Roman" panose="02020603050405020304" pitchFamily="18" charset="0"/>
                  <a:cs typeface="Times New Roman" panose="02020603050405020304" pitchFamily="18" charset="0"/>
                </a:rPr>
                <a:t>- Cloud monitoring tools like AWS CloudWatch and Azure Monitor. </a:t>
              </a:r>
              <a:br>
                <a:rPr lang="en-US" dirty="0"/>
              </a:br>
              <a:br>
                <a:rPr lang="en-US" dirty="0"/>
              </a:br>
              <a:endParaRPr lang="en-US" sz="4200" spc="420" dirty="0">
                <a:solidFill>
                  <a:srgbClr val="04345C"/>
                </a:solidFill>
                <a:latin typeface="Glacial Indifference Bold" panose="020B0604020202020204" charset="0"/>
              </a:endParaRPr>
            </a:p>
          </p:txBody>
        </p:sp>
        <p:sp>
          <p:nvSpPr>
            <p:cNvPr id="16" name="TextBox 16"/>
            <p:cNvSpPr txBox="1"/>
            <p:nvPr/>
          </p:nvSpPr>
          <p:spPr>
            <a:xfrm>
              <a:off x="0" y="971551"/>
              <a:ext cx="18270164" cy="492443"/>
            </a:xfrm>
            <a:prstGeom prst="rect">
              <a:avLst/>
            </a:prstGeom>
          </p:spPr>
          <p:txBody>
            <a:bodyPr lIns="0" tIns="0" rIns="0" bIns="0" rtlCol="0" anchor="t">
              <a:spAutoFit/>
            </a:bodyPr>
            <a:lstStyle/>
            <a:p>
              <a:pPr algn="just">
                <a:spcAft>
                  <a:spcPts val="800"/>
                </a:spcAft>
              </a:pPr>
              <a:endParaRPr lang="en-IN" sz="2400" dirty="0">
                <a:solidFill>
                  <a:srgbClr val="04345C"/>
                </a:solidFill>
                <a:latin typeface="Glacial Indifference" panose="020B0604020202020204" charset="0"/>
                <a:ea typeface="Calibri" panose="020F0502020204030204" pitchFamily="34" charset="0"/>
                <a:cs typeface="Times New Roman" panose="02020603050405020304" pitchFamily="18" charset="0"/>
              </a:endParaRPr>
            </a:p>
          </p:txBody>
        </p:sp>
      </p:grpSp>
      <p:sp>
        <p:nvSpPr>
          <p:cNvPr id="17" name="Freeform 17"/>
          <p:cNvSpPr/>
          <p:nvPr/>
        </p:nvSpPr>
        <p:spPr>
          <a:xfrm rot="-2064611">
            <a:off x="16934121" y="7150507"/>
            <a:ext cx="1287179" cy="1333864"/>
          </a:xfrm>
          <a:custGeom>
            <a:avLst/>
            <a:gdLst/>
            <a:ahLst/>
            <a:cxnLst/>
            <a:rect l="l" t="t" r="r" b="b"/>
            <a:pathLst>
              <a:path w="1287179" h="1333864">
                <a:moveTo>
                  <a:pt x="0" y="0"/>
                </a:moveTo>
                <a:lnTo>
                  <a:pt x="1287179" y="0"/>
                </a:lnTo>
                <a:lnTo>
                  <a:pt x="1287179" y="1333864"/>
                </a:lnTo>
                <a:lnTo>
                  <a:pt x="0" y="1333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8" name="TextBox 18"/>
          <p:cNvSpPr txBox="1"/>
          <p:nvPr/>
        </p:nvSpPr>
        <p:spPr>
          <a:xfrm>
            <a:off x="3842427" y="358696"/>
            <a:ext cx="10279451" cy="1846659"/>
          </a:xfrm>
          <a:prstGeom prst="rect">
            <a:avLst/>
          </a:prstGeom>
        </p:spPr>
        <p:txBody>
          <a:bodyPr lIns="0" tIns="0" rIns="0" bIns="0" rtlCol="0" anchor="t">
            <a:spAutoFit/>
          </a:bodyPr>
          <a:lstStyle/>
          <a:p>
            <a:r>
              <a:rPr lang="en-US" sz="6000" b="1" dirty="0">
                <a:solidFill>
                  <a:srgbClr val="002060"/>
                </a:solidFill>
              </a:rPr>
              <a:t>Analysis &amp; Requirement</a:t>
            </a:r>
          </a:p>
          <a:p>
            <a:endParaRPr lang="en-IN" sz="6000" b="1" dirty="0">
              <a:solidFill>
                <a:srgbClr val="002060"/>
              </a:solidFill>
            </a:endParaRPr>
          </a:p>
        </p:txBody>
      </p:sp>
      <p:grpSp>
        <p:nvGrpSpPr>
          <p:cNvPr id="19" name="Group 19"/>
          <p:cNvGrpSpPr/>
          <p:nvPr/>
        </p:nvGrpSpPr>
        <p:grpSpPr>
          <a:xfrm>
            <a:off x="1616659" y="7300237"/>
            <a:ext cx="1381041" cy="1431131"/>
            <a:chOff x="0" y="0"/>
            <a:chExt cx="1841389" cy="1908175"/>
          </a:xfrm>
        </p:grpSpPr>
        <p:sp>
          <p:nvSpPr>
            <p:cNvPr id="20" name="Freeform 20"/>
            <p:cNvSpPr/>
            <p:nvPr/>
          </p:nvSpPr>
          <p:spPr>
            <a:xfrm>
              <a:off x="0" y="0"/>
              <a:ext cx="1841389" cy="1908175"/>
            </a:xfrm>
            <a:custGeom>
              <a:avLst/>
              <a:gdLst/>
              <a:ahLst/>
              <a:cxnLst/>
              <a:rect l="l" t="t" r="r" b="b"/>
              <a:pathLst>
                <a:path w="1841389" h="1908175">
                  <a:moveTo>
                    <a:pt x="0" y="0"/>
                  </a:moveTo>
                  <a:lnTo>
                    <a:pt x="1841389" y="0"/>
                  </a:lnTo>
                  <a:lnTo>
                    <a:pt x="1841389" y="1908175"/>
                  </a:lnTo>
                  <a:lnTo>
                    <a:pt x="0" y="1908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1" name="Freeform 21"/>
            <p:cNvSpPr/>
            <p:nvPr/>
          </p:nvSpPr>
          <p:spPr>
            <a:xfrm>
              <a:off x="530999" y="608627"/>
              <a:ext cx="779391" cy="810567"/>
            </a:xfrm>
            <a:custGeom>
              <a:avLst/>
              <a:gdLst/>
              <a:ahLst/>
              <a:cxnLst/>
              <a:rect l="l" t="t" r="r" b="b"/>
              <a:pathLst>
                <a:path w="779391" h="810567">
                  <a:moveTo>
                    <a:pt x="0" y="0"/>
                  </a:moveTo>
                  <a:lnTo>
                    <a:pt x="779391" y="0"/>
                  </a:lnTo>
                  <a:lnTo>
                    <a:pt x="779391" y="810567"/>
                  </a:lnTo>
                  <a:lnTo>
                    <a:pt x="0" y="81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grpSp>
      <p:grpSp>
        <p:nvGrpSpPr>
          <p:cNvPr id="25" name="Group 25"/>
          <p:cNvGrpSpPr/>
          <p:nvPr/>
        </p:nvGrpSpPr>
        <p:grpSpPr>
          <a:xfrm>
            <a:off x="3842427" y="7429898"/>
            <a:ext cx="13702623" cy="1105139"/>
            <a:chOff x="0" y="-9525"/>
            <a:chExt cx="18270164" cy="1473519"/>
          </a:xfrm>
        </p:grpSpPr>
        <p:sp>
          <p:nvSpPr>
            <p:cNvPr id="26" name="TextBox 26"/>
            <p:cNvSpPr txBox="1"/>
            <p:nvPr/>
          </p:nvSpPr>
          <p:spPr>
            <a:xfrm>
              <a:off x="0" y="-9525"/>
              <a:ext cx="18270164" cy="860425"/>
            </a:xfrm>
            <a:prstGeom prst="rect">
              <a:avLst/>
            </a:prstGeom>
          </p:spPr>
          <p:txBody>
            <a:bodyPr lIns="0" tIns="0" rIns="0" bIns="0" rtlCol="0" anchor="t">
              <a:spAutoFit/>
            </a:bodyPr>
            <a:lstStyle/>
            <a:p>
              <a:pPr>
                <a:lnSpc>
                  <a:spcPts val="5040"/>
                </a:lnSpc>
              </a:pPr>
              <a:endParaRPr lang="en-US" sz="4200" spc="420" dirty="0">
                <a:solidFill>
                  <a:srgbClr val="04345C"/>
                </a:solidFill>
                <a:latin typeface="Glacial Indifference Bold" panose="020B0604020202020204" charset="0"/>
              </a:endParaRPr>
            </a:p>
          </p:txBody>
        </p:sp>
        <p:sp>
          <p:nvSpPr>
            <p:cNvPr id="27" name="TextBox 27"/>
            <p:cNvSpPr txBox="1"/>
            <p:nvPr/>
          </p:nvSpPr>
          <p:spPr>
            <a:xfrm>
              <a:off x="0" y="971551"/>
              <a:ext cx="18270164" cy="492443"/>
            </a:xfrm>
            <a:prstGeom prst="rect">
              <a:avLst/>
            </a:prstGeom>
          </p:spPr>
          <p:txBody>
            <a:bodyPr lIns="0" tIns="0" rIns="0" bIns="0" rtlCol="0" anchor="t">
              <a:spAutoFit/>
            </a:bodyPr>
            <a:lstStyle/>
            <a:p>
              <a:endParaRPr lang="en-US" sz="2400" dirty="0">
                <a:solidFill>
                  <a:srgbClr val="1D5B78"/>
                </a:solidFill>
                <a:latin typeface="Glacial Indifference"/>
              </a:endParaRPr>
            </a:p>
          </p:txBody>
        </p:sp>
      </p:grpSp>
      <p:grpSp>
        <p:nvGrpSpPr>
          <p:cNvPr id="28" name="Group 28"/>
          <p:cNvGrpSpPr/>
          <p:nvPr/>
        </p:nvGrpSpPr>
        <p:grpSpPr>
          <a:xfrm>
            <a:off x="3842427" y="4707923"/>
            <a:ext cx="13702623" cy="1105138"/>
            <a:chOff x="0" y="-9525"/>
            <a:chExt cx="18270164" cy="1473517"/>
          </a:xfrm>
        </p:grpSpPr>
        <p:sp>
          <p:nvSpPr>
            <p:cNvPr id="29" name="TextBox 29"/>
            <p:cNvSpPr txBox="1"/>
            <p:nvPr/>
          </p:nvSpPr>
          <p:spPr>
            <a:xfrm>
              <a:off x="0" y="-9525"/>
              <a:ext cx="18270164" cy="860425"/>
            </a:xfrm>
            <a:prstGeom prst="rect">
              <a:avLst/>
            </a:prstGeom>
          </p:spPr>
          <p:txBody>
            <a:bodyPr lIns="0" tIns="0" rIns="0" bIns="0" rtlCol="0" anchor="t">
              <a:spAutoFit/>
            </a:bodyPr>
            <a:lstStyle/>
            <a:p>
              <a:pPr>
                <a:lnSpc>
                  <a:spcPts val="5040"/>
                </a:lnSpc>
              </a:pPr>
              <a:endParaRPr lang="en-US" sz="4200" spc="420" dirty="0">
                <a:solidFill>
                  <a:srgbClr val="04345C"/>
                </a:solidFill>
                <a:latin typeface="Glacial Indifference Bold" panose="020B0604020202020204" charset="0"/>
              </a:endParaRPr>
            </a:p>
          </p:txBody>
        </p:sp>
        <p:sp>
          <p:nvSpPr>
            <p:cNvPr id="30" name="TextBox 30"/>
            <p:cNvSpPr txBox="1"/>
            <p:nvPr/>
          </p:nvSpPr>
          <p:spPr>
            <a:xfrm>
              <a:off x="0" y="971550"/>
              <a:ext cx="18270164" cy="492442"/>
            </a:xfrm>
            <a:prstGeom prst="rect">
              <a:avLst/>
            </a:prstGeom>
          </p:spPr>
          <p:txBody>
            <a:bodyPr lIns="0" tIns="0" rIns="0" bIns="0" rtlCol="0" anchor="t">
              <a:spAutoFit/>
            </a:bodyPr>
            <a:lstStyle/>
            <a:p>
              <a:endParaRPr lang="en-US" sz="2400" dirty="0">
                <a:solidFill>
                  <a:srgbClr val="1D5B78"/>
                </a:solidFill>
                <a:latin typeface="Glacial Indifference" panose="020B0604020202020204" charset="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5692641">
            <a:off x="1859542" y="-2559242"/>
            <a:ext cx="14137151" cy="14649897"/>
          </a:xfrm>
          <a:custGeom>
            <a:avLst/>
            <a:gdLst/>
            <a:ahLst/>
            <a:cxnLst/>
            <a:rect l="l" t="t" r="r" b="b"/>
            <a:pathLst>
              <a:path w="14137151" h="14649897">
                <a:moveTo>
                  <a:pt x="0" y="0"/>
                </a:moveTo>
                <a:lnTo>
                  <a:pt x="14137151" y="0"/>
                </a:lnTo>
                <a:lnTo>
                  <a:pt x="14137151" y="14649897"/>
                </a:lnTo>
                <a:lnTo>
                  <a:pt x="0" y="1464989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a:off x="-1816729" y="5468715"/>
            <a:ext cx="5328508" cy="5521770"/>
          </a:xfrm>
          <a:custGeom>
            <a:avLst/>
            <a:gdLst/>
            <a:ahLst/>
            <a:cxnLst/>
            <a:rect l="l" t="t" r="r" b="b"/>
            <a:pathLst>
              <a:path w="5328508" h="5521770">
                <a:moveTo>
                  <a:pt x="0" y="0"/>
                </a:moveTo>
                <a:lnTo>
                  <a:pt x="5328508" y="0"/>
                </a:lnTo>
                <a:lnTo>
                  <a:pt x="5328508" y="5521770"/>
                </a:lnTo>
                <a:lnTo>
                  <a:pt x="0" y="552177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648884" y="8667750"/>
            <a:ext cx="2306858" cy="2390526"/>
          </a:xfrm>
          <a:custGeom>
            <a:avLst/>
            <a:gdLst/>
            <a:ahLst/>
            <a:cxnLst/>
            <a:rect l="l" t="t" r="r" b="b"/>
            <a:pathLst>
              <a:path w="2306858" h="2390526">
                <a:moveTo>
                  <a:pt x="0" y="0"/>
                </a:moveTo>
                <a:lnTo>
                  <a:pt x="2306858" y="0"/>
                </a:lnTo>
                <a:lnTo>
                  <a:pt x="2306858" y="2390526"/>
                </a:lnTo>
                <a:lnTo>
                  <a:pt x="0" y="23905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2700000">
            <a:off x="12967898" y="-2126071"/>
            <a:ext cx="6088708" cy="6309542"/>
          </a:xfrm>
          <a:custGeom>
            <a:avLst/>
            <a:gdLst/>
            <a:ahLst/>
            <a:cxnLst/>
            <a:rect l="l" t="t" r="r" b="b"/>
            <a:pathLst>
              <a:path w="6088708" h="6309542">
                <a:moveTo>
                  <a:pt x="0" y="0"/>
                </a:moveTo>
                <a:lnTo>
                  <a:pt x="6088708" y="0"/>
                </a:lnTo>
                <a:lnTo>
                  <a:pt x="6088708" y="6309542"/>
                </a:lnTo>
                <a:lnTo>
                  <a:pt x="0" y="6309542"/>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rot="6449029">
            <a:off x="16729013" y="2010975"/>
            <a:ext cx="1828804" cy="1895134"/>
          </a:xfrm>
          <a:custGeom>
            <a:avLst/>
            <a:gdLst/>
            <a:ahLst/>
            <a:cxnLst/>
            <a:rect l="l" t="t" r="r" b="b"/>
            <a:pathLst>
              <a:path w="1828804" h="1895134">
                <a:moveTo>
                  <a:pt x="0" y="0"/>
                </a:moveTo>
                <a:lnTo>
                  <a:pt x="1828804" y="0"/>
                </a:lnTo>
                <a:lnTo>
                  <a:pt x="1828804" y="1895134"/>
                </a:lnTo>
                <a:lnTo>
                  <a:pt x="0" y="18951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7" name="Group 7"/>
          <p:cNvGrpSpPr/>
          <p:nvPr/>
        </p:nvGrpSpPr>
        <p:grpSpPr>
          <a:xfrm>
            <a:off x="16687800" y="1028700"/>
            <a:ext cx="571500" cy="571500"/>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9" name="Group 9"/>
          <p:cNvGrpSpPr/>
          <p:nvPr/>
        </p:nvGrpSpPr>
        <p:grpSpPr>
          <a:xfrm>
            <a:off x="-152400" y="8077200"/>
            <a:ext cx="1181100" cy="11811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11" name="Group 11"/>
          <p:cNvGrpSpPr/>
          <p:nvPr/>
        </p:nvGrpSpPr>
        <p:grpSpPr>
          <a:xfrm>
            <a:off x="1247150" y="688906"/>
            <a:ext cx="16189587" cy="1773888"/>
            <a:chOff x="-41825" y="171450"/>
            <a:chExt cx="21586115" cy="2365184"/>
          </a:xfrm>
        </p:grpSpPr>
        <p:sp>
          <p:nvSpPr>
            <p:cNvPr id="12" name="TextBox 12"/>
            <p:cNvSpPr txBox="1"/>
            <p:nvPr/>
          </p:nvSpPr>
          <p:spPr>
            <a:xfrm>
              <a:off x="0" y="171450"/>
              <a:ext cx="21544290" cy="1521187"/>
            </a:xfrm>
            <a:prstGeom prst="rect">
              <a:avLst/>
            </a:prstGeom>
          </p:spPr>
          <p:txBody>
            <a:bodyPr lIns="0" tIns="0" rIns="0" bIns="0" rtlCol="0" anchor="t">
              <a:spAutoFit/>
            </a:bodyPr>
            <a:lstStyle/>
            <a:p>
              <a:pPr algn="ctr">
                <a:lnSpc>
                  <a:spcPts val="8799"/>
                </a:lnSpc>
              </a:pPr>
              <a:r>
                <a:rPr lang="en-IN" sz="8000" b="1" dirty="0">
                  <a:solidFill>
                    <a:srgbClr val="6BD4CD"/>
                  </a:solidFill>
                  <a:latin typeface="Times New Roman" panose="02020603050405020304" pitchFamily="18" charset="0"/>
                  <a:cs typeface="Times New Roman" panose="02020603050405020304" pitchFamily="18" charset="0"/>
                </a:rPr>
                <a:t>Problem Description</a:t>
              </a:r>
              <a:endParaRPr lang="en-US" sz="8000" b="1" spc="879" dirty="0">
                <a:solidFill>
                  <a:srgbClr val="6BD4CD"/>
                </a:solidFill>
                <a:latin typeface="Times New Roman" panose="02020603050405020304" pitchFamily="18" charset="0"/>
                <a:cs typeface="Times New Roman" panose="02020603050405020304" pitchFamily="18" charset="0"/>
              </a:endParaRPr>
            </a:p>
          </p:txBody>
        </p:sp>
        <p:sp>
          <p:nvSpPr>
            <p:cNvPr id="13" name="TextBox 13"/>
            <p:cNvSpPr txBox="1"/>
            <p:nvPr/>
          </p:nvSpPr>
          <p:spPr>
            <a:xfrm>
              <a:off x="-41825" y="1805114"/>
              <a:ext cx="21544290" cy="731520"/>
            </a:xfrm>
            <a:prstGeom prst="rect">
              <a:avLst/>
            </a:prstGeom>
          </p:spPr>
          <p:txBody>
            <a:bodyPr lIns="0" tIns="0" rIns="0" bIns="0" rtlCol="0" anchor="t">
              <a:spAutoFit/>
            </a:bodyPr>
            <a:lstStyle/>
            <a:p>
              <a:pPr algn="ctr">
                <a:lnSpc>
                  <a:spcPts val="4320"/>
                </a:lnSpc>
              </a:pPr>
              <a:endParaRPr lang="en-US" sz="3600" spc="359" dirty="0">
                <a:solidFill>
                  <a:srgbClr val="6BD4CD"/>
                </a:solidFill>
                <a:latin typeface="Glacial Indifference"/>
              </a:endParaRPr>
            </a:p>
          </p:txBody>
        </p:sp>
      </p:grpSp>
      <p:sp>
        <p:nvSpPr>
          <p:cNvPr id="15" name="TextBox 14">
            <a:extLst>
              <a:ext uri="{FF2B5EF4-FFF2-40B4-BE49-F238E27FC236}">
                <a16:creationId xmlns:a16="http://schemas.microsoft.com/office/drawing/2014/main" id="{BAD5B573-9EF0-2976-2D72-C127A9DFE6BA}"/>
              </a:ext>
            </a:extLst>
          </p:cNvPr>
          <p:cNvSpPr txBox="1"/>
          <p:nvPr/>
        </p:nvSpPr>
        <p:spPr>
          <a:xfrm>
            <a:off x="2955742" y="2324100"/>
            <a:ext cx="12092604" cy="6463308"/>
          </a:xfrm>
          <a:prstGeom prst="rect">
            <a:avLst/>
          </a:prstGeom>
          <a:noFill/>
        </p:spPr>
        <p:txBody>
          <a:bodyPr wrap="square" rtlCol="0">
            <a:spAutoFit/>
          </a:bodyPr>
          <a:lstStyle/>
          <a:p>
            <a:pPr>
              <a:lnSpc>
                <a:spcPct val="150000"/>
              </a:lnSpc>
            </a:pPr>
            <a:r>
              <a:rPr lang="en-US" sz="3600" b="1" dirty="0">
                <a:solidFill>
                  <a:srgbClr val="6BD4CD"/>
                </a:solidFill>
                <a:latin typeface="Times New Roman" panose="02020603050405020304" pitchFamily="18" charset="0"/>
                <a:cs typeface="Times New Roman" panose="02020603050405020304" pitchFamily="18" charset="0"/>
              </a:rPr>
              <a:t>Internship divided into 6 core modules:</a:t>
            </a:r>
          </a:p>
          <a:p>
            <a:pPr marL="571500" indent="-571500">
              <a:lnSpc>
                <a:spcPct val="150000"/>
              </a:lnSpc>
              <a:buFont typeface="Wingdings" panose="05000000000000000000" pitchFamily="2" charset="2"/>
              <a:buChar char="v"/>
            </a:pPr>
            <a:r>
              <a:rPr lang="en-US" sz="3600" dirty="0">
                <a:solidFill>
                  <a:srgbClr val="6BD4CD"/>
                </a:solidFill>
              </a:rPr>
              <a:t>Identity &amp; Access Management</a:t>
            </a:r>
          </a:p>
          <a:p>
            <a:pPr marL="571500" indent="-571500">
              <a:lnSpc>
                <a:spcPct val="150000"/>
              </a:lnSpc>
              <a:buFont typeface="Wingdings" panose="05000000000000000000" pitchFamily="2" charset="2"/>
              <a:buChar char="v"/>
            </a:pPr>
            <a:r>
              <a:rPr lang="en-US" sz="3600" dirty="0">
                <a:solidFill>
                  <a:srgbClr val="6BD4CD"/>
                </a:solidFill>
              </a:rPr>
              <a:t>Compute Management</a:t>
            </a:r>
          </a:p>
          <a:p>
            <a:pPr marL="571500" indent="-571500">
              <a:lnSpc>
                <a:spcPct val="150000"/>
              </a:lnSpc>
              <a:buFont typeface="Wingdings" panose="05000000000000000000" pitchFamily="2" charset="2"/>
              <a:buChar char="v"/>
            </a:pPr>
            <a:r>
              <a:rPr lang="en-US" sz="3600" dirty="0">
                <a:solidFill>
                  <a:srgbClr val="6BD4CD"/>
                </a:solidFill>
              </a:rPr>
              <a:t>Storage &amp; Backup</a:t>
            </a:r>
          </a:p>
          <a:p>
            <a:pPr marL="571500" indent="-571500">
              <a:lnSpc>
                <a:spcPct val="150000"/>
              </a:lnSpc>
              <a:buFont typeface="Wingdings" panose="05000000000000000000" pitchFamily="2" charset="2"/>
              <a:buChar char="v"/>
            </a:pPr>
            <a:r>
              <a:rPr lang="en-US" sz="3600" dirty="0">
                <a:solidFill>
                  <a:srgbClr val="6BD4CD"/>
                </a:solidFill>
              </a:rPr>
              <a:t>Networking</a:t>
            </a:r>
          </a:p>
          <a:p>
            <a:pPr marL="571500" indent="-571500">
              <a:lnSpc>
                <a:spcPct val="150000"/>
              </a:lnSpc>
              <a:buFont typeface="Wingdings" panose="05000000000000000000" pitchFamily="2" charset="2"/>
              <a:buChar char="v"/>
            </a:pPr>
            <a:r>
              <a:rPr lang="en-US" sz="3600" dirty="0">
                <a:solidFill>
                  <a:srgbClr val="6BD4CD"/>
                </a:solidFill>
              </a:rPr>
              <a:t>Monitoring &amp; Logging</a:t>
            </a:r>
          </a:p>
          <a:p>
            <a:pPr marL="571500" indent="-571500">
              <a:lnSpc>
                <a:spcPct val="150000"/>
              </a:lnSpc>
              <a:buFont typeface="Wingdings" panose="05000000000000000000" pitchFamily="2" charset="2"/>
              <a:buChar char="v"/>
            </a:pPr>
            <a:r>
              <a:rPr lang="en-US" sz="3600" dirty="0">
                <a:solidFill>
                  <a:srgbClr val="6BD4CD"/>
                </a:solidFill>
              </a:rPr>
              <a:t>Security &amp; Compliance</a:t>
            </a:r>
          </a:p>
          <a:p>
            <a:pPr marL="571500" indent="-571500">
              <a:buFont typeface="Wingdings" panose="05000000000000000000" pitchFamily="2" charset="2"/>
              <a:buChar char="v"/>
            </a:pP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2700000">
            <a:off x="15243511" y="-1356315"/>
            <a:ext cx="4603079" cy="4770030"/>
          </a:xfrm>
          <a:custGeom>
            <a:avLst/>
            <a:gdLst/>
            <a:ahLst/>
            <a:cxnLst/>
            <a:rect l="l" t="t" r="r" b="b"/>
            <a:pathLst>
              <a:path w="4603079" h="4770030">
                <a:moveTo>
                  <a:pt x="0" y="0"/>
                </a:moveTo>
                <a:lnTo>
                  <a:pt x="4603078" y="0"/>
                </a:lnTo>
                <a:lnTo>
                  <a:pt x="4603078" y="4770030"/>
                </a:lnTo>
                <a:lnTo>
                  <a:pt x="0" y="477003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2887577">
            <a:off x="-92735" y="5353049"/>
            <a:ext cx="5766719" cy="5975875"/>
          </a:xfrm>
          <a:custGeom>
            <a:avLst/>
            <a:gdLst/>
            <a:ahLst/>
            <a:cxnLst/>
            <a:rect l="l" t="t" r="r" b="b"/>
            <a:pathLst>
              <a:path w="5766719" h="5975875">
                <a:moveTo>
                  <a:pt x="0" y="0"/>
                </a:moveTo>
                <a:lnTo>
                  <a:pt x="5766719" y="0"/>
                </a:lnTo>
                <a:lnTo>
                  <a:pt x="5766719" y="5975874"/>
                </a:lnTo>
                <a:lnTo>
                  <a:pt x="0" y="5975874"/>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8904887">
            <a:off x="8268344" y="1201499"/>
            <a:ext cx="9078721" cy="9408001"/>
          </a:xfrm>
          <a:custGeom>
            <a:avLst/>
            <a:gdLst/>
            <a:ahLst/>
            <a:cxnLst/>
            <a:rect l="l" t="t" r="r" b="b"/>
            <a:pathLst>
              <a:path w="9078721" h="9408001">
                <a:moveTo>
                  <a:pt x="0" y="0"/>
                </a:moveTo>
                <a:lnTo>
                  <a:pt x="9078721" y="0"/>
                </a:lnTo>
                <a:lnTo>
                  <a:pt x="9078721" y="9408002"/>
                </a:lnTo>
                <a:lnTo>
                  <a:pt x="0" y="94080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7" name="Group 7"/>
          <p:cNvGrpSpPr/>
          <p:nvPr/>
        </p:nvGrpSpPr>
        <p:grpSpPr>
          <a:xfrm>
            <a:off x="3485664" y="249824"/>
            <a:ext cx="1348756" cy="1348756"/>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9" name="Group 9"/>
          <p:cNvGrpSpPr/>
          <p:nvPr/>
        </p:nvGrpSpPr>
        <p:grpSpPr>
          <a:xfrm>
            <a:off x="16973550" y="742950"/>
            <a:ext cx="571500" cy="5715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11" name="Group 11"/>
          <p:cNvGrpSpPr/>
          <p:nvPr/>
        </p:nvGrpSpPr>
        <p:grpSpPr>
          <a:xfrm>
            <a:off x="782948" y="1314450"/>
            <a:ext cx="10342251" cy="4591050"/>
            <a:chOff x="0" y="-2281679"/>
            <a:chExt cx="9442545" cy="1508189"/>
          </a:xfrm>
        </p:grpSpPr>
        <p:sp>
          <p:nvSpPr>
            <p:cNvPr id="12" name="TextBox 12"/>
            <p:cNvSpPr txBox="1"/>
            <p:nvPr/>
          </p:nvSpPr>
          <p:spPr>
            <a:xfrm>
              <a:off x="0" y="-2281679"/>
              <a:ext cx="8995369" cy="735244"/>
            </a:xfrm>
            <a:prstGeom prst="rect">
              <a:avLst/>
            </a:prstGeom>
          </p:spPr>
          <p:txBody>
            <a:bodyPr lIns="0" tIns="0" rIns="0" bIns="0" rtlCol="0" anchor="t">
              <a:spAutoFit/>
            </a:bodyPr>
            <a:lstStyle/>
            <a:p>
              <a:pPr algn="ctr">
                <a:lnSpc>
                  <a:spcPts val="4320"/>
                </a:lnSpc>
              </a:pPr>
              <a:endParaRPr lang="en-US" sz="3600" spc="359" dirty="0">
                <a:solidFill>
                  <a:srgbClr val="04345C"/>
                </a:solidFill>
                <a:latin typeface="Glacial Indifference"/>
              </a:endParaRPr>
            </a:p>
          </p:txBody>
        </p:sp>
        <p:sp>
          <p:nvSpPr>
            <p:cNvPr id="13" name="TextBox 13"/>
            <p:cNvSpPr txBox="1"/>
            <p:nvPr/>
          </p:nvSpPr>
          <p:spPr>
            <a:xfrm>
              <a:off x="447176" y="-1312099"/>
              <a:ext cx="8995369" cy="538609"/>
            </a:xfrm>
            <a:prstGeom prst="rect">
              <a:avLst/>
            </a:prstGeom>
          </p:spPr>
          <p:txBody>
            <a:bodyPr lIns="0" tIns="0" rIns="0" bIns="0" rtlCol="0" anchor="t">
              <a:spAutoFit/>
            </a:bodyPr>
            <a:lstStyle/>
            <a:p>
              <a:pPr algn="ctr">
                <a:lnSpc>
                  <a:spcPts val="3600"/>
                </a:lnSpc>
              </a:pPr>
              <a:endParaRPr lang="en-IN" dirty="0">
                <a:solidFill>
                  <a:srgbClr val="3B5F80"/>
                </a:solidFill>
                <a:latin typeface="Glacial Indifference" panose="020B0604020202020204" charset="0"/>
                <a:ea typeface="Times New Roman" panose="02020603050405020304" pitchFamily="18" charset="0"/>
              </a:endParaRPr>
            </a:p>
          </p:txBody>
        </p:sp>
      </p:grpSp>
      <p:grpSp>
        <p:nvGrpSpPr>
          <p:cNvPr id="14" name="Group 14"/>
          <p:cNvGrpSpPr/>
          <p:nvPr/>
        </p:nvGrpSpPr>
        <p:grpSpPr>
          <a:xfrm>
            <a:off x="10694761" y="3454480"/>
            <a:ext cx="7072790" cy="1072358"/>
            <a:chOff x="0" y="0"/>
            <a:chExt cx="9430387" cy="1429810"/>
          </a:xfrm>
        </p:grpSpPr>
        <p:sp>
          <p:nvSpPr>
            <p:cNvPr id="15" name="TextBox 15"/>
            <p:cNvSpPr txBox="1"/>
            <p:nvPr/>
          </p:nvSpPr>
          <p:spPr>
            <a:xfrm>
              <a:off x="0" y="0"/>
              <a:ext cx="9430387" cy="735244"/>
            </a:xfrm>
            <a:prstGeom prst="rect">
              <a:avLst/>
            </a:prstGeom>
          </p:spPr>
          <p:txBody>
            <a:bodyPr lIns="0" tIns="0" rIns="0" bIns="0" rtlCol="0" anchor="t">
              <a:spAutoFit/>
            </a:bodyPr>
            <a:lstStyle/>
            <a:p>
              <a:pPr algn="ctr">
                <a:lnSpc>
                  <a:spcPts val="4320"/>
                </a:lnSpc>
              </a:pPr>
              <a:endParaRPr lang="en-US" sz="3600" spc="359" dirty="0">
                <a:solidFill>
                  <a:srgbClr val="04345C"/>
                </a:solidFill>
                <a:latin typeface="Glacial Indifference"/>
              </a:endParaRPr>
            </a:p>
          </p:txBody>
        </p:sp>
        <p:sp>
          <p:nvSpPr>
            <p:cNvPr id="16" name="TextBox 16"/>
            <p:cNvSpPr txBox="1"/>
            <p:nvPr/>
          </p:nvSpPr>
          <p:spPr>
            <a:xfrm>
              <a:off x="0" y="882651"/>
              <a:ext cx="9430387" cy="547159"/>
            </a:xfrm>
            <a:prstGeom prst="rect">
              <a:avLst/>
            </a:prstGeom>
          </p:spPr>
          <p:txBody>
            <a:bodyPr lIns="0" tIns="0" rIns="0" bIns="0" rtlCol="0" anchor="t">
              <a:spAutoFit/>
            </a:bodyPr>
            <a:lstStyle/>
            <a:p>
              <a:pPr algn="just">
                <a:lnSpc>
                  <a:spcPct val="150000"/>
                </a:lnSpc>
                <a:spcAft>
                  <a:spcPts val="800"/>
                </a:spcAft>
              </a:pPr>
              <a:endParaRPr lang="en-IN" sz="2000" dirty="0">
                <a:solidFill>
                  <a:srgbClr val="3B5F80"/>
                </a:solidFill>
                <a:effectLst/>
                <a:latin typeface="Glacial Indifference" panose="020B0604020202020204" charset="0"/>
                <a:ea typeface="Calibri" panose="020F0502020204030204" pitchFamily="34" charset="0"/>
                <a:cs typeface="Times New Roman" panose="02020603050405020304" pitchFamily="18" charset="0"/>
              </a:endParaRPr>
            </a:p>
          </p:txBody>
        </p:sp>
      </p:grpSp>
      <p:sp>
        <p:nvSpPr>
          <p:cNvPr id="17" name="Freeform 17"/>
          <p:cNvSpPr/>
          <p:nvPr/>
        </p:nvSpPr>
        <p:spPr>
          <a:xfrm rot="-5780817">
            <a:off x="15156397" y="-969796"/>
            <a:ext cx="1697903" cy="1759485"/>
          </a:xfrm>
          <a:custGeom>
            <a:avLst/>
            <a:gdLst/>
            <a:ahLst/>
            <a:cxnLst/>
            <a:rect l="l" t="t" r="r" b="b"/>
            <a:pathLst>
              <a:path w="1697903" h="1759485">
                <a:moveTo>
                  <a:pt x="0" y="0"/>
                </a:moveTo>
                <a:lnTo>
                  <a:pt x="1697903" y="0"/>
                </a:lnTo>
                <a:lnTo>
                  <a:pt x="1697903" y="1759485"/>
                </a:lnTo>
                <a:lnTo>
                  <a:pt x="0" y="17594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0" name="TextBox 19">
            <a:extLst>
              <a:ext uri="{FF2B5EF4-FFF2-40B4-BE49-F238E27FC236}">
                <a16:creationId xmlns:a16="http://schemas.microsoft.com/office/drawing/2014/main" id="{8EA559C0-FF56-880D-3A16-8E782DD2F0E9}"/>
              </a:ext>
            </a:extLst>
          </p:cNvPr>
          <p:cNvSpPr txBox="1"/>
          <p:nvPr/>
        </p:nvSpPr>
        <p:spPr>
          <a:xfrm>
            <a:off x="520449" y="517238"/>
            <a:ext cx="13424151" cy="9140964"/>
          </a:xfrm>
          <a:prstGeom prst="rect">
            <a:avLst/>
          </a:prstGeom>
          <a:noFill/>
        </p:spPr>
        <p:txBody>
          <a:bodyPr wrap="square" rtlCol="0">
            <a:spAutoFit/>
          </a:bodyPr>
          <a:lstStyle/>
          <a:p>
            <a:pPr algn="ctr">
              <a:spcAft>
                <a:spcPts val="1200"/>
              </a:spcAft>
            </a:pPr>
            <a:r>
              <a:rPr lang="en-IN" sz="6000" dirty="0">
                <a:solidFill>
                  <a:srgbClr val="6BD4CD"/>
                </a:solidFill>
                <a:latin typeface="Times New Roman" panose="02020603050405020304" pitchFamily="18" charset="0"/>
                <a:cs typeface="Times New Roman" panose="02020603050405020304" pitchFamily="18" charset="0"/>
              </a:rPr>
              <a:t>Design Phase</a:t>
            </a:r>
          </a:p>
          <a:p>
            <a:pPr>
              <a:spcAft>
                <a:spcPts val="1200"/>
              </a:spcAft>
            </a:pPr>
            <a:r>
              <a:rPr lang="en-US" sz="2800" b="1" dirty="0">
                <a:solidFill>
                  <a:srgbClr val="6BD4CD"/>
                </a:solidFill>
                <a:latin typeface="Times New Roman" panose="02020603050405020304" pitchFamily="18" charset="0"/>
                <a:cs typeface="Times New Roman" panose="02020603050405020304" pitchFamily="18" charset="0"/>
              </a:rPr>
              <a:t>Cloud Infrastructure Layout</a:t>
            </a:r>
            <a:endParaRPr lang="en-US" sz="2800" dirty="0">
              <a:solidFill>
                <a:srgbClr val="6BD4CD"/>
              </a:solidFill>
              <a:latin typeface="Times New Roman" panose="02020603050405020304" pitchFamily="18" charset="0"/>
              <a:cs typeface="Times New Roman" panose="02020603050405020304" pitchFamily="18" charset="0"/>
            </a:endParaRPr>
          </a:p>
          <a:p>
            <a:pPr>
              <a:spcAft>
                <a:spcPts val="1200"/>
              </a:spcAft>
            </a:pPr>
            <a:r>
              <a:rPr lang="en-US" sz="2800" dirty="0">
                <a:solidFill>
                  <a:srgbClr val="6BD4CD"/>
                </a:solidFill>
                <a:latin typeface="Times New Roman" panose="02020603050405020304" pitchFamily="18" charset="0"/>
                <a:cs typeface="Times New Roman" panose="02020603050405020304" pitchFamily="18" charset="0"/>
              </a:rPr>
              <a:t>Organized Identity, Compute, Storage, Networking</a:t>
            </a:r>
          </a:p>
          <a:p>
            <a:pPr>
              <a:spcAft>
                <a:spcPts val="1200"/>
              </a:spcAft>
            </a:pPr>
            <a:endParaRPr lang="en-IN" sz="2800" dirty="0">
              <a:solidFill>
                <a:srgbClr val="6BD4CD"/>
              </a:solidFill>
              <a:latin typeface="Times New Roman" panose="02020603050405020304" pitchFamily="18" charset="0"/>
              <a:cs typeface="Times New Roman" panose="02020603050405020304" pitchFamily="18" charset="0"/>
            </a:endParaRPr>
          </a:p>
          <a:p>
            <a:pPr>
              <a:spcAft>
                <a:spcPts val="1200"/>
              </a:spcAft>
            </a:pPr>
            <a:r>
              <a:rPr lang="en-US" sz="2800" b="1" dirty="0">
                <a:solidFill>
                  <a:srgbClr val="6BD4CD"/>
                </a:solidFill>
                <a:latin typeface="Times New Roman" panose="02020603050405020304" pitchFamily="18" charset="0"/>
                <a:cs typeface="Times New Roman" panose="02020603050405020304" pitchFamily="18" charset="0"/>
              </a:rPr>
              <a:t>Security Architecture</a:t>
            </a:r>
            <a:endParaRPr lang="en-US" sz="2800" dirty="0">
              <a:solidFill>
                <a:srgbClr val="6BD4CD"/>
              </a:solidFill>
              <a:latin typeface="Times New Roman" panose="02020603050405020304" pitchFamily="18" charset="0"/>
              <a:cs typeface="Times New Roman" panose="02020603050405020304" pitchFamily="18" charset="0"/>
            </a:endParaRPr>
          </a:p>
          <a:p>
            <a:pPr>
              <a:spcAft>
                <a:spcPts val="1200"/>
              </a:spcAft>
            </a:pPr>
            <a:r>
              <a:rPr lang="en-US" sz="2800" dirty="0">
                <a:solidFill>
                  <a:srgbClr val="6BD4CD"/>
                </a:solidFill>
                <a:latin typeface="Times New Roman" panose="02020603050405020304" pitchFamily="18" charset="0"/>
                <a:cs typeface="Times New Roman" panose="02020603050405020304" pitchFamily="18" charset="0"/>
              </a:rPr>
              <a:t>IAM roles, Azure AD groups, MFA policies</a:t>
            </a:r>
          </a:p>
          <a:p>
            <a:pPr>
              <a:spcAft>
                <a:spcPts val="1200"/>
              </a:spcAft>
            </a:pPr>
            <a:endParaRPr lang="en-IN" sz="2800" dirty="0">
              <a:solidFill>
                <a:srgbClr val="6BD4CD"/>
              </a:solidFill>
              <a:latin typeface="Times New Roman" panose="02020603050405020304" pitchFamily="18" charset="0"/>
              <a:cs typeface="Times New Roman" panose="02020603050405020304" pitchFamily="18" charset="0"/>
            </a:endParaRPr>
          </a:p>
          <a:p>
            <a:pPr>
              <a:spcAft>
                <a:spcPts val="1200"/>
              </a:spcAft>
            </a:pPr>
            <a:r>
              <a:rPr lang="en-US" sz="2800" b="1" dirty="0">
                <a:solidFill>
                  <a:srgbClr val="6BD4CD"/>
                </a:solidFill>
                <a:latin typeface="Times New Roman" panose="02020603050405020304" pitchFamily="18" charset="0"/>
                <a:cs typeface="Times New Roman" panose="02020603050405020304" pitchFamily="18" charset="0"/>
              </a:rPr>
              <a:t>Data Flow Design</a:t>
            </a:r>
            <a:endParaRPr lang="en-US" sz="2800" dirty="0">
              <a:solidFill>
                <a:srgbClr val="6BD4CD"/>
              </a:solidFill>
              <a:latin typeface="Times New Roman" panose="02020603050405020304" pitchFamily="18" charset="0"/>
              <a:cs typeface="Times New Roman" panose="02020603050405020304" pitchFamily="18" charset="0"/>
            </a:endParaRPr>
          </a:p>
          <a:p>
            <a:pPr>
              <a:spcAft>
                <a:spcPts val="1200"/>
              </a:spcAft>
            </a:pPr>
            <a:r>
              <a:rPr lang="en-US" sz="2800" dirty="0">
                <a:solidFill>
                  <a:srgbClr val="6BD4CD"/>
                </a:solidFill>
                <a:latin typeface="Times New Roman" panose="02020603050405020304" pitchFamily="18" charset="0"/>
                <a:cs typeface="Times New Roman" panose="02020603050405020304" pitchFamily="18" charset="0"/>
              </a:rPr>
              <a:t>S3/Blob/EC2/VM communication</a:t>
            </a:r>
          </a:p>
          <a:p>
            <a:pPr>
              <a:spcAft>
                <a:spcPts val="1200"/>
              </a:spcAft>
            </a:pPr>
            <a:r>
              <a:rPr lang="en-US" sz="2800" dirty="0">
                <a:solidFill>
                  <a:srgbClr val="6BD4CD"/>
                </a:solidFill>
                <a:latin typeface="Times New Roman" panose="02020603050405020304" pitchFamily="18" charset="0"/>
                <a:cs typeface="Times New Roman" panose="02020603050405020304" pitchFamily="18" charset="0"/>
              </a:rPr>
              <a:t>Backup &amp; redundancy paths</a:t>
            </a:r>
          </a:p>
          <a:p>
            <a:pPr>
              <a:spcAft>
                <a:spcPts val="1200"/>
              </a:spcAft>
            </a:pPr>
            <a:endParaRPr lang="en-IN" sz="2800" dirty="0">
              <a:solidFill>
                <a:srgbClr val="6BD4CD"/>
              </a:solidFill>
              <a:latin typeface="Times New Roman" panose="02020603050405020304" pitchFamily="18" charset="0"/>
              <a:cs typeface="Times New Roman" panose="02020603050405020304" pitchFamily="18" charset="0"/>
            </a:endParaRPr>
          </a:p>
          <a:p>
            <a:pPr>
              <a:spcAft>
                <a:spcPts val="1200"/>
              </a:spcAft>
            </a:pPr>
            <a:r>
              <a:rPr lang="en-US" sz="2800" b="1" dirty="0">
                <a:solidFill>
                  <a:srgbClr val="6BD4CD"/>
                </a:solidFill>
                <a:latin typeface="Times New Roman" panose="02020603050405020304" pitchFamily="18" charset="0"/>
                <a:cs typeface="Times New Roman" panose="02020603050405020304" pitchFamily="18" charset="0"/>
              </a:rPr>
              <a:t>Monitoring Design</a:t>
            </a:r>
            <a:endParaRPr lang="en-US" sz="2800" dirty="0">
              <a:solidFill>
                <a:srgbClr val="6BD4CD"/>
              </a:solidFill>
              <a:latin typeface="Times New Roman" panose="02020603050405020304" pitchFamily="18" charset="0"/>
              <a:cs typeface="Times New Roman" panose="02020603050405020304" pitchFamily="18" charset="0"/>
            </a:endParaRPr>
          </a:p>
          <a:p>
            <a:pPr>
              <a:spcAft>
                <a:spcPts val="1200"/>
              </a:spcAft>
            </a:pPr>
            <a:r>
              <a:rPr lang="en-US" sz="2800" dirty="0">
                <a:solidFill>
                  <a:srgbClr val="6BD4CD"/>
                </a:solidFill>
                <a:latin typeface="Times New Roman" panose="02020603050405020304" pitchFamily="18" charset="0"/>
                <a:cs typeface="Times New Roman" panose="02020603050405020304" pitchFamily="18" charset="0"/>
              </a:rPr>
              <a:t>CloudWatch dashboards</a:t>
            </a:r>
          </a:p>
          <a:p>
            <a:pPr>
              <a:spcAft>
                <a:spcPts val="1200"/>
              </a:spcAft>
            </a:pPr>
            <a:r>
              <a:rPr lang="en-US" sz="2800" dirty="0">
                <a:solidFill>
                  <a:srgbClr val="6BD4CD"/>
                </a:solidFill>
                <a:latin typeface="Times New Roman" panose="02020603050405020304" pitchFamily="18" charset="0"/>
                <a:cs typeface="Times New Roman" panose="02020603050405020304" pitchFamily="18" charset="0"/>
              </a:rPr>
              <a:t>Azure Monitor alerts</a:t>
            </a:r>
          </a:p>
          <a:p>
            <a:endParaRPr lang="en-IN" sz="2400" dirty="0">
              <a:solidFill>
                <a:srgbClr val="6BD4CD"/>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rot="-8898611">
            <a:off x="8208102" y="4949976"/>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5688114">
            <a:off x="8410395" y="-2164393"/>
            <a:ext cx="9491370" cy="9835617"/>
          </a:xfrm>
          <a:custGeom>
            <a:avLst/>
            <a:gdLst/>
            <a:ahLst/>
            <a:cxnLst/>
            <a:rect l="l" t="t" r="r" b="b"/>
            <a:pathLst>
              <a:path w="9491370" h="9835617">
                <a:moveTo>
                  <a:pt x="0" y="0"/>
                </a:moveTo>
                <a:lnTo>
                  <a:pt x="9491370" y="0"/>
                </a:lnTo>
                <a:lnTo>
                  <a:pt x="9491370" y="9835617"/>
                </a:lnTo>
                <a:lnTo>
                  <a:pt x="0" y="98356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7912599">
            <a:off x="283697" y="-2560035"/>
            <a:ext cx="8668733" cy="8983143"/>
          </a:xfrm>
          <a:custGeom>
            <a:avLst/>
            <a:gdLst/>
            <a:ahLst/>
            <a:cxnLst/>
            <a:rect l="l" t="t" r="r" b="b"/>
            <a:pathLst>
              <a:path w="8668733" h="8983143">
                <a:moveTo>
                  <a:pt x="0" y="0"/>
                </a:moveTo>
                <a:lnTo>
                  <a:pt x="8668733" y="0"/>
                </a:lnTo>
                <a:lnTo>
                  <a:pt x="8668733" y="8983143"/>
                </a:lnTo>
                <a:lnTo>
                  <a:pt x="0" y="8983143"/>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2794852" y="2166923"/>
            <a:ext cx="3448537" cy="1172984"/>
            <a:chOff x="0" y="0"/>
            <a:chExt cx="4598049" cy="1563979"/>
          </a:xfrm>
        </p:grpSpPr>
        <p:sp>
          <p:nvSpPr>
            <p:cNvPr id="7" name="TextBox 7"/>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p:cNvGrpSpPr/>
          <p:nvPr/>
        </p:nvGrpSpPr>
        <p:grpSpPr>
          <a:xfrm>
            <a:off x="17259300" y="8462486"/>
            <a:ext cx="571500" cy="5715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p:cNvSpPr/>
          <p:nvPr/>
        </p:nvSpPr>
        <p:spPr>
          <a:xfrm>
            <a:off x="2756752" y="-419100"/>
            <a:ext cx="38100" cy="10706100"/>
          </a:xfrm>
          <a:prstGeom prst="rect">
            <a:avLst/>
          </a:prstGeom>
          <a:solidFill>
            <a:srgbClr val="E2EDF1"/>
          </a:solidFill>
        </p:spPr>
        <p:txBody>
          <a:bodyPr/>
          <a:lstStyle/>
          <a:p>
            <a:endParaRPr lang="en-IN"/>
          </a:p>
        </p:txBody>
      </p:sp>
      <p:grpSp>
        <p:nvGrpSpPr>
          <p:cNvPr id="12" name="Group 12"/>
          <p:cNvGrpSpPr/>
          <p:nvPr/>
        </p:nvGrpSpPr>
        <p:grpSpPr>
          <a:xfrm>
            <a:off x="2628175" y="2407218"/>
            <a:ext cx="257154" cy="257154"/>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p:cNvGrpSpPr/>
          <p:nvPr/>
        </p:nvGrpSpPr>
        <p:grpSpPr>
          <a:xfrm>
            <a:off x="2628175" y="3609295"/>
            <a:ext cx="257154" cy="257154"/>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p:cNvGrpSpPr/>
          <p:nvPr/>
        </p:nvGrpSpPr>
        <p:grpSpPr>
          <a:xfrm>
            <a:off x="2666275" y="4917213"/>
            <a:ext cx="257154" cy="257154"/>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p:cNvGrpSpPr/>
          <p:nvPr/>
        </p:nvGrpSpPr>
        <p:grpSpPr>
          <a:xfrm>
            <a:off x="2666275" y="5945040"/>
            <a:ext cx="257154" cy="257154"/>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20" name="Group 20"/>
          <p:cNvGrpSpPr/>
          <p:nvPr/>
        </p:nvGrpSpPr>
        <p:grpSpPr>
          <a:xfrm>
            <a:off x="-320056" y="604334"/>
            <a:ext cx="1348756" cy="1348756"/>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2" name="Freeform 22"/>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p:cNvSpPr txBox="1"/>
          <p:nvPr/>
        </p:nvSpPr>
        <p:spPr>
          <a:xfrm>
            <a:off x="0" y="848653"/>
            <a:ext cx="10279451" cy="859210"/>
          </a:xfrm>
          <a:prstGeom prst="rect">
            <a:avLst/>
          </a:prstGeom>
        </p:spPr>
        <p:txBody>
          <a:bodyPr lIns="0" tIns="0" rIns="0" bIns="0" rtlCol="0" anchor="t">
            <a:spAutoFit/>
          </a:bodyPr>
          <a:lstStyle/>
          <a:p>
            <a:pPr algn="ctr">
              <a:lnSpc>
                <a:spcPts val="6720"/>
              </a:lnSpc>
            </a:pPr>
            <a:r>
              <a:rPr lang="en-IN" sz="6000" b="1" dirty="0">
                <a:solidFill>
                  <a:srgbClr val="002060"/>
                </a:solidFill>
                <a:latin typeface="Times New Roman" panose="02020603050405020304" pitchFamily="18" charset="0"/>
                <a:cs typeface="Times New Roman" panose="02020603050405020304" pitchFamily="18" charset="0"/>
              </a:rPr>
              <a:t>AWS Implementation</a:t>
            </a:r>
            <a:endParaRPr lang="en-US" sz="5600" b="1" spc="560" dirty="0">
              <a:solidFill>
                <a:srgbClr val="002060"/>
              </a:solidFill>
              <a:latin typeface="Times New Roman" panose="02020603050405020304" pitchFamily="18" charset="0"/>
              <a:cs typeface="Times New Roman" panose="02020603050405020304" pitchFamily="18" charset="0"/>
            </a:endParaRPr>
          </a:p>
        </p:txBody>
      </p:sp>
      <p:sp>
        <p:nvSpPr>
          <p:cNvPr id="25" name="TextBox 25"/>
          <p:cNvSpPr txBox="1"/>
          <p:nvPr/>
        </p:nvSpPr>
        <p:spPr>
          <a:xfrm>
            <a:off x="3352800" y="2166923"/>
            <a:ext cx="13238360" cy="5006499"/>
          </a:xfrm>
          <a:prstGeom prst="rect">
            <a:avLst/>
          </a:prstGeom>
        </p:spPr>
        <p:txBody>
          <a:bodyPr wrap="square" lIns="0" tIns="0" rIns="0" bIns="0" rtlCol="0" anchor="t">
            <a:spAutoFit/>
          </a:bodyPr>
          <a:lstStyle/>
          <a:p>
            <a:pPr marL="457200" lvl="0" indent="-457200" algn="just">
              <a:lnSpc>
                <a:spcPct val="150000"/>
              </a:lnSpc>
              <a:spcAft>
                <a:spcPts val="0"/>
              </a:spcAft>
              <a:buFont typeface="Wingdings" panose="05000000000000000000" pitchFamily="2" charset="2"/>
              <a:buChar char="ü"/>
              <a:tabLst>
                <a:tab pos="228600" algn="l"/>
                <a:tab pos="457200" algn="l"/>
              </a:tabLst>
            </a:pPr>
            <a:r>
              <a:rPr lang="en-US" altLang="en-US" sz="3200" dirty="0">
                <a:latin typeface="Times New Roman" panose="02020603050405020304" pitchFamily="18" charset="0"/>
                <a:cs typeface="Times New Roman" panose="02020603050405020304" pitchFamily="18" charset="0"/>
              </a:rPr>
              <a:t> </a:t>
            </a:r>
            <a:r>
              <a:rPr lang="en-US" altLang="en-US" sz="3200" dirty="0">
                <a:solidFill>
                  <a:srgbClr val="002060"/>
                </a:solidFill>
                <a:latin typeface="Times New Roman" panose="02020603050405020304" pitchFamily="18" charset="0"/>
                <a:cs typeface="Times New Roman" panose="02020603050405020304" pitchFamily="18" charset="0"/>
              </a:rPr>
              <a:t>Created IAM users, groups, roles</a:t>
            </a:r>
          </a:p>
          <a:p>
            <a:pPr marL="457200" lvl="0" indent="-457200" eaLnBrk="0" fontAlgn="base" hangingPunct="0">
              <a:lnSpc>
                <a:spcPct val="150000"/>
              </a:lnSpc>
              <a:spcBef>
                <a:spcPct val="0"/>
              </a:spcBef>
              <a:spcAft>
                <a:spcPct val="0"/>
              </a:spcAft>
              <a:buFont typeface="Wingdings" panose="05000000000000000000" pitchFamily="2" charset="2"/>
              <a:buChar char="ü"/>
            </a:pPr>
            <a:r>
              <a:rPr lang="en-US" altLang="en-US" sz="3200" dirty="0">
                <a:solidFill>
                  <a:srgbClr val="002060"/>
                </a:solidFill>
                <a:latin typeface="Times New Roman" panose="02020603050405020304" pitchFamily="18" charset="0"/>
                <a:cs typeface="Times New Roman" panose="02020603050405020304" pitchFamily="18" charset="0"/>
              </a:rPr>
              <a:t>Provisioned EC2 instances</a:t>
            </a:r>
          </a:p>
          <a:p>
            <a:pPr marL="457200" lvl="0" indent="-457200" eaLnBrk="0" fontAlgn="base" hangingPunct="0">
              <a:lnSpc>
                <a:spcPct val="150000"/>
              </a:lnSpc>
              <a:spcBef>
                <a:spcPct val="0"/>
              </a:spcBef>
              <a:spcAft>
                <a:spcPct val="0"/>
              </a:spcAft>
              <a:buFont typeface="Wingdings" panose="05000000000000000000" pitchFamily="2" charset="2"/>
              <a:buChar char="ü"/>
            </a:pPr>
            <a:r>
              <a:rPr lang="en-US" altLang="en-US" sz="3200" dirty="0">
                <a:solidFill>
                  <a:srgbClr val="002060"/>
                </a:solidFill>
                <a:latin typeface="Times New Roman" panose="02020603050405020304" pitchFamily="18" charset="0"/>
                <a:cs typeface="Times New Roman" panose="02020603050405020304" pitchFamily="18" charset="0"/>
              </a:rPr>
              <a:t>Configured S3 buckets with lifecycle policies</a:t>
            </a:r>
          </a:p>
          <a:p>
            <a:pPr marL="457200" lvl="0" indent="-457200" eaLnBrk="0" fontAlgn="base" hangingPunct="0">
              <a:lnSpc>
                <a:spcPct val="150000"/>
              </a:lnSpc>
              <a:spcBef>
                <a:spcPct val="0"/>
              </a:spcBef>
              <a:spcAft>
                <a:spcPct val="0"/>
              </a:spcAft>
              <a:buFont typeface="Wingdings" panose="05000000000000000000" pitchFamily="2" charset="2"/>
              <a:buChar char="ü"/>
            </a:pPr>
            <a:r>
              <a:rPr lang="en-US" altLang="en-US" sz="3200" dirty="0">
                <a:solidFill>
                  <a:srgbClr val="002060"/>
                </a:solidFill>
                <a:latin typeface="Times New Roman" panose="02020603050405020304" pitchFamily="18" charset="0"/>
                <a:cs typeface="Times New Roman" panose="02020603050405020304" pitchFamily="18" charset="0"/>
              </a:rPr>
              <a:t>Setup CloudWatch metrics &amp; alarms</a:t>
            </a:r>
          </a:p>
          <a:p>
            <a:pPr marL="457200" lvl="0" indent="-457200" eaLnBrk="0" fontAlgn="base" hangingPunct="0">
              <a:lnSpc>
                <a:spcPct val="150000"/>
              </a:lnSpc>
              <a:spcBef>
                <a:spcPct val="0"/>
              </a:spcBef>
              <a:spcAft>
                <a:spcPct val="0"/>
              </a:spcAft>
              <a:buFont typeface="Wingdings" panose="05000000000000000000" pitchFamily="2" charset="2"/>
              <a:buChar char="ü"/>
            </a:pPr>
            <a:r>
              <a:rPr lang="en-US" altLang="en-US" sz="3200" dirty="0">
                <a:solidFill>
                  <a:srgbClr val="002060"/>
                </a:solidFill>
                <a:latin typeface="Times New Roman" panose="02020603050405020304" pitchFamily="18" charset="0"/>
                <a:cs typeface="Times New Roman" panose="02020603050405020304" pitchFamily="18" charset="0"/>
              </a:rPr>
              <a:t>Automated tasks using AWS CLI</a:t>
            </a:r>
          </a:p>
          <a:p>
            <a:pPr marL="457200" lvl="0" indent="-457200" eaLnBrk="0" fontAlgn="base" hangingPunct="0">
              <a:lnSpc>
                <a:spcPct val="150000"/>
              </a:lnSpc>
              <a:spcBef>
                <a:spcPct val="0"/>
              </a:spcBef>
              <a:spcAft>
                <a:spcPct val="0"/>
              </a:spcAft>
              <a:buFont typeface="Wingdings" panose="05000000000000000000" pitchFamily="2" charset="2"/>
              <a:buChar char="ü"/>
            </a:pPr>
            <a:r>
              <a:rPr lang="en-US" altLang="en-US" sz="3200" dirty="0">
                <a:solidFill>
                  <a:srgbClr val="002060"/>
                </a:solidFill>
                <a:latin typeface="Times New Roman" panose="02020603050405020304" pitchFamily="18" charset="0"/>
                <a:cs typeface="Times New Roman" panose="02020603050405020304" pitchFamily="18" charset="0"/>
              </a:rPr>
              <a:t>Implemented Lambda-based scheduled backups</a:t>
            </a:r>
          </a:p>
          <a:p>
            <a:pPr marL="342900" lvl="0" indent="-342900" algn="just">
              <a:lnSpc>
                <a:spcPct val="150000"/>
              </a:lnSpc>
              <a:spcAft>
                <a:spcPts val="0"/>
              </a:spcAft>
              <a:tabLst>
                <a:tab pos="228600" algn="l"/>
                <a:tab pos="457200" algn="l"/>
              </a:tabLst>
            </a:pPr>
            <a:endParaRPr lang="en-IN" sz="2800" kern="100" dirty="0">
              <a:solidFill>
                <a:srgbClr val="04345C"/>
              </a:solidFill>
              <a:latin typeface="Glacial Indifference" panose="020B0604020202020204" charset="0"/>
              <a:ea typeface="Calibri" panose="020F0502020204030204" pitchFamily="34" charset="0"/>
              <a:cs typeface="Times New Roman" panose="02020603050405020304" pitchFamily="18" charset="0"/>
            </a:endParaRPr>
          </a:p>
        </p:txBody>
      </p:sp>
      <p:grpSp>
        <p:nvGrpSpPr>
          <p:cNvPr id="28" name="Group 28"/>
          <p:cNvGrpSpPr/>
          <p:nvPr/>
        </p:nvGrpSpPr>
        <p:grpSpPr>
          <a:xfrm>
            <a:off x="2656750" y="7007543"/>
            <a:ext cx="257154" cy="257154"/>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2" name="Group 32"/>
          <p:cNvGrpSpPr/>
          <p:nvPr/>
        </p:nvGrpSpPr>
        <p:grpSpPr>
          <a:xfrm>
            <a:off x="2647225" y="7969547"/>
            <a:ext cx="257154" cy="257154"/>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5" name="Group 35"/>
          <p:cNvGrpSpPr/>
          <p:nvPr/>
        </p:nvGrpSpPr>
        <p:grpSpPr>
          <a:xfrm>
            <a:off x="2666275" y="8905409"/>
            <a:ext cx="257154" cy="257154"/>
            <a:chOff x="0" y="0"/>
            <a:chExt cx="6350000" cy="6350000"/>
          </a:xfrm>
        </p:grpSpPr>
        <p:sp>
          <p:nvSpPr>
            <p:cNvPr id="36" name="Freeform 3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rot="-8898611">
            <a:off x="8208102" y="4949976"/>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5688114">
            <a:off x="8410395" y="-2164393"/>
            <a:ext cx="9491370" cy="9835617"/>
          </a:xfrm>
          <a:custGeom>
            <a:avLst/>
            <a:gdLst/>
            <a:ahLst/>
            <a:cxnLst/>
            <a:rect l="l" t="t" r="r" b="b"/>
            <a:pathLst>
              <a:path w="9491370" h="9835617">
                <a:moveTo>
                  <a:pt x="0" y="0"/>
                </a:moveTo>
                <a:lnTo>
                  <a:pt x="9491370" y="0"/>
                </a:lnTo>
                <a:lnTo>
                  <a:pt x="9491370" y="9835617"/>
                </a:lnTo>
                <a:lnTo>
                  <a:pt x="0" y="98356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7912599">
            <a:off x="-142155" y="-2823007"/>
            <a:ext cx="8668733" cy="8983143"/>
          </a:xfrm>
          <a:custGeom>
            <a:avLst/>
            <a:gdLst/>
            <a:ahLst/>
            <a:cxnLst/>
            <a:rect l="l" t="t" r="r" b="b"/>
            <a:pathLst>
              <a:path w="8668733" h="8983143">
                <a:moveTo>
                  <a:pt x="0" y="0"/>
                </a:moveTo>
                <a:lnTo>
                  <a:pt x="8668733" y="0"/>
                </a:lnTo>
                <a:lnTo>
                  <a:pt x="8668733" y="8983143"/>
                </a:lnTo>
                <a:lnTo>
                  <a:pt x="0" y="8983143"/>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2794852" y="2166923"/>
            <a:ext cx="3448537" cy="1172984"/>
            <a:chOff x="0" y="0"/>
            <a:chExt cx="4598049" cy="1563979"/>
          </a:xfrm>
        </p:grpSpPr>
        <p:sp>
          <p:nvSpPr>
            <p:cNvPr id="7" name="TextBox 7"/>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p:cNvGrpSpPr/>
          <p:nvPr/>
        </p:nvGrpSpPr>
        <p:grpSpPr>
          <a:xfrm>
            <a:off x="17259300" y="8462486"/>
            <a:ext cx="571500" cy="5715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p:cNvSpPr/>
          <p:nvPr/>
        </p:nvSpPr>
        <p:spPr>
          <a:xfrm>
            <a:off x="2756752" y="-419100"/>
            <a:ext cx="38100" cy="10706100"/>
          </a:xfrm>
          <a:prstGeom prst="rect">
            <a:avLst/>
          </a:prstGeom>
          <a:solidFill>
            <a:srgbClr val="E2EDF1"/>
          </a:solidFill>
        </p:spPr>
        <p:txBody>
          <a:bodyPr/>
          <a:lstStyle/>
          <a:p>
            <a:endParaRPr lang="en-IN"/>
          </a:p>
        </p:txBody>
      </p:sp>
      <p:grpSp>
        <p:nvGrpSpPr>
          <p:cNvPr id="12" name="Group 12"/>
          <p:cNvGrpSpPr/>
          <p:nvPr/>
        </p:nvGrpSpPr>
        <p:grpSpPr>
          <a:xfrm>
            <a:off x="2628175" y="2407218"/>
            <a:ext cx="257154" cy="257154"/>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p:cNvGrpSpPr/>
          <p:nvPr/>
        </p:nvGrpSpPr>
        <p:grpSpPr>
          <a:xfrm>
            <a:off x="2628175" y="3609295"/>
            <a:ext cx="257154" cy="257154"/>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p:cNvGrpSpPr/>
          <p:nvPr/>
        </p:nvGrpSpPr>
        <p:grpSpPr>
          <a:xfrm>
            <a:off x="2666275" y="4917213"/>
            <a:ext cx="257154" cy="257154"/>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p:cNvGrpSpPr/>
          <p:nvPr/>
        </p:nvGrpSpPr>
        <p:grpSpPr>
          <a:xfrm>
            <a:off x="2666275" y="5945040"/>
            <a:ext cx="257154" cy="257154"/>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20" name="Group 20"/>
          <p:cNvGrpSpPr/>
          <p:nvPr/>
        </p:nvGrpSpPr>
        <p:grpSpPr>
          <a:xfrm>
            <a:off x="-320056" y="604334"/>
            <a:ext cx="1348756" cy="1348756"/>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2" name="Freeform 22"/>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p:cNvSpPr txBox="1"/>
          <p:nvPr/>
        </p:nvSpPr>
        <p:spPr>
          <a:xfrm>
            <a:off x="0" y="848653"/>
            <a:ext cx="10279451" cy="806696"/>
          </a:xfrm>
          <a:prstGeom prst="rect">
            <a:avLst/>
          </a:prstGeom>
        </p:spPr>
        <p:txBody>
          <a:bodyPr lIns="0" tIns="0" rIns="0" bIns="0" rtlCol="0" anchor="t">
            <a:spAutoFit/>
          </a:bodyPr>
          <a:lstStyle/>
          <a:p>
            <a:pPr algn="ctr">
              <a:lnSpc>
                <a:spcPts val="6720"/>
              </a:lnSpc>
            </a:pPr>
            <a:r>
              <a:rPr lang="en-IN" sz="5400" b="1" dirty="0">
                <a:solidFill>
                  <a:srgbClr val="002060"/>
                </a:solidFill>
                <a:latin typeface="Times New Roman" panose="02020603050405020304" pitchFamily="18" charset="0"/>
                <a:cs typeface="Times New Roman" panose="02020603050405020304" pitchFamily="18" charset="0"/>
              </a:rPr>
              <a:t>Azure Implementation</a:t>
            </a:r>
            <a:endParaRPr lang="en-US" sz="5400" b="1" spc="560" dirty="0">
              <a:solidFill>
                <a:srgbClr val="002060"/>
              </a:solidFill>
              <a:latin typeface="Times New Roman" panose="02020603050405020304" pitchFamily="18" charset="0"/>
              <a:cs typeface="Times New Roman" panose="02020603050405020304" pitchFamily="18" charset="0"/>
            </a:endParaRPr>
          </a:p>
        </p:txBody>
      </p:sp>
      <p:sp>
        <p:nvSpPr>
          <p:cNvPr id="25" name="TextBox 25"/>
          <p:cNvSpPr txBox="1"/>
          <p:nvPr/>
        </p:nvSpPr>
        <p:spPr>
          <a:xfrm>
            <a:off x="3042482" y="2407218"/>
            <a:ext cx="14026318" cy="11264622"/>
          </a:xfrm>
          <a:prstGeom prst="rect">
            <a:avLst/>
          </a:prstGeom>
        </p:spPr>
        <p:txBody>
          <a:bodyPr wrap="square" lIns="0" tIns="0" rIns="0" bIns="0" rtlCol="0" anchor="t">
            <a:spAutoFit/>
          </a:bodyPr>
          <a:lstStyle/>
          <a:p>
            <a:pPr marL="342900" indent="-342900">
              <a:lnSpc>
                <a:spcPct val="150000"/>
              </a:lnSpc>
              <a:tabLst>
                <a:tab pos="228600" algn="l"/>
                <a:tab pos="457200" algn="l"/>
              </a:tabLst>
            </a:pPr>
            <a:r>
              <a:rPr lang="en-US" altLang="en-US" sz="4000" dirty="0">
                <a:solidFill>
                  <a:srgbClr val="002060"/>
                </a:solidFill>
                <a:latin typeface="Times New Roman" panose="02020603050405020304" pitchFamily="18" charset="0"/>
                <a:cs typeface="Times New Roman" panose="02020603050405020304" pitchFamily="18" charset="0"/>
              </a:rPr>
              <a:t>Created Azure AD users &amp; groups</a:t>
            </a:r>
          </a:p>
          <a:p>
            <a:pPr marL="342900" indent="-342900">
              <a:lnSpc>
                <a:spcPct val="150000"/>
              </a:lnSpc>
              <a:tabLst>
                <a:tab pos="228600" algn="l"/>
                <a:tab pos="457200" algn="l"/>
              </a:tabLst>
            </a:pPr>
            <a:r>
              <a:rPr lang="en-US" altLang="en-US" sz="4000" dirty="0">
                <a:solidFill>
                  <a:srgbClr val="002060"/>
                </a:solidFill>
                <a:latin typeface="Times New Roman" panose="02020603050405020304" pitchFamily="18" charset="0"/>
                <a:cs typeface="Times New Roman" panose="02020603050405020304" pitchFamily="18" charset="0"/>
              </a:rPr>
              <a:t>Provisioned Virtual Machines</a:t>
            </a:r>
          </a:p>
          <a:p>
            <a:pPr marL="342900" indent="-342900">
              <a:lnSpc>
                <a:spcPct val="150000"/>
              </a:lnSpc>
              <a:tabLst>
                <a:tab pos="228600" algn="l"/>
                <a:tab pos="457200" algn="l"/>
              </a:tabLst>
            </a:pPr>
            <a:r>
              <a:rPr lang="en-US" altLang="en-US" sz="4000" dirty="0">
                <a:solidFill>
                  <a:srgbClr val="002060"/>
                </a:solidFill>
                <a:latin typeface="Times New Roman" panose="02020603050405020304" pitchFamily="18" charset="0"/>
                <a:cs typeface="Times New Roman" panose="02020603050405020304" pitchFamily="18" charset="0"/>
              </a:rPr>
              <a:t>Configured Blob storage containers</a:t>
            </a:r>
          </a:p>
          <a:p>
            <a:pPr marL="342900" indent="-342900">
              <a:lnSpc>
                <a:spcPct val="150000"/>
              </a:lnSpc>
              <a:tabLst>
                <a:tab pos="228600" algn="l"/>
                <a:tab pos="457200" algn="l"/>
              </a:tabLst>
            </a:pPr>
            <a:r>
              <a:rPr lang="en-US" altLang="en-US" sz="4000" dirty="0">
                <a:solidFill>
                  <a:srgbClr val="002060"/>
                </a:solidFill>
                <a:latin typeface="Times New Roman" panose="02020603050405020304" pitchFamily="18" charset="0"/>
                <a:cs typeface="Times New Roman" panose="02020603050405020304" pitchFamily="18" charset="0"/>
              </a:rPr>
              <a:t>Setup NSGs &amp; firewall rules</a:t>
            </a:r>
          </a:p>
          <a:p>
            <a:pPr marL="342900" indent="-342900">
              <a:lnSpc>
                <a:spcPct val="150000"/>
              </a:lnSpc>
              <a:tabLst>
                <a:tab pos="228600" algn="l"/>
                <a:tab pos="457200" algn="l"/>
              </a:tabLst>
            </a:pPr>
            <a:r>
              <a:rPr lang="en-US" altLang="en-US" sz="4000" dirty="0">
                <a:solidFill>
                  <a:srgbClr val="002060"/>
                </a:solidFill>
                <a:latin typeface="Times New Roman" panose="02020603050405020304" pitchFamily="18" charset="0"/>
                <a:cs typeface="Times New Roman" panose="02020603050405020304" pitchFamily="18" charset="0"/>
              </a:rPr>
              <a:t>Configured Azure Monitor dashboards</a:t>
            </a:r>
          </a:p>
          <a:p>
            <a:pPr marL="342900" indent="-342900">
              <a:lnSpc>
                <a:spcPct val="150000"/>
              </a:lnSpc>
              <a:tabLst>
                <a:tab pos="228600" algn="l"/>
                <a:tab pos="457200" algn="l"/>
              </a:tabLst>
            </a:pPr>
            <a:r>
              <a:rPr lang="en-US" altLang="en-US" sz="4000" dirty="0">
                <a:solidFill>
                  <a:srgbClr val="002060"/>
                </a:solidFill>
                <a:latin typeface="Times New Roman" panose="02020603050405020304" pitchFamily="18" charset="0"/>
                <a:cs typeface="Times New Roman" panose="02020603050405020304" pitchFamily="18" charset="0"/>
              </a:rPr>
              <a:t>Automated tasks with PowerShell scripts</a:t>
            </a:r>
          </a:p>
          <a:p>
            <a:pPr marL="342900" indent="-342900">
              <a:lnSpc>
                <a:spcPct val="150000"/>
              </a:lnSpc>
              <a:tabLst>
                <a:tab pos="228600" algn="l"/>
                <a:tab pos="457200" algn="l"/>
              </a:tabLst>
            </a:pPr>
            <a:endParaRPr lang="en-US" altLang="en-US" sz="3600" dirty="0">
              <a:latin typeface="Arial" panose="020B0604020202020204" pitchFamily="34" charset="0"/>
            </a:endParaRPr>
          </a:p>
          <a:p>
            <a:pPr marL="342900" indent="-342900">
              <a:lnSpc>
                <a:spcPct val="150000"/>
              </a:lnSpc>
              <a:tabLst>
                <a:tab pos="228600" algn="l"/>
                <a:tab pos="457200" algn="l"/>
              </a:tabLst>
            </a:pPr>
            <a:endParaRPr lang="en-US" altLang="en-US" sz="3600" dirty="0">
              <a:latin typeface="Arial" panose="020B0604020202020204" pitchFamily="34" charset="0"/>
            </a:endParaRPr>
          </a:p>
          <a:p>
            <a:pPr marL="342900" lvl="0" indent="-342900">
              <a:lnSpc>
                <a:spcPct val="150000"/>
              </a:lnSpc>
              <a:spcAft>
                <a:spcPts val="0"/>
              </a:spcAft>
              <a:tabLst>
                <a:tab pos="228600" algn="l"/>
                <a:tab pos="457200" algn="l"/>
              </a:tabLst>
            </a:pPr>
            <a:endParaRPr lang="en-IN" sz="3600" kern="100" dirty="0">
              <a:solidFill>
                <a:srgbClr val="04345C"/>
              </a:solidFill>
              <a:latin typeface="Glacial Indifference" panose="020B0604020202020204" charset="0"/>
              <a:ea typeface="Calibri" panose="020F0502020204030204" pitchFamily="34" charset="0"/>
              <a:cs typeface="Times New Roman" panose="02020603050405020304" pitchFamily="18" charset="0"/>
            </a:endParaRPr>
          </a:p>
          <a:p>
            <a:pPr marL="342900" lvl="0" indent="-342900">
              <a:lnSpc>
                <a:spcPct val="150000"/>
              </a:lnSpc>
              <a:spcAft>
                <a:spcPts val="0"/>
              </a:spcAft>
              <a:tabLst>
                <a:tab pos="228600" algn="l"/>
                <a:tab pos="457200" algn="l"/>
              </a:tabLst>
            </a:pPr>
            <a:r>
              <a:rPr lang="en-IN" sz="3600" kern="100" dirty="0">
                <a:solidFill>
                  <a:srgbClr val="04345C"/>
                </a:solidFill>
                <a:latin typeface="Glacial Indifference" panose="020B0604020202020204" charset="0"/>
                <a:ea typeface="Calibri" panose="020F0502020204030204" pitchFamily="34" charset="0"/>
                <a:cs typeface="Times New Roman" panose="02020603050405020304" pitchFamily="18" charset="0"/>
              </a:rPr>
              <a:t>.</a:t>
            </a:r>
          </a:p>
          <a:p>
            <a:pPr marL="342900" lvl="0" indent="-342900">
              <a:lnSpc>
                <a:spcPct val="150000"/>
              </a:lnSpc>
              <a:spcAft>
                <a:spcPts val="0"/>
              </a:spcAft>
              <a:tabLst>
                <a:tab pos="228600" algn="l"/>
                <a:tab pos="457200" algn="l"/>
              </a:tabLst>
            </a:pPr>
            <a:endParaRPr lang="en-IN" sz="3600" kern="100" dirty="0">
              <a:solidFill>
                <a:srgbClr val="04345C"/>
              </a:solidFill>
              <a:latin typeface="Glacial Indifference" panose="020B0604020202020204" charset="0"/>
              <a:ea typeface="Calibri" panose="020F0502020204030204" pitchFamily="34" charset="0"/>
              <a:cs typeface="Times New Roman" panose="02020603050405020304" pitchFamily="18" charset="0"/>
            </a:endParaRPr>
          </a:p>
          <a:p>
            <a:pPr marL="342900" lvl="0" indent="-342900">
              <a:lnSpc>
                <a:spcPct val="150000"/>
              </a:lnSpc>
              <a:spcAft>
                <a:spcPts val="0"/>
              </a:spcAft>
              <a:tabLst>
                <a:tab pos="228600" algn="l"/>
                <a:tab pos="457200" algn="l"/>
              </a:tabLst>
            </a:pPr>
            <a:endParaRPr lang="en-IN" sz="3600" kern="100" dirty="0">
              <a:solidFill>
                <a:srgbClr val="04345C"/>
              </a:solidFill>
              <a:latin typeface="Glacial Indifference" panose="020B0604020202020204" charset="0"/>
              <a:ea typeface="Calibri" panose="020F0502020204030204" pitchFamily="34" charset="0"/>
              <a:cs typeface="Times New Roman" panose="02020603050405020304" pitchFamily="18" charset="0"/>
            </a:endParaRPr>
          </a:p>
          <a:p>
            <a:pPr marL="342900" lvl="0" indent="-342900">
              <a:lnSpc>
                <a:spcPct val="150000"/>
              </a:lnSpc>
              <a:spcAft>
                <a:spcPts val="0"/>
              </a:spcAft>
              <a:tabLst>
                <a:tab pos="228600" algn="l"/>
                <a:tab pos="457200" algn="l"/>
              </a:tabLst>
            </a:pPr>
            <a:endParaRPr lang="en-IN" sz="3600" dirty="0">
              <a:solidFill>
                <a:srgbClr val="04345C"/>
              </a:solidFill>
              <a:latin typeface="Glacial Indifference" panose="020B0604020202020204" charset="0"/>
            </a:endParaRPr>
          </a:p>
        </p:txBody>
      </p:sp>
      <p:grpSp>
        <p:nvGrpSpPr>
          <p:cNvPr id="28" name="Group 28"/>
          <p:cNvGrpSpPr/>
          <p:nvPr/>
        </p:nvGrpSpPr>
        <p:grpSpPr>
          <a:xfrm>
            <a:off x="2656750" y="7007543"/>
            <a:ext cx="257154" cy="257154"/>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2" name="Group 32"/>
          <p:cNvGrpSpPr/>
          <p:nvPr/>
        </p:nvGrpSpPr>
        <p:grpSpPr>
          <a:xfrm>
            <a:off x="2647225" y="7969547"/>
            <a:ext cx="257154" cy="257154"/>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5" name="Group 35"/>
          <p:cNvGrpSpPr/>
          <p:nvPr/>
        </p:nvGrpSpPr>
        <p:grpSpPr>
          <a:xfrm>
            <a:off x="2666275" y="8905409"/>
            <a:ext cx="257154" cy="257154"/>
            <a:chOff x="0" y="0"/>
            <a:chExt cx="6350000" cy="6350000"/>
          </a:xfrm>
        </p:grpSpPr>
        <p:sp>
          <p:nvSpPr>
            <p:cNvPr id="36" name="Freeform 3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Tree>
    <p:extLst>
      <p:ext uri="{BB962C8B-B14F-4D97-AF65-F5344CB8AC3E}">
        <p14:creationId xmlns:p14="http://schemas.microsoft.com/office/powerpoint/2010/main" val="3612144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rot="-8898611">
            <a:off x="8208102" y="4949976"/>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5688114">
            <a:off x="8410395" y="-2164393"/>
            <a:ext cx="9491370" cy="9835617"/>
          </a:xfrm>
          <a:custGeom>
            <a:avLst/>
            <a:gdLst/>
            <a:ahLst/>
            <a:cxnLst/>
            <a:rect l="l" t="t" r="r" b="b"/>
            <a:pathLst>
              <a:path w="9491370" h="9835617">
                <a:moveTo>
                  <a:pt x="0" y="0"/>
                </a:moveTo>
                <a:lnTo>
                  <a:pt x="9491370" y="0"/>
                </a:lnTo>
                <a:lnTo>
                  <a:pt x="9491370" y="9835617"/>
                </a:lnTo>
                <a:lnTo>
                  <a:pt x="0" y="983561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7912599">
            <a:off x="283697" y="-2560035"/>
            <a:ext cx="8668733" cy="8983143"/>
          </a:xfrm>
          <a:custGeom>
            <a:avLst/>
            <a:gdLst/>
            <a:ahLst/>
            <a:cxnLst/>
            <a:rect l="l" t="t" r="r" b="b"/>
            <a:pathLst>
              <a:path w="8668733" h="8983143">
                <a:moveTo>
                  <a:pt x="0" y="0"/>
                </a:moveTo>
                <a:lnTo>
                  <a:pt x="8668733" y="0"/>
                </a:lnTo>
                <a:lnTo>
                  <a:pt x="8668733" y="8983143"/>
                </a:lnTo>
                <a:lnTo>
                  <a:pt x="0" y="8983143"/>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2794852" y="2166923"/>
            <a:ext cx="3448537" cy="1172984"/>
            <a:chOff x="0" y="0"/>
            <a:chExt cx="4598049" cy="1563979"/>
          </a:xfrm>
        </p:grpSpPr>
        <p:sp>
          <p:nvSpPr>
            <p:cNvPr id="7" name="TextBox 7"/>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p:cNvGrpSpPr/>
          <p:nvPr/>
        </p:nvGrpSpPr>
        <p:grpSpPr>
          <a:xfrm>
            <a:off x="17259300" y="8462486"/>
            <a:ext cx="571500" cy="5715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p:cNvSpPr/>
          <p:nvPr/>
        </p:nvSpPr>
        <p:spPr>
          <a:xfrm>
            <a:off x="2756752" y="-419100"/>
            <a:ext cx="38100" cy="10706100"/>
          </a:xfrm>
          <a:prstGeom prst="rect">
            <a:avLst/>
          </a:prstGeom>
          <a:solidFill>
            <a:srgbClr val="E2EDF1"/>
          </a:solidFill>
        </p:spPr>
        <p:txBody>
          <a:bodyPr/>
          <a:lstStyle/>
          <a:p>
            <a:endParaRPr lang="en-IN"/>
          </a:p>
        </p:txBody>
      </p:sp>
      <p:grpSp>
        <p:nvGrpSpPr>
          <p:cNvPr id="12" name="Group 12"/>
          <p:cNvGrpSpPr/>
          <p:nvPr/>
        </p:nvGrpSpPr>
        <p:grpSpPr>
          <a:xfrm>
            <a:off x="2628175" y="2407218"/>
            <a:ext cx="257154" cy="257154"/>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p:cNvGrpSpPr/>
          <p:nvPr/>
        </p:nvGrpSpPr>
        <p:grpSpPr>
          <a:xfrm>
            <a:off x="2628175" y="3609295"/>
            <a:ext cx="257154" cy="257154"/>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p:cNvGrpSpPr/>
          <p:nvPr/>
        </p:nvGrpSpPr>
        <p:grpSpPr>
          <a:xfrm>
            <a:off x="2666275" y="4917213"/>
            <a:ext cx="257154" cy="257154"/>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p:cNvGrpSpPr/>
          <p:nvPr/>
        </p:nvGrpSpPr>
        <p:grpSpPr>
          <a:xfrm>
            <a:off x="2666275" y="5945040"/>
            <a:ext cx="257154" cy="257154"/>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20" name="Group 20"/>
          <p:cNvGrpSpPr/>
          <p:nvPr/>
        </p:nvGrpSpPr>
        <p:grpSpPr>
          <a:xfrm>
            <a:off x="-320056" y="604334"/>
            <a:ext cx="1348756" cy="1348756"/>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2" name="Freeform 22"/>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p:cNvSpPr txBox="1"/>
          <p:nvPr/>
        </p:nvSpPr>
        <p:spPr>
          <a:xfrm>
            <a:off x="0" y="848653"/>
            <a:ext cx="10279451" cy="859210"/>
          </a:xfrm>
          <a:prstGeom prst="rect">
            <a:avLst/>
          </a:prstGeom>
        </p:spPr>
        <p:txBody>
          <a:bodyPr lIns="0" tIns="0" rIns="0" bIns="0" rtlCol="0" anchor="t">
            <a:spAutoFit/>
          </a:bodyPr>
          <a:lstStyle/>
          <a:p>
            <a:pPr algn="ctr">
              <a:lnSpc>
                <a:spcPts val="6720"/>
              </a:lnSpc>
            </a:pPr>
            <a:r>
              <a:rPr lang="en-IN" sz="6000" b="1" dirty="0">
                <a:solidFill>
                  <a:srgbClr val="002060"/>
                </a:solidFill>
                <a:latin typeface="Times New Roman" panose="02020603050405020304" pitchFamily="18" charset="0"/>
                <a:cs typeface="Times New Roman" panose="02020603050405020304" pitchFamily="18" charset="0"/>
              </a:rPr>
              <a:t>Automation</a:t>
            </a:r>
            <a:endParaRPr lang="en-US" sz="6000" b="1" spc="560" dirty="0">
              <a:solidFill>
                <a:srgbClr val="002060"/>
              </a:solidFill>
              <a:latin typeface="Times New Roman" panose="02020603050405020304" pitchFamily="18" charset="0"/>
              <a:cs typeface="Times New Roman" panose="02020603050405020304" pitchFamily="18" charset="0"/>
            </a:endParaRPr>
          </a:p>
        </p:txBody>
      </p:sp>
      <p:sp>
        <p:nvSpPr>
          <p:cNvPr id="25" name="TextBox 25"/>
          <p:cNvSpPr txBox="1"/>
          <p:nvPr/>
        </p:nvSpPr>
        <p:spPr>
          <a:xfrm>
            <a:off x="3042482" y="2402589"/>
            <a:ext cx="14026318" cy="4965462"/>
          </a:xfrm>
          <a:prstGeom prst="rect">
            <a:avLst/>
          </a:prstGeom>
        </p:spPr>
        <p:txBody>
          <a:bodyPr wrap="square" lIns="0" tIns="0" rIns="0" bIns="0" rtlCol="0" anchor="t">
            <a:spAutoFit/>
          </a:bodyPr>
          <a:lstStyle/>
          <a:p>
            <a:pPr algn="just">
              <a:lnSpc>
                <a:spcPct val="150000"/>
              </a:lnSpc>
            </a:pPr>
            <a:r>
              <a:rPr lang="en-US" altLang="en-US" sz="4400" dirty="0">
                <a:solidFill>
                  <a:srgbClr val="002060"/>
                </a:solidFill>
                <a:latin typeface="Times New Roman" panose="02020603050405020304" pitchFamily="18" charset="0"/>
                <a:cs typeface="Times New Roman" panose="02020603050405020304" pitchFamily="18" charset="0"/>
              </a:rPr>
              <a:t>Automated server provisioning</a:t>
            </a:r>
          </a:p>
          <a:p>
            <a:pPr algn="just">
              <a:lnSpc>
                <a:spcPct val="150000"/>
              </a:lnSpc>
            </a:pPr>
            <a:r>
              <a:rPr lang="en-US" altLang="en-US" sz="4400" dirty="0">
                <a:solidFill>
                  <a:srgbClr val="002060"/>
                </a:solidFill>
                <a:latin typeface="Times New Roman" panose="02020603050405020304" pitchFamily="18" charset="0"/>
                <a:cs typeface="Times New Roman" panose="02020603050405020304" pitchFamily="18" charset="0"/>
              </a:rPr>
              <a:t>Backup scheduling using </a:t>
            </a:r>
            <a:r>
              <a:rPr lang="en-US" altLang="en-US" sz="4400" b="1" dirty="0">
                <a:solidFill>
                  <a:srgbClr val="002060"/>
                </a:solidFill>
                <a:latin typeface="Times New Roman" panose="02020603050405020304" pitchFamily="18" charset="0"/>
                <a:cs typeface="Times New Roman" panose="02020603050405020304" pitchFamily="18" charset="0"/>
              </a:rPr>
              <a:t>Lambda</a:t>
            </a:r>
            <a:r>
              <a:rPr lang="en-US" altLang="en-US" sz="4400" dirty="0">
                <a:solidFill>
                  <a:srgbClr val="002060"/>
                </a:solidFill>
                <a:latin typeface="Times New Roman" panose="02020603050405020304" pitchFamily="18" charset="0"/>
                <a:cs typeface="Times New Roman" panose="02020603050405020304" pitchFamily="18" charset="0"/>
              </a:rPr>
              <a:t> &amp; </a:t>
            </a:r>
            <a:r>
              <a:rPr lang="en-US" altLang="en-US" sz="4400" b="1" dirty="0">
                <a:solidFill>
                  <a:srgbClr val="002060"/>
                </a:solidFill>
                <a:latin typeface="Times New Roman" panose="02020603050405020304" pitchFamily="18" charset="0"/>
                <a:cs typeface="Times New Roman" panose="02020603050405020304" pitchFamily="18" charset="0"/>
              </a:rPr>
              <a:t>Azure Automation</a:t>
            </a:r>
            <a:endParaRPr lang="en-US" altLang="en-US" sz="4400" dirty="0">
              <a:solidFill>
                <a:srgbClr val="002060"/>
              </a:solidFill>
              <a:latin typeface="Times New Roman" panose="02020603050405020304" pitchFamily="18" charset="0"/>
              <a:cs typeface="Times New Roman" panose="02020603050405020304" pitchFamily="18" charset="0"/>
            </a:endParaRPr>
          </a:p>
          <a:p>
            <a:pPr algn="just">
              <a:lnSpc>
                <a:spcPct val="150000"/>
              </a:lnSpc>
            </a:pPr>
            <a:r>
              <a:rPr lang="en-US" altLang="en-US" sz="4400" dirty="0">
                <a:solidFill>
                  <a:srgbClr val="002060"/>
                </a:solidFill>
                <a:latin typeface="Times New Roman" panose="02020603050405020304" pitchFamily="18" charset="0"/>
                <a:cs typeface="Times New Roman" panose="02020603050405020304" pitchFamily="18" charset="0"/>
              </a:rPr>
              <a:t>CLI &amp; PowerShell for bulk deployments</a:t>
            </a:r>
          </a:p>
          <a:p>
            <a:pPr algn="just">
              <a:lnSpc>
                <a:spcPct val="150000"/>
              </a:lnSpc>
            </a:pPr>
            <a:r>
              <a:rPr lang="en-US" altLang="en-US" sz="4400" dirty="0">
                <a:solidFill>
                  <a:srgbClr val="002060"/>
                </a:solidFill>
                <a:latin typeface="Times New Roman" panose="02020603050405020304" pitchFamily="18" charset="0"/>
                <a:cs typeface="Times New Roman" panose="02020603050405020304" pitchFamily="18" charset="0"/>
              </a:rPr>
              <a:t>Monitoring alerts configured using automated rules</a:t>
            </a:r>
          </a:p>
          <a:p>
            <a:pPr algn="just">
              <a:lnSpc>
                <a:spcPct val="150000"/>
              </a:lnSpc>
            </a:pPr>
            <a:endParaRPr lang="en-IN" sz="4400" dirty="0">
              <a:solidFill>
                <a:srgbClr val="04345C"/>
              </a:solidFill>
              <a:latin typeface="Glacial Indifference" panose="020B0604020202020204" charset="0"/>
            </a:endParaRPr>
          </a:p>
        </p:txBody>
      </p:sp>
      <p:grpSp>
        <p:nvGrpSpPr>
          <p:cNvPr id="28" name="Group 28"/>
          <p:cNvGrpSpPr/>
          <p:nvPr/>
        </p:nvGrpSpPr>
        <p:grpSpPr>
          <a:xfrm>
            <a:off x="2656750" y="7007543"/>
            <a:ext cx="257154" cy="257154"/>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2" name="Group 32"/>
          <p:cNvGrpSpPr/>
          <p:nvPr/>
        </p:nvGrpSpPr>
        <p:grpSpPr>
          <a:xfrm>
            <a:off x="2647225" y="7969547"/>
            <a:ext cx="257154" cy="257154"/>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35" name="Group 35"/>
          <p:cNvGrpSpPr/>
          <p:nvPr/>
        </p:nvGrpSpPr>
        <p:grpSpPr>
          <a:xfrm>
            <a:off x="2666275" y="8905409"/>
            <a:ext cx="257154" cy="257154"/>
            <a:chOff x="0" y="0"/>
            <a:chExt cx="6350000" cy="6350000"/>
          </a:xfrm>
        </p:grpSpPr>
        <p:sp>
          <p:nvSpPr>
            <p:cNvPr id="36" name="Freeform 3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Tree>
    <p:extLst>
      <p:ext uri="{BB962C8B-B14F-4D97-AF65-F5344CB8AC3E}">
        <p14:creationId xmlns:p14="http://schemas.microsoft.com/office/powerpoint/2010/main" val="2390111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352402">
            <a:off x="11144397" y="2044998"/>
            <a:ext cx="9412281" cy="9753659"/>
          </a:xfrm>
          <a:custGeom>
            <a:avLst/>
            <a:gdLst/>
            <a:ahLst/>
            <a:cxnLst/>
            <a:rect l="l" t="t" r="r" b="b"/>
            <a:pathLst>
              <a:path w="9412281" h="9753659">
                <a:moveTo>
                  <a:pt x="0" y="0"/>
                </a:moveTo>
                <a:lnTo>
                  <a:pt x="9412281" y="0"/>
                </a:lnTo>
                <a:lnTo>
                  <a:pt x="9412281" y="9753660"/>
                </a:lnTo>
                <a:lnTo>
                  <a:pt x="0" y="975366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4690237">
            <a:off x="13587917" y="-1624564"/>
            <a:ext cx="5363442" cy="5557971"/>
          </a:xfrm>
          <a:custGeom>
            <a:avLst/>
            <a:gdLst/>
            <a:ahLst/>
            <a:cxnLst/>
            <a:rect l="l" t="t" r="r" b="b"/>
            <a:pathLst>
              <a:path w="5363442" h="5557971">
                <a:moveTo>
                  <a:pt x="0" y="0"/>
                </a:moveTo>
                <a:lnTo>
                  <a:pt x="5363442" y="0"/>
                </a:lnTo>
                <a:lnTo>
                  <a:pt x="5363442" y="5557971"/>
                </a:lnTo>
                <a:lnTo>
                  <a:pt x="0" y="555797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7132476">
            <a:off x="-2496200" y="6910817"/>
            <a:ext cx="5850340" cy="6062529"/>
          </a:xfrm>
          <a:custGeom>
            <a:avLst/>
            <a:gdLst/>
            <a:ahLst/>
            <a:cxnLst/>
            <a:rect l="l" t="t" r="r" b="b"/>
            <a:pathLst>
              <a:path w="5850340" h="6062529">
                <a:moveTo>
                  <a:pt x="0" y="0"/>
                </a:moveTo>
                <a:lnTo>
                  <a:pt x="5850340" y="0"/>
                </a:lnTo>
                <a:lnTo>
                  <a:pt x="5850340" y="6062528"/>
                </a:lnTo>
                <a:lnTo>
                  <a:pt x="0" y="6062528"/>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9638777">
            <a:off x="-2446319" y="-1515701"/>
            <a:ext cx="9437477" cy="9779769"/>
          </a:xfrm>
          <a:custGeom>
            <a:avLst/>
            <a:gdLst/>
            <a:ahLst/>
            <a:cxnLst/>
            <a:rect l="l" t="t" r="r" b="b"/>
            <a:pathLst>
              <a:path w="9437477" h="9779769">
                <a:moveTo>
                  <a:pt x="0" y="0"/>
                </a:moveTo>
                <a:lnTo>
                  <a:pt x="9437477" y="0"/>
                </a:lnTo>
                <a:lnTo>
                  <a:pt x="9437477" y="9779769"/>
                </a:lnTo>
                <a:lnTo>
                  <a:pt x="0" y="9779769"/>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17259300" y="480044"/>
            <a:ext cx="1348756" cy="1348756"/>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p:cNvGrpSpPr/>
          <p:nvPr/>
        </p:nvGrpSpPr>
        <p:grpSpPr>
          <a:xfrm>
            <a:off x="457200" y="9281903"/>
            <a:ext cx="571500" cy="5715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10" name="Freeform 10"/>
          <p:cNvSpPr/>
          <p:nvPr/>
        </p:nvSpPr>
        <p:spPr>
          <a:xfrm rot="2938422">
            <a:off x="1225129" y="9321739"/>
            <a:ext cx="1862954" cy="1930523"/>
          </a:xfrm>
          <a:custGeom>
            <a:avLst/>
            <a:gdLst/>
            <a:ahLst/>
            <a:cxnLst/>
            <a:rect l="l" t="t" r="r" b="b"/>
            <a:pathLst>
              <a:path w="1862954" h="1930523">
                <a:moveTo>
                  <a:pt x="0" y="0"/>
                </a:moveTo>
                <a:lnTo>
                  <a:pt x="1862955" y="0"/>
                </a:lnTo>
                <a:lnTo>
                  <a:pt x="1862955" y="1930522"/>
                </a:lnTo>
                <a:lnTo>
                  <a:pt x="0" y="19305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TextBox 12"/>
          <p:cNvSpPr txBox="1"/>
          <p:nvPr/>
        </p:nvSpPr>
        <p:spPr>
          <a:xfrm>
            <a:off x="4006836" y="121000"/>
            <a:ext cx="11043410" cy="1051570"/>
          </a:xfrm>
          <a:prstGeom prst="rect">
            <a:avLst/>
          </a:prstGeom>
        </p:spPr>
        <p:txBody>
          <a:bodyPr lIns="0" tIns="0" rIns="0" bIns="0" rtlCol="0" anchor="t">
            <a:spAutoFit/>
          </a:bodyPr>
          <a:lstStyle/>
          <a:p>
            <a:pPr algn="ctr">
              <a:lnSpc>
                <a:spcPts val="8229"/>
              </a:lnSpc>
            </a:pPr>
            <a:r>
              <a:rPr lang="en-US" sz="7200" b="1" dirty="0">
                <a:solidFill>
                  <a:srgbClr val="6BD4CD"/>
                </a:solidFill>
                <a:latin typeface="Times New Roman" panose="02020603050405020304" pitchFamily="18" charset="0"/>
                <a:cs typeface="Times New Roman" panose="02020603050405020304" pitchFamily="18" charset="0"/>
              </a:rPr>
              <a:t>Testing Phase</a:t>
            </a:r>
          </a:p>
        </p:txBody>
      </p:sp>
      <p:sp>
        <p:nvSpPr>
          <p:cNvPr id="16" name="TextBox 15">
            <a:extLst>
              <a:ext uri="{FF2B5EF4-FFF2-40B4-BE49-F238E27FC236}">
                <a16:creationId xmlns:a16="http://schemas.microsoft.com/office/drawing/2014/main" id="{348F1825-D82E-2173-58D0-73C2D14996E3}"/>
              </a:ext>
            </a:extLst>
          </p:cNvPr>
          <p:cNvSpPr txBox="1"/>
          <p:nvPr/>
        </p:nvSpPr>
        <p:spPr>
          <a:xfrm>
            <a:off x="3490692" y="1756113"/>
            <a:ext cx="10515600" cy="7478970"/>
          </a:xfrm>
          <a:prstGeom prst="rect">
            <a:avLst/>
          </a:prstGeom>
          <a:noFill/>
        </p:spPr>
        <p:txBody>
          <a:bodyPr wrap="square" rtlCol="0">
            <a:spAutoFit/>
          </a:bodyPr>
          <a:lstStyle/>
          <a:p>
            <a:r>
              <a:rPr lang="en-IN" sz="4000" b="1" dirty="0">
                <a:solidFill>
                  <a:srgbClr val="6BD4CD"/>
                </a:solidFill>
                <a:latin typeface="Times New Roman" panose="02020603050405020304" pitchFamily="18" charset="0"/>
                <a:cs typeface="Times New Roman" panose="02020603050405020304" pitchFamily="18" charset="0"/>
              </a:rPr>
              <a:t>Functional Testing:</a:t>
            </a:r>
            <a:endParaRPr lang="en-IN" sz="4000" dirty="0">
              <a:solidFill>
                <a:srgbClr val="6BD4CD"/>
              </a:solidFill>
              <a:latin typeface="Times New Roman" panose="02020603050405020304" pitchFamily="18" charset="0"/>
              <a:cs typeface="Times New Roman" panose="02020603050405020304" pitchFamily="18" charset="0"/>
            </a:endParaRPr>
          </a:p>
          <a:p>
            <a:r>
              <a:rPr lang="en-IN" sz="4000" dirty="0">
                <a:solidFill>
                  <a:srgbClr val="6BD4CD"/>
                </a:solidFill>
                <a:latin typeface="Times New Roman" panose="02020603050405020304" pitchFamily="18" charset="0"/>
                <a:cs typeface="Times New Roman" panose="02020603050405020304" pitchFamily="18" charset="0"/>
              </a:rPr>
              <a:t>IAM permissions</a:t>
            </a:r>
          </a:p>
          <a:p>
            <a:r>
              <a:rPr lang="en-IN" sz="4000" dirty="0">
                <a:solidFill>
                  <a:srgbClr val="6BD4CD"/>
                </a:solidFill>
                <a:latin typeface="Times New Roman" panose="02020603050405020304" pitchFamily="18" charset="0"/>
                <a:cs typeface="Times New Roman" panose="02020603050405020304" pitchFamily="18" charset="0"/>
              </a:rPr>
              <a:t>VM/EC2 connectivity</a:t>
            </a:r>
          </a:p>
          <a:p>
            <a:r>
              <a:rPr lang="en-IN" sz="4000" dirty="0">
                <a:solidFill>
                  <a:srgbClr val="6BD4CD"/>
                </a:solidFill>
                <a:latin typeface="Times New Roman" panose="02020603050405020304" pitchFamily="18" charset="0"/>
                <a:cs typeface="Times New Roman" panose="02020603050405020304" pitchFamily="18" charset="0"/>
              </a:rPr>
              <a:t>Backup &amp; restore workflows</a:t>
            </a:r>
          </a:p>
          <a:p>
            <a:endParaRPr lang="en-IN" sz="4000" dirty="0">
              <a:solidFill>
                <a:srgbClr val="6BD4CD"/>
              </a:solidFill>
              <a:latin typeface="Times New Roman" panose="02020603050405020304" pitchFamily="18" charset="0"/>
              <a:cs typeface="Times New Roman" panose="02020603050405020304" pitchFamily="18" charset="0"/>
            </a:endParaRPr>
          </a:p>
          <a:p>
            <a:r>
              <a:rPr lang="en-IN" sz="4000" b="1" dirty="0">
                <a:solidFill>
                  <a:srgbClr val="6BD4CD"/>
                </a:solidFill>
                <a:latin typeface="Times New Roman" panose="02020603050405020304" pitchFamily="18" charset="0"/>
                <a:cs typeface="Times New Roman" panose="02020603050405020304" pitchFamily="18" charset="0"/>
              </a:rPr>
              <a:t>Security Testing:</a:t>
            </a:r>
            <a:endParaRPr lang="en-IN" sz="4000" dirty="0">
              <a:solidFill>
                <a:srgbClr val="6BD4CD"/>
              </a:solidFill>
              <a:latin typeface="Times New Roman" panose="02020603050405020304" pitchFamily="18" charset="0"/>
              <a:cs typeface="Times New Roman" panose="02020603050405020304" pitchFamily="18" charset="0"/>
            </a:endParaRPr>
          </a:p>
          <a:p>
            <a:r>
              <a:rPr lang="en-IN" sz="4000" dirty="0">
                <a:solidFill>
                  <a:srgbClr val="6BD4CD"/>
                </a:solidFill>
                <a:latin typeface="Times New Roman" panose="02020603050405020304" pitchFamily="18" charset="0"/>
                <a:cs typeface="Times New Roman" panose="02020603050405020304" pitchFamily="18" charset="0"/>
              </a:rPr>
              <a:t>Encryption checks</a:t>
            </a:r>
          </a:p>
          <a:p>
            <a:r>
              <a:rPr lang="en-IN" sz="4000" dirty="0">
                <a:solidFill>
                  <a:srgbClr val="6BD4CD"/>
                </a:solidFill>
                <a:latin typeface="Times New Roman" panose="02020603050405020304" pitchFamily="18" charset="0"/>
                <a:cs typeface="Times New Roman" panose="02020603050405020304" pitchFamily="18" charset="0"/>
              </a:rPr>
              <a:t>Pen-testing for open ports</a:t>
            </a:r>
          </a:p>
          <a:p>
            <a:endParaRPr lang="en-IN" sz="4000" dirty="0">
              <a:solidFill>
                <a:srgbClr val="6BD4CD"/>
              </a:solidFill>
              <a:latin typeface="Times New Roman" panose="02020603050405020304" pitchFamily="18" charset="0"/>
              <a:cs typeface="Times New Roman" panose="02020603050405020304" pitchFamily="18" charset="0"/>
            </a:endParaRPr>
          </a:p>
          <a:p>
            <a:r>
              <a:rPr lang="en-IN" sz="4000" b="1" dirty="0">
                <a:solidFill>
                  <a:srgbClr val="6BD4CD"/>
                </a:solidFill>
                <a:latin typeface="Times New Roman" panose="02020603050405020304" pitchFamily="18" charset="0"/>
                <a:cs typeface="Times New Roman" panose="02020603050405020304" pitchFamily="18" charset="0"/>
              </a:rPr>
              <a:t>Load Testing:</a:t>
            </a:r>
            <a:endParaRPr lang="en-IN" sz="4000" dirty="0">
              <a:solidFill>
                <a:srgbClr val="6BD4CD"/>
              </a:solidFill>
              <a:latin typeface="Times New Roman" panose="02020603050405020304" pitchFamily="18" charset="0"/>
              <a:cs typeface="Times New Roman" panose="02020603050405020304" pitchFamily="18" charset="0"/>
            </a:endParaRPr>
          </a:p>
          <a:p>
            <a:r>
              <a:rPr lang="en-IN" sz="4000" dirty="0">
                <a:solidFill>
                  <a:srgbClr val="6BD4CD"/>
                </a:solidFill>
                <a:latin typeface="Times New Roman" panose="02020603050405020304" pitchFamily="18" charset="0"/>
                <a:cs typeface="Times New Roman" panose="02020603050405020304" pitchFamily="18" charset="0"/>
              </a:rPr>
              <a:t>AWS CloudWatch</a:t>
            </a:r>
          </a:p>
          <a:p>
            <a:r>
              <a:rPr lang="en-IN" sz="4000" dirty="0">
                <a:solidFill>
                  <a:srgbClr val="6BD4CD"/>
                </a:solidFill>
                <a:latin typeface="Times New Roman" panose="02020603050405020304" pitchFamily="18" charset="0"/>
                <a:cs typeface="Times New Roman" panose="02020603050405020304" pitchFamily="18" charset="0"/>
              </a:rPr>
              <a:t>Azure Load Testing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3737344">
            <a:off x="8416210" y="-3200493"/>
            <a:ext cx="11223440" cy="11630507"/>
          </a:xfrm>
          <a:custGeom>
            <a:avLst/>
            <a:gdLst/>
            <a:ahLst/>
            <a:cxnLst/>
            <a:rect l="l" t="t" r="r" b="b"/>
            <a:pathLst>
              <a:path w="11223440" h="11630507">
                <a:moveTo>
                  <a:pt x="0" y="0"/>
                </a:moveTo>
                <a:lnTo>
                  <a:pt x="11223440" y="0"/>
                </a:lnTo>
                <a:lnTo>
                  <a:pt x="11223440" y="11630507"/>
                </a:lnTo>
                <a:lnTo>
                  <a:pt x="0" y="1163050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1769280">
            <a:off x="12822143" y="5527205"/>
            <a:ext cx="7703445" cy="7982845"/>
          </a:xfrm>
          <a:custGeom>
            <a:avLst/>
            <a:gdLst/>
            <a:ahLst/>
            <a:cxnLst/>
            <a:rect l="l" t="t" r="r" b="b"/>
            <a:pathLst>
              <a:path w="7703445" h="7982845">
                <a:moveTo>
                  <a:pt x="0" y="0"/>
                </a:moveTo>
                <a:lnTo>
                  <a:pt x="7703445" y="0"/>
                </a:lnTo>
                <a:lnTo>
                  <a:pt x="7703445" y="7982845"/>
                </a:lnTo>
                <a:lnTo>
                  <a:pt x="0" y="79828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249909">
            <a:off x="-1445661" y="-889124"/>
            <a:ext cx="5359726" cy="5554120"/>
          </a:xfrm>
          <a:custGeom>
            <a:avLst/>
            <a:gdLst/>
            <a:ahLst/>
            <a:cxnLst/>
            <a:rect l="l" t="t" r="r" b="b"/>
            <a:pathLst>
              <a:path w="5359726" h="5554120">
                <a:moveTo>
                  <a:pt x="0" y="0"/>
                </a:moveTo>
                <a:lnTo>
                  <a:pt x="5359725" y="0"/>
                </a:lnTo>
                <a:lnTo>
                  <a:pt x="5359725" y="5554120"/>
                </a:lnTo>
                <a:lnTo>
                  <a:pt x="0" y="555412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7381687">
            <a:off x="-1334989" y="2059022"/>
            <a:ext cx="11649703" cy="12072231"/>
          </a:xfrm>
          <a:custGeom>
            <a:avLst/>
            <a:gdLst/>
            <a:ahLst/>
            <a:cxnLst/>
            <a:rect l="l" t="t" r="r" b="b"/>
            <a:pathLst>
              <a:path w="11649703" h="12072231">
                <a:moveTo>
                  <a:pt x="0" y="0"/>
                </a:moveTo>
                <a:lnTo>
                  <a:pt x="11649703" y="0"/>
                </a:lnTo>
                <a:lnTo>
                  <a:pt x="11649703" y="12072231"/>
                </a:lnTo>
                <a:lnTo>
                  <a:pt x="0" y="1207223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6" name="Group 6"/>
          <p:cNvGrpSpPr/>
          <p:nvPr/>
        </p:nvGrpSpPr>
        <p:grpSpPr>
          <a:xfrm>
            <a:off x="-320056" y="8324850"/>
            <a:ext cx="1348756" cy="1348756"/>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p:cNvGrpSpPr/>
          <p:nvPr/>
        </p:nvGrpSpPr>
        <p:grpSpPr>
          <a:xfrm>
            <a:off x="16687800" y="457200"/>
            <a:ext cx="571500" cy="5715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10" name="Freeform 10"/>
          <p:cNvSpPr/>
          <p:nvPr/>
        </p:nvSpPr>
        <p:spPr>
          <a:xfrm rot="-152128">
            <a:off x="17306081" y="408561"/>
            <a:ext cx="2085489" cy="2161129"/>
          </a:xfrm>
          <a:custGeom>
            <a:avLst/>
            <a:gdLst/>
            <a:ahLst/>
            <a:cxnLst/>
            <a:rect l="l" t="t" r="r" b="b"/>
            <a:pathLst>
              <a:path w="2085489" h="2161129">
                <a:moveTo>
                  <a:pt x="0" y="0"/>
                </a:moveTo>
                <a:lnTo>
                  <a:pt x="2085489" y="0"/>
                </a:lnTo>
                <a:lnTo>
                  <a:pt x="2085489" y="2161129"/>
                </a:lnTo>
                <a:lnTo>
                  <a:pt x="0" y="21611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TextBox 12"/>
          <p:cNvSpPr txBox="1"/>
          <p:nvPr/>
        </p:nvSpPr>
        <p:spPr>
          <a:xfrm>
            <a:off x="6400800" y="421805"/>
            <a:ext cx="6839104" cy="603499"/>
          </a:xfrm>
          <a:prstGeom prst="rect">
            <a:avLst/>
          </a:prstGeom>
        </p:spPr>
        <p:txBody>
          <a:bodyPr wrap="square" lIns="0" tIns="0" rIns="0" bIns="0" rtlCol="0" anchor="t">
            <a:spAutoFit/>
          </a:bodyPr>
          <a:lstStyle/>
          <a:p>
            <a:pPr algn="r">
              <a:lnSpc>
                <a:spcPts val="4320"/>
              </a:lnSpc>
            </a:pPr>
            <a:r>
              <a:rPr lang="en-US" sz="6000" spc="480" dirty="0">
                <a:solidFill>
                  <a:srgbClr val="6BD4CD"/>
                </a:solidFill>
                <a:latin typeface="Glacial Indifference Bold"/>
              </a:rPr>
              <a:t>   CONCLUSION</a:t>
            </a:r>
            <a:endParaRPr lang="en-US" sz="6000" spc="359" dirty="0">
              <a:solidFill>
                <a:srgbClr val="6BD4CD"/>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DA28FB9-832A-4278-DF66-BC8D3596ED99}"/>
              </a:ext>
            </a:extLst>
          </p:cNvPr>
          <p:cNvSpPr txBox="1"/>
          <p:nvPr/>
        </p:nvSpPr>
        <p:spPr>
          <a:xfrm>
            <a:off x="3657600" y="1770820"/>
            <a:ext cx="12725400" cy="7017306"/>
          </a:xfrm>
          <a:prstGeom prst="rect">
            <a:avLst/>
          </a:prstGeom>
          <a:noFill/>
        </p:spPr>
        <p:txBody>
          <a:bodyPr wrap="square" rtlCol="0">
            <a:spAutoFit/>
          </a:bodyPr>
          <a:lstStyle/>
          <a:p>
            <a:r>
              <a:rPr lang="en-US" altLang="en-US" sz="3600" dirty="0">
                <a:solidFill>
                  <a:srgbClr val="6BD4CD"/>
                </a:solidFill>
                <a:latin typeface="Times New Roman" panose="02020603050405020304" pitchFamily="18" charset="0"/>
                <a:cs typeface="Times New Roman" panose="02020603050405020304" pitchFamily="18" charset="0"/>
              </a:rPr>
              <a:t>Internship provided strong foundation in </a:t>
            </a:r>
            <a:r>
              <a:rPr lang="en-US" altLang="en-US" sz="3600" b="1" dirty="0">
                <a:solidFill>
                  <a:srgbClr val="6BD4CD"/>
                </a:solidFill>
                <a:latin typeface="Times New Roman" panose="02020603050405020304" pitchFamily="18" charset="0"/>
                <a:cs typeface="Times New Roman" panose="02020603050405020304" pitchFamily="18" charset="0"/>
              </a:rPr>
              <a:t>cloud &amp; system administration</a:t>
            </a:r>
          </a:p>
          <a:p>
            <a:endParaRPr lang="en-US" altLang="en-US" sz="3600" dirty="0">
              <a:solidFill>
                <a:srgbClr val="6BD4CD"/>
              </a:solidFill>
              <a:latin typeface="Times New Roman" panose="02020603050405020304" pitchFamily="18" charset="0"/>
              <a:cs typeface="Times New Roman" panose="02020603050405020304" pitchFamily="18" charset="0"/>
            </a:endParaRPr>
          </a:p>
          <a:p>
            <a:r>
              <a:rPr lang="en-US" altLang="en-US" sz="3600" dirty="0">
                <a:solidFill>
                  <a:srgbClr val="6BD4CD"/>
                </a:solidFill>
                <a:latin typeface="Times New Roman" panose="02020603050405020304" pitchFamily="18" charset="0"/>
                <a:cs typeface="Times New Roman" panose="02020603050405020304" pitchFamily="18" charset="0"/>
              </a:rPr>
              <a:t>Gained hands-on experience in </a:t>
            </a:r>
            <a:r>
              <a:rPr lang="en-US" altLang="en-US" sz="3600" b="1" dirty="0">
                <a:solidFill>
                  <a:srgbClr val="6BD4CD"/>
                </a:solidFill>
                <a:latin typeface="Times New Roman" panose="02020603050405020304" pitchFamily="18" charset="0"/>
                <a:cs typeface="Times New Roman" panose="02020603050405020304" pitchFamily="18" charset="0"/>
              </a:rPr>
              <a:t>security, monitoring, automation</a:t>
            </a:r>
          </a:p>
          <a:p>
            <a:endParaRPr lang="en-US" altLang="en-US" sz="3600" b="1" dirty="0">
              <a:solidFill>
                <a:srgbClr val="6BD4CD"/>
              </a:solidFill>
              <a:latin typeface="Times New Roman" panose="02020603050405020304" pitchFamily="18" charset="0"/>
              <a:cs typeface="Times New Roman" panose="02020603050405020304" pitchFamily="18" charset="0"/>
            </a:endParaRPr>
          </a:p>
          <a:p>
            <a:r>
              <a:rPr lang="en-US" altLang="en-US" sz="3600" dirty="0">
                <a:solidFill>
                  <a:srgbClr val="6BD4CD"/>
                </a:solidFill>
                <a:latin typeface="Times New Roman" panose="02020603050405020304" pitchFamily="18" charset="0"/>
                <a:cs typeface="Times New Roman" panose="02020603050405020304" pitchFamily="18" charset="0"/>
              </a:rPr>
              <a:t>Improved troubleshooting, cloud provisioning, and team collaboration skills</a:t>
            </a:r>
          </a:p>
          <a:p>
            <a:endParaRPr lang="en-US" altLang="en-US" sz="3600" dirty="0">
              <a:solidFill>
                <a:srgbClr val="6BD4CD"/>
              </a:solidFill>
              <a:latin typeface="Times New Roman" panose="02020603050405020304" pitchFamily="18" charset="0"/>
              <a:cs typeface="Times New Roman" panose="02020603050405020304" pitchFamily="18" charset="0"/>
            </a:endParaRPr>
          </a:p>
          <a:p>
            <a:r>
              <a:rPr lang="en-US" altLang="en-US" sz="3600" dirty="0">
                <a:solidFill>
                  <a:srgbClr val="6BD4CD"/>
                </a:solidFill>
                <a:latin typeface="Times New Roman" panose="02020603050405020304" pitchFamily="18" charset="0"/>
                <a:cs typeface="Times New Roman" panose="02020603050405020304" pitchFamily="18" charset="0"/>
              </a:rPr>
              <a:t>Ready for roles in </a:t>
            </a:r>
            <a:r>
              <a:rPr lang="en-US" altLang="en-US" sz="3600" b="1" dirty="0">
                <a:solidFill>
                  <a:srgbClr val="6BD4CD"/>
                </a:solidFill>
                <a:latin typeface="Times New Roman" panose="02020603050405020304" pitchFamily="18" charset="0"/>
                <a:cs typeface="Times New Roman" panose="02020603050405020304" pitchFamily="18" charset="0"/>
              </a:rPr>
              <a:t>Cloud Infra, DevOps and System Administration</a:t>
            </a:r>
            <a:endParaRPr lang="en-US" altLang="en-US" sz="3600" dirty="0">
              <a:solidFill>
                <a:srgbClr val="6BD4CD"/>
              </a:solidFill>
              <a:latin typeface="Times New Roman" panose="02020603050405020304" pitchFamily="18" charset="0"/>
              <a:cs typeface="Times New Roman" panose="02020603050405020304" pitchFamily="18" charset="0"/>
            </a:endParaRPr>
          </a:p>
          <a:p>
            <a:endParaRPr lang="en-US" altLang="en-US" sz="3600" dirty="0">
              <a:solidFill>
                <a:srgbClr val="6BD4CD"/>
              </a:solidFill>
              <a:latin typeface="Times New Roman" panose="02020603050405020304" pitchFamily="18" charset="0"/>
              <a:cs typeface="Times New Roman" panose="02020603050405020304" pitchFamily="18" charset="0"/>
            </a:endParaRPr>
          </a:p>
          <a:p>
            <a:endParaRPr lang="en-US" altLang="en-US" sz="3600" dirty="0">
              <a:solidFill>
                <a:srgbClr val="6BD4CD"/>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72088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p:cNvGrpSpPr/>
        <p:nvPr/>
      </p:nvGrpSpPr>
      <p:grpSpPr>
        <a:xfrm>
          <a:off x="0" y="0"/>
          <a:ext cx="0" cy="0"/>
          <a:chOff x="0" y="0"/>
          <a:chExt cx="0" cy="0"/>
        </a:xfrm>
      </p:grpSpPr>
      <p:sp>
        <p:nvSpPr>
          <p:cNvPr id="2" name="Freeform 2"/>
          <p:cNvSpPr/>
          <p:nvPr/>
        </p:nvSpPr>
        <p:spPr>
          <a:xfrm rot="-8898611">
            <a:off x="8208102" y="4949976"/>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5688114">
            <a:off x="8410395" y="-1971930"/>
            <a:ext cx="9491370" cy="9835617"/>
          </a:xfrm>
          <a:custGeom>
            <a:avLst/>
            <a:gdLst/>
            <a:ahLst/>
            <a:cxnLst/>
            <a:rect l="l" t="t" r="r" b="b"/>
            <a:pathLst>
              <a:path w="9491370" h="9835617">
                <a:moveTo>
                  <a:pt x="0" y="0"/>
                </a:moveTo>
                <a:lnTo>
                  <a:pt x="9491370" y="0"/>
                </a:lnTo>
                <a:lnTo>
                  <a:pt x="9491370" y="9835616"/>
                </a:lnTo>
                <a:lnTo>
                  <a:pt x="0" y="983561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3013906" y="2200419"/>
            <a:ext cx="13854268" cy="6262067"/>
            <a:chOff x="0" y="0"/>
            <a:chExt cx="4598049" cy="1563979"/>
          </a:xfrm>
        </p:grpSpPr>
        <p:sp>
          <p:nvSpPr>
            <p:cNvPr id="7" name="TextBox 7"/>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p:cNvGrpSpPr/>
          <p:nvPr/>
        </p:nvGrpSpPr>
        <p:grpSpPr>
          <a:xfrm>
            <a:off x="17259300" y="8462486"/>
            <a:ext cx="571500" cy="5715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p:cNvSpPr/>
          <p:nvPr/>
        </p:nvSpPr>
        <p:spPr>
          <a:xfrm>
            <a:off x="2756752" y="-419100"/>
            <a:ext cx="38100" cy="10706100"/>
          </a:xfrm>
          <a:prstGeom prst="rect">
            <a:avLst/>
          </a:prstGeom>
          <a:solidFill>
            <a:srgbClr val="E2EDF1"/>
          </a:solidFill>
        </p:spPr>
        <p:txBody>
          <a:bodyPr/>
          <a:lstStyle/>
          <a:p>
            <a:endParaRPr lang="en-IN"/>
          </a:p>
        </p:txBody>
      </p:sp>
      <p:grpSp>
        <p:nvGrpSpPr>
          <p:cNvPr id="12" name="Group 12"/>
          <p:cNvGrpSpPr/>
          <p:nvPr/>
        </p:nvGrpSpPr>
        <p:grpSpPr>
          <a:xfrm>
            <a:off x="2628175" y="2407218"/>
            <a:ext cx="257154" cy="257154"/>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p:cNvGrpSpPr/>
          <p:nvPr/>
        </p:nvGrpSpPr>
        <p:grpSpPr>
          <a:xfrm>
            <a:off x="2666275" y="4848246"/>
            <a:ext cx="257154" cy="257154"/>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p:cNvGrpSpPr/>
          <p:nvPr/>
        </p:nvGrpSpPr>
        <p:grpSpPr>
          <a:xfrm>
            <a:off x="2666275" y="6556353"/>
            <a:ext cx="257154" cy="257154"/>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p:cNvGrpSpPr/>
          <p:nvPr/>
        </p:nvGrpSpPr>
        <p:grpSpPr>
          <a:xfrm>
            <a:off x="-320056" y="604334"/>
            <a:ext cx="1348756" cy="1348756"/>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0" name="Freeform 20"/>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p:cNvSpPr txBox="1"/>
          <p:nvPr/>
        </p:nvSpPr>
        <p:spPr>
          <a:xfrm>
            <a:off x="3858187" y="851572"/>
            <a:ext cx="10279451" cy="699743"/>
          </a:xfrm>
          <a:prstGeom prst="rect">
            <a:avLst/>
          </a:prstGeom>
        </p:spPr>
        <p:txBody>
          <a:bodyPr lIns="0" tIns="0" rIns="0" bIns="0" rtlCol="0" anchor="t">
            <a:spAutoFit/>
          </a:bodyPr>
          <a:lstStyle/>
          <a:p>
            <a:pPr algn="ctr">
              <a:lnSpc>
                <a:spcPts val="5363"/>
              </a:lnSpc>
            </a:pPr>
            <a:r>
              <a:rPr lang="en-IN" sz="6000" b="1" dirty="0">
                <a:solidFill>
                  <a:srgbClr val="002060"/>
                </a:solidFill>
                <a:latin typeface="Times New Roman" panose="02020603050405020304" pitchFamily="18" charset="0"/>
                <a:cs typeface="Times New Roman" panose="02020603050405020304" pitchFamily="18" charset="0"/>
              </a:rPr>
              <a:t>Appendices</a:t>
            </a:r>
            <a:endParaRPr lang="en-US" sz="6000" b="1" spc="446" dirty="0">
              <a:solidFill>
                <a:srgbClr val="002060"/>
              </a:solidFill>
              <a:latin typeface="Times New Roman" panose="02020603050405020304" pitchFamily="18" charset="0"/>
              <a:cs typeface="Times New Roman" panose="02020603050405020304" pitchFamily="18" charset="0"/>
            </a:endParaRPr>
          </a:p>
        </p:txBody>
      </p:sp>
      <p:grpSp>
        <p:nvGrpSpPr>
          <p:cNvPr id="25" name="Group 25"/>
          <p:cNvGrpSpPr/>
          <p:nvPr/>
        </p:nvGrpSpPr>
        <p:grpSpPr>
          <a:xfrm>
            <a:off x="2666275" y="8037930"/>
            <a:ext cx="257154" cy="257154"/>
            <a:chOff x="0" y="0"/>
            <a:chExt cx="6350000" cy="6350000"/>
          </a:xfrm>
        </p:grpSpPr>
        <p:sp>
          <p:nvSpPr>
            <p:cNvPr id="26" name="Freeform 2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1" name="TextBox 20">
            <a:extLst>
              <a:ext uri="{FF2B5EF4-FFF2-40B4-BE49-F238E27FC236}">
                <a16:creationId xmlns:a16="http://schemas.microsoft.com/office/drawing/2014/main" id="{8AAC1A8F-27B7-835B-9344-7B679F45F570}"/>
              </a:ext>
            </a:extLst>
          </p:cNvPr>
          <p:cNvSpPr txBox="1"/>
          <p:nvPr/>
        </p:nvSpPr>
        <p:spPr>
          <a:xfrm>
            <a:off x="3429000" y="2407218"/>
            <a:ext cx="11845094" cy="6186309"/>
          </a:xfrm>
          <a:prstGeom prst="rect">
            <a:avLst/>
          </a:prstGeom>
          <a:noFill/>
        </p:spPr>
        <p:txBody>
          <a:bodyPr wrap="square" rtlCol="0">
            <a:spAutoFit/>
          </a:bodyPr>
          <a:lstStyle/>
          <a:p>
            <a:pPr marL="571500" indent="-571500">
              <a:buFont typeface="Arial" panose="020B0604020202020204" pitchFamily="34" charset="0"/>
              <a:buChar char="•"/>
            </a:pPr>
            <a:r>
              <a:rPr lang="en-US" altLang="en-US" sz="3600" dirty="0">
                <a:solidFill>
                  <a:srgbClr val="002060"/>
                </a:solidFill>
                <a:latin typeface="Times New Roman" panose="02020603050405020304" pitchFamily="18" charset="0"/>
                <a:cs typeface="Times New Roman" panose="02020603050405020304" pitchFamily="18" charset="0"/>
              </a:rPr>
              <a:t>Tools &amp; Technologies Used</a:t>
            </a:r>
          </a:p>
          <a:p>
            <a:pPr marL="571500" indent="-571500">
              <a:buFont typeface="Arial" panose="020B0604020202020204" pitchFamily="34" charset="0"/>
              <a:buChar char="•"/>
            </a:pPr>
            <a:endParaRPr lang="en-IN" sz="3600" dirty="0">
              <a:solidFill>
                <a:srgbClr val="002060"/>
              </a:solidFill>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altLang="en-US" sz="3600" dirty="0">
                <a:solidFill>
                  <a:srgbClr val="002060"/>
                </a:solidFill>
                <a:latin typeface="Times New Roman" panose="02020603050405020304" pitchFamily="18" charset="0"/>
                <a:cs typeface="Times New Roman" panose="02020603050405020304" pitchFamily="18" charset="0"/>
              </a:rPr>
              <a:t>AWS Tasks Performed</a:t>
            </a:r>
          </a:p>
          <a:p>
            <a:pPr marL="571500" indent="-571500">
              <a:buFont typeface="Arial" panose="020B0604020202020204" pitchFamily="34" charset="0"/>
              <a:buChar char="•"/>
            </a:pPr>
            <a:endParaRPr lang="en-IN" sz="3600" dirty="0">
              <a:solidFill>
                <a:srgbClr val="002060"/>
              </a:solidFill>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altLang="en-US" sz="3600" dirty="0">
                <a:solidFill>
                  <a:srgbClr val="002060"/>
                </a:solidFill>
                <a:latin typeface="Times New Roman" panose="02020603050405020304" pitchFamily="18" charset="0"/>
                <a:cs typeface="Times New Roman" panose="02020603050405020304" pitchFamily="18" charset="0"/>
              </a:rPr>
              <a:t>Architecture Diagrams</a:t>
            </a:r>
          </a:p>
          <a:p>
            <a:pPr marL="571500" indent="-571500">
              <a:buFont typeface="Arial" panose="020B0604020202020204" pitchFamily="34" charset="0"/>
              <a:buChar char="•"/>
            </a:pPr>
            <a:endParaRPr lang="en-IN" sz="3600" dirty="0">
              <a:solidFill>
                <a:srgbClr val="002060"/>
              </a:solidFill>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altLang="en-US" sz="3600" dirty="0">
                <a:solidFill>
                  <a:srgbClr val="002060"/>
                </a:solidFill>
                <a:latin typeface="Times New Roman" panose="02020603050405020304" pitchFamily="18" charset="0"/>
                <a:cs typeface="Times New Roman" panose="02020603050405020304" pitchFamily="18" charset="0"/>
              </a:rPr>
              <a:t>Scripts &amp; Configurations</a:t>
            </a:r>
          </a:p>
          <a:p>
            <a:pPr marL="571500" indent="-571500">
              <a:buFont typeface="Arial" panose="020B0604020202020204" pitchFamily="34" charset="0"/>
              <a:buChar char="•"/>
            </a:pPr>
            <a:endParaRPr lang="en-IN" sz="3600" dirty="0">
              <a:solidFill>
                <a:srgbClr val="002060"/>
              </a:solidFill>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altLang="en-US" sz="3600" dirty="0">
                <a:solidFill>
                  <a:srgbClr val="002060"/>
                </a:solidFill>
                <a:latin typeface="Times New Roman" panose="02020603050405020304" pitchFamily="18" charset="0"/>
                <a:cs typeface="Times New Roman" panose="02020603050405020304" pitchFamily="18" charset="0"/>
              </a:rPr>
              <a:t>Screenshots</a:t>
            </a:r>
          </a:p>
          <a:p>
            <a:endParaRPr lang="en-IN" dirty="0"/>
          </a:p>
          <a:p>
            <a:endParaRPr lang="en-IN" dirty="0"/>
          </a:p>
          <a:p>
            <a:endParaRPr lang="en-IN" dirty="0"/>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a:extLst>
            <a:ext uri="{FF2B5EF4-FFF2-40B4-BE49-F238E27FC236}">
              <a16:creationId xmlns:a16="http://schemas.microsoft.com/office/drawing/2014/main" id="{3CC23D5A-EA77-2C90-0E91-1E1176F0634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108F98C-90C6-D1F6-D57E-F56275960086}"/>
              </a:ext>
            </a:extLst>
          </p:cNvPr>
          <p:cNvSpPr/>
          <p:nvPr/>
        </p:nvSpPr>
        <p:spPr>
          <a:xfrm rot="-8898611">
            <a:off x="8208102" y="4949976"/>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06816171-6B1B-38F5-FE38-C109EFC027DB}"/>
              </a:ext>
            </a:extLst>
          </p:cNvPr>
          <p:cNvSpPr/>
          <p:nvPr/>
        </p:nvSpPr>
        <p:spPr>
          <a:xfrm rot="-5688114">
            <a:off x="8410395" y="-1971930"/>
            <a:ext cx="9491370" cy="9835617"/>
          </a:xfrm>
          <a:custGeom>
            <a:avLst/>
            <a:gdLst/>
            <a:ahLst/>
            <a:cxnLst/>
            <a:rect l="l" t="t" r="r" b="b"/>
            <a:pathLst>
              <a:path w="9491370" h="9835617">
                <a:moveTo>
                  <a:pt x="0" y="0"/>
                </a:moveTo>
                <a:lnTo>
                  <a:pt x="9491370" y="0"/>
                </a:lnTo>
                <a:lnTo>
                  <a:pt x="9491370" y="9835616"/>
                </a:lnTo>
                <a:lnTo>
                  <a:pt x="0" y="983561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1FD14867-88A9-FE13-BBE5-2E8A4DD2C071}"/>
              </a:ext>
            </a:extLst>
          </p:cNvPr>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B0CE696B-BAF4-F075-3733-3423AF47BCF1}"/>
              </a:ext>
            </a:extLst>
          </p:cNvPr>
          <p:cNvGrpSpPr/>
          <p:nvPr/>
        </p:nvGrpSpPr>
        <p:grpSpPr>
          <a:xfrm>
            <a:off x="3013906" y="2200419"/>
            <a:ext cx="13854268" cy="6262067"/>
            <a:chOff x="0" y="0"/>
            <a:chExt cx="4598049" cy="1563979"/>
          </a:xfrm>
        </p:grpSpPr>
        <p:sp>
          <p:nvSpPr>
            <p:cNvPr id="7" name="TextBox 7">
              <a:extLst>
                <a:ext uri="{FF2B5EF4-FFF2-40B4-BE49-F238E27FC236}">
                  <a16:creationId xmlns:a16="http://schemas.microsoft.com/office/drawing/2014/main" id="{43C50C9C-4D16-DF71-5BD4-05C40DFAC85B}"/>
                </a:ext>
              </a:extLst>
            </p:cNvPr>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a:extLst>
                <a:ext uri="{FF2B5EF4-FFF2-40B4-BE49-F238E27FC236}">
                  <a16:creationId xmlns:a16="http://schemas.microsoft.com/office/drawing/2014/main" id="{371BA583-9C5A-F1E3-FD35-C4A3DB64026B}"/>
                </a:ext>
              </a:extLst>
            </p:cNvPr>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a:extLst>
              <a:ext uri="{FF2B5EF4-FFF2-40B4-BE49-F238E27FC236}">
                <a16:creationId xmlns:a16="http://schemas.microsoft.com/office/drawing/2014/main" id="{292A5F0C-998B-9B16-2E86-FE11051E8950}"/>
              </a:ext>
            </a:extLst>
          </p:cNvPr>
          <p:cNvGrpSpPr/>
          <p:nvPr/>
        </p:nvGrpSpPr>
        <p:grpSpPr>
          <a:xfrm>
            <a:off x="17259300" y="8462486"/>
            <a:ext cx="571500" cy="571500"/>
            <a:chOff x="0" y="0"/>
            <a:chExt cx="6350000" cy="6350000"/>
          </a:xfrm>
        </p:grpSpPr>
        <p:sp>
          <p:nvSpPr>
            <p:cNvPr id="10" name="Freeform 10">
              <a:extLst>
                <a:ext uri="{FF2B5EF4-FFF2-40B4-BE49-F238E27FC236}">
                  <a16:creationId xmlns:a16="http://schemas.microsoft.com/office/drawing/2014/main" id="{75C18FE5-E283-2664-4CF0-62065378F07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a:extLst>
              <a:ext uri="{FF2B5EF4-FFF2-40B4-BE49-F238E27FC236}">
                <a16:creationId xmlns:a16="http://schemas.microsoft.com/office/drawing/2014/main" id="{CD4AB420-590A-1E7F-9D6C-81EC1F7441D0}"/>
              </a:ext>
            </a:extLst>
          </p:cNvPr>
          <p:cNvSpPr/>
          <p:nvPr/>
        </p:nvSpPr>
        <p:spPr>
          <a:xfrm>
            <a:off x="2756752" y="-419100"/>
            <a:ext cx="38100" cy="10706100"/>
          </a:xfrm>
          <a:prstGeom prst="rect">
            <a:avLst/>
          </a:prstGeom>
          <a:solidFill>
            <a:srgbClr val="E2EDF1"/>
          </a:solidFill>
        </p:spPr>
        <p:txBody>
          <a:bodyPr/>
          <a:lstStyle/>
          <a:p>
            <a:endParaRPr lang="en-IN"/>
          </a:p>
        </p:txBody>
      </p:sp>
      <p:grpSp>
        <p:nvGrpSpPr>
          <p:cNvPr id="12" name="Group 12">
            <a:extLst>
              <a:ext uri="{FF2B5EF4-FFF2-40B4-BE49-F238E27FC236}">
                <a16:creationId xmlns:a16="http://schemas.microsoft.com/office/drawing/2014/main" id="{7CCE889E-AFA7-4490-D1D5-C92FE5D4CEF0}"/>
              </a:ext>
            </a:extLst>
          </p:cNvPr>
          <p:cNvGrpSpPr/>
          <p:nvPr/>
        </p:nvGrpSpPr>
        <p:grpSpPr>
          <a:xfrm>
            <a:off x="2628175" y="2407218"/>
            <a:ext cx="257154" cy="257154"/>
            <a:chOff x="0" y="0"/>
            <a:chExt cx="6350000" cy="6350000"/>
          </a:xfrm>
        </p:grpSpPr>
        <p:sp>
          <p:nvSpPr>
            <p:cNvPr id="13" name="Freeform 13">
              <a:extLst>
                <a:ext uri="{FF2B5EF4-FFF2-40B4-BE49-F238E27FC236}">
                  <a16:creationId xmlns:a16="http://schemas.microsoft.com/office/drawing/2014/main" id="{28D64F82-1EB4-8AEC-1ACD-7ECB0B3B215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a:extLst>
              <a:ext uri="{FF2B5EF4-FFF2-40B4-BE49-F238E27FC236}">
                <a16:creationId xmlns:a16="http://schemas.microsoft.com/office/drawing/2014/main" id="{DA875786-1AE0-33EC-1038-E1C5D4013B5E}"/>
              </a:ext>
            </a:extLst>
          </p:cNvPr>
          <p:cNvGrpSpPr/>
          <p:nvPr/>
        </p:nvGrpSpPr>
        <p:grpSpPr>
          <a:xfrm>
            <a:off x="2666275" y="4848246"/>
            <a:ext cx="257154" cy="257154"/>
            <a:chOff x="0" y="0"/>
            <a:chExt cx="6350000" cy="6350000"/>
          </a:xfrm>
        </p:grpSpPr>
        <p:sp>
          <p:nvSpPr>
            <p:cNvPr id="15" name="Freeform 15">
              <a:extLst>
                <a:ext uri="{FF2B5EF4-FFF2-40B4-BE49-F238E27FC236}">
                  <a16:creationId xmlns:a16="http://schemas.microsoft.com/office/drawing/2014/main" id="{75FADFEF-64F2-2BB5-D231-6A637CC01BA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a:extLst>
              <a:ext uri="{FF2B5EF4-FFF2-40B4-BE49-F238E27FC236}">
                <a16:creationId xmlns:a16="http://schemas.microsoft.com/office/drawing/2014/main" id="{9BAAAA25-7DC6-3885-071A-2341E8E5A4A8}"/>
              </a:ext>
            </a:extLst>
          </p:cNvPr>
          <p:cNvGrpSpPr/>
          <p:nvPr/>
        </p:nvGrpSpPr>
        <p:grpSpPr>
          <a:xfrm>
            <a:off x="2666275" y="6556353"/>
            <a:ext cx="257154" cy="257154"/>
            <a:chOff x="0" y="0"/>
            <a:chExt cx="6350000" cy="6350000"/>
          </a:xfrm>
        </p:grpSpPr>
        <p:sp>
          <p:nvSpPr>
            <p:cNvPr id="17" name="Freeform 17">
              <a:extLst>
                <a:ext uri="{FF2B5EF4-FFF2-40B4-BE49-F238E27FC236}">
                  <a16:creationId xmlns:a16="http://schemas.microsoft.com/office/drawing/2014/main" id="{A420FC90-B550-1903-3629-53786A7A251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a:extLst>
              <a:ext uri="{FF2B5EF4-FFF2-40B4-BE49-F238E27FC236}">
                <a16:creationId xmlns:a16="http://schemas.microsoft.com/office/drawing/2014/main" id="{8D184585-5645-6802-CAC8-B122DE22BB0A}"/>
              </a:ext>
            </a:extLst>
          </p:cNvPr>
          <p:cNvGrpSpPr/>
          <p:nvPr/>
        </p:nvGrpSpPr>
        <p:grpSpPr>
          <a:xfrm>
            <a:off x="-320056" y="604334"/>
            <a:ext cx="1348756" cy="1348756"/>
            <a:chOff x="0" y="0"/>
            <a:chExt cx="6350000" cy="6350000"/>
          </a:xfrm>
        </p:grpSpPr>
        <p:sp>
          <p:nvSpPr>
            <p:cNvPr id="19" name="Freeform 19">
              <a:extLst>
                <a:ext uri="{FF2B5EF4-FFF2-40B4-BE49-F238E27FC236}">
                  <a16:creationId xmlns:a16="http://schemas.microsoft.com/office/drawing/2014/main" id="{1795B9E3-FE96-2877-D07D-BF3ED96A229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0" name="Freeform 20">
            <a:extLst>
              <a:ext uri="{FF2B5EF4-FFF2-40B4-BE49-F238E27FC236}">
                <a16:creationId xmlns:a16="http://schemas.microsoft.com/office/drawing/2014/main" id="{85D49BDB-55D2-B72E-28E7-757A7515048D}"/>
              </a:ext>
            </a:extLst>
          </p:cNvPr>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a:extLst>
              <a:ext uri="{FF2B5EF4-FFF2-40B4-BE49-F238E27FC236}">
                <a16:creationId xmlns:a16="http://schemas.microsoft.com/office/drawing/2014/main" id="{591F2736-6ABB-33A9-BEE9-0745E712FB29}"/>
              </a:ext>
            </a:extLst>
          </p:cNvPr>
          <p:cNvSpPr txBox="1"/>
          <p:nvPr/>
        </p:nvSpPr>
        <p:spPr>
          <a:xfrm>
            <a:off x="3858187" y="851572"/>
            <a:ext cx="10279451" cy="699743"/>
          </a:xfrm>
          <a:prstGeom prst="rect">
            <a:avLst/>
          </a:prstGeom>
        </p:spPr>
        <p:txBody>
          <a:bodyPr lIns="0" tIns="0" rIns="0" bIns="0" rtlCol="0" anchor="t">
            <a:spAutoFit/>
          </a:bodyPr>
          <a:lstStyle/>
          <a:p>
            <a:pPr algn="ctr">
              <a:lnSpc>
                <a:spcPts val="5363"/>
              </a:lnSpc>
            </a:pPr>
            <a:r>
              <a:rPr lang="en-IN" sz="6000" b="1" dirty="0">
                <a:solidFill>
                  <a:srgbClr val="002060"/>
                </a:solidFill>
                <a:latin typeface="Times New Roman" panose="02020603050405020304" pitchFamily="18" charset="0"/>
                <a:cs typeface="Times New Roman" panose="02020603050405020304" pitchFamily="18" charset="0"/>
              </a:rPr>
              <a:t>Screenshots</a:t>
            </a:r>
            <a:endParaRPr lang="en-US" sz="6000" b="1" spc="446" dirty="0">
              <a:solidFill>
                <a:srgbClr val="002060"/>
              </a:solidFill>
              <a:latin typeface="Times New Roman" panose="02020603050405020304" pitchFamily="18" charset="0"/>
              <a:cs typeface="Times New Roman" panose="02020603050405020304" pitchFamily="18" charset="0"/>
            </a:endParaRPr>
          </a:p>
        </p:txBody>
      </p:sp>
      <p:grpSp>
        <p:nvGrpSpPr>
          <p:cNvPr id="25" name="Group 25">
            <a:extLst>
              <a:ext uri="{FF2B5EF4-FFF2-40B4-BE49-F238E27FC236}">
                <a16:creationId xmlns:a16="http://schemas.microsoft.com/office/drawing/2014/main" id="{0EE00D78-DB76-C692-760E-A4792F7A1352}"/>
              </a:ext>
            </a:extLst>
          </p:cNvPr>
          <p:cNvGrpSpPr/>
          <p:nvPr/>
        </p:nvGrpSpPr>
        <p:grpSpPr>
          <a:xfrm>
            <a:off x="2666275" y="8037930"/>
            <a:ext cx="257154" cy="257154"/>
            <a:chOff x="0" y="0"/>
            <a:chExt cx="6350000" cy="6350000"/>
          </a:xfrm>
        </p:grpSpPr>
        <p:sp>
          <p:nvSpPr>
            <p:cNvPr id="26" name="Freeform 26">
              <a:extLst>
                <a:ext uri="{FF2B5EF4-FFF2-40B4-BE49-F238E27FC236}">
                  <a16:creationId xmlns:a16="http://schemas.microsoft.com/office/drawing/2014/main" id="{C7C50932-412B-ACA1-38E3-6D807C7D691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1" name="TextBox 20">
            <a:extLst>
              <a:ext uri="{FF2B5EF4-FFF2-40B4-BE49-F238E27FC236}">
                <a16:creationId xmlns:a16="http://schemas.microsoft.com/office/drawing/2014/main" id="{D9825454-6FA7-12FB-2940-9497BED84311}"/>
              </a:ext>
            </a:extLst>
          </p:cNvPr>
          <p:cNvSpPr txBox="1"/>
          <p:nvPr/>
        </p:nvSpPr>
        <p:spPr>
          <a:xfrm>
            <a:off x="3429000" y="2407218"/>
            <a:ext cx="11845094" cy="6186309"/>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3600" dirty="0">
                <a:solidFill>
                  <a:srgbClr val="002060"/>
                </a:solidFill>
                <a:latin typeface="Times New Roman" panose="02020603050405020304" pitchFamily="18" charset="0"/>
                <a:cs typeface="Times New Roman" panose="02020603050405020304" pitchFamily="18" charset="0"/>
              </a:rPr>
              <a:t>AWS Console</a:t>
            </a:r>
          </a:p>
          <a:p>
            <a:pPr marL="571500" indent="-571500">
              <a:buFont typeface="Arial" panose="020B0604020202020204" pitchFamily="34" charset="0"/>
              <a:buChar char="•"/>
            </a:pPr>
            <a:endParaRPr lang="en-IN" sz="3600" dirty="0">
              <a:solidFill>
                <a:srgbClr val="00206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3600" dirty="0">
                <a:solidFill>
                  <a:srgbClr val="002060"/>
                </a:solidFill>
                <a:latin typeface="Times New Roman" panose="02020603050405020304" pitchFamily="18" charset="0"/>
                <a:cs typeface="Times New Roman" panose="02020603050405020304" pitchFamily="18" charset="0"/>
              </a:rPr>
              <a:t>EC2 Instances</a:t>
            </a:r>
          </a:p>
          <a:p>
            <a:pPr marL="571500" indent="-571500">
              <a:buFont typeface="Arial" panose="020B0604020202020204" pitchFamily="34" charset="0"/>
              <a:buChar char="•"/>
            </a:pPr>
            <a:endParaRPr lang="en-IN" sz="3600" dirty="0">
              <a:solidFill>
                <a:srgbClr val="00206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3600" dirty="0">
                <a:solidFill>
                  <a:srgbClr val="002060"/>
                </a:solidFill>
                <a:latin typeface="Times New Roman" panose="02020603050405020304" pitchFamily="18" charset="0"/>
                <a:cs typeface="Times New Roman" panose="02020603050405020304" pitchFamily="18" charset="0"/>
              </a:rPr>
              <a:t>S3 Bucket</a:t>
            </a:r>
          </a:p>
          <a:p>
            <a:pPr marL="571500" indent="-571500">
              <a:buFont typeface="Arial" panose="020B0604020202020204" pitchFamily="34" charset="0"/>
              <a:buChar char="•"/>
            </a:pPr>
            <a:endParaRPr lang="en-IN" sz="3600" dirty="0">
              <a:solidFill>
                <a:srgbClr val="00206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3600" dirty="0">
                <a:solidFill>
                  <a:srgbClr val="002060"/>
                </a:solidFill>
                <a:latin typeface="Times New Roman" panose="02020603050405020304" pitchFamily="18" charset="0"/>
                <a:cs typeface="Times New Roman" panose="02020603050405020304" pitchFamily="18" charset="0"/>
              </a:rPr>
              <a:t>Azure Portal</a:t>
            </a:r>
          </a:p>
          <a:p>
            <a:pPr marL="571500" indent="-571500">
              <a:buFont typeface="Arial" panose="020B0604020202020204" pitchFamily="34" charset="0"/>
              <a:buChar char="•"/>
            </a:pPr>
            <a:endParaRPr lang="en-IN" sz="3600" dirty="0">
              <a:solidFill>
                <a:srgbClr val="00206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3600" dirty="0">
                <a:solidFill>
                  <a:srgbClr val="002060"/>
                </a:solidFill>
                <a:latin typeface="Times New Roman" panose="02020603050405020304" pitchFamily="18" charset="0"/>
                <a:cs typeface="Times New Roman" panose="02020603050405020304" pitchFamily="18" charset="0"/>
              </a:rPr>
              <a:t>VM Details</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4206745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Freeform 2"/>
          <p:cNvSpPr/>
          <p:nvPr/>
        </p:nvSpPr>
        <p:spPr>
          <a:xfrm rot="-3737344">
            <a:off x="8416210" y="-3200493"/>
            <a:ext cx="11223440" cy="11630507"/>
          </a:xfrm>
          <a:custGeom>
            <a:avLst/>
            <a:gdLst/>
            <a:ahLst/>
            <a:cxnLst/>
            <a:rect l="l" t="t" r="r" b="b"/>
            <a:pathLst>
              <a:path w="11223440" h="11630507">
                <a:moveTo>
                  <a:pt x="0" y="0"/>
                </a:moveTo>
                <a:lnTo>
                  <a:pt x="11223440" y="0"/>
                </a:lnTo>
                <a:lnTo>
                  <a:pt x="11223440" y="11630507"/>
                </a:lnTo>
                <a:lnTo>
                  <a:pt x="0" y="1163050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rot="1769280">
            <a:off x="12822143" y="5527205"/>
            <a:ext cx="7703445" cy="7982845"/>
          </a:xfrm>
          <a:custGeom>
            <a:avLst/>
            <a:gdLst/>
            <a:ahLst/>
            <a:cxnLst/>
            <a:rect l="l" t="t" r="r" b="b"/>
            <a:pathLst>
              <a:path w="7703445" h="7982845">
                <a:moveTo>
                  <a:pt x="0" y="0"/>
                </a:moveTo>
                <a:lnTo>
                  <a:pt x="7703445" y="0"/>
                </a:lnTo>
                <a:lnTo>
                  <a:pt x="7703445" y="7982845"/>
                </a:lnTo>
                <a:lnTo>
                  <a:pt x="0" y="79828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249909">
            <a:off x="-1121485" y="-597928"/>
            <a:ext cx="5359726" cy="5554120"/>
          </a:xfrm>
          <a:custGeom>
            <a:avLst/>
            <a:gdLst/>
            <a:ahLst/>
            <a:cxnLst/>
            <a:rect l="l" t="t" r="r" b="b"/>
            <a:pathLst>
              <a:path w="5359726" h="5554120">
                <a:moveTo>
                  <a:pt x="0" y="0"/>
                </a:moveTo>
                <a:lnTo>
                  <a:pt x="5359725" y="0"/>
                </a:lnTo>
                <a:lnTo>
                  <a:pt x="5359725" y="5554120"/>
                </a:lnTo>
                <a:lnTo>
                  <a:pt x="0" y="555412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5" name="Freeform 5"/>
          <p:cNvSpPr/>
          <p:nvPr/>
        </p:nvSpPr>
        <p:spPr>
          <a:xfrm rot="7381687">
            <a:off x="-1391985" y="2028311"/>
            <a:ext cx="11649703" cy="12072231"/>
          </a:xfrm>
          <a:custGeom>
            <a:avLst/>
            <a:gdLst/>
            <a:ahLst/>
            <a:cxnLst/>
            <a:rect l="l" t="t" r="r" b="b"/>
            <a:pathLst>
              <a:path w="11649703" h="12072231">
                <a:moveTo>
                  <a:pt x="0" y="0"/>
                </a:moveTo>
                <a:lnTo>
                  <a:pt x="11649703" y="0"/>
                </a:lnTo>
                <a:lnTo>
                  <a:pt x="11649703" y="12072231"/>
                </a:lnTo>
                <a:lnTo>
                  <a:pt x="0" y="1207223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320056" y="8324850"/>
            <a:ext cx="1348756" cy="1348756"/>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p:cNvGrpSpPr/>
          <p:nvPr/>
        </p:nvGrpSpPr>
        <p:grpSpPr>
          <a:xfrm>
            <a:off x="16687800" y="457200"/>
            <a:ext cx="571500" cy="5715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10" name="Freeform 10"/>
          <p:cNvSpPr/>
          <p:nvPr/>
        </p:nvSpPr>
        <p:spPr>
          <a:xfrm rot="-152128">
            <a:off x="17306081" y="408561"/>
            <a:ext cx="2085489" cy="2161129"/>
          </a:xfrm>
          <a:custGeom>
            <a:avLst/>
            <a:gdLst/>
            <a:ahLst/>
            <a:cxnLst/>
            <a:rect l="l" t="t" r="r" b="b"/>
            <a:pathLst>
              <a:path w="2085489" h="2161129">
                <a:moveTo>
                  <a:pt x="0" y="0"/>
                </a:moveTo>
                <a:lnTo>
                  <a:pt x="2085489" y="0"/>
                </a:lnTo>
                <a:lnTo>
                  <a:pt x="2085489" y="2161129"/>
                </a:lnTo>
                <a:lnTo>
                  <a:pt x="0" y="21611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3" name="TextBox 13"/>
          <p:cNvSpPr txBox="1"/>
          <p:nvPr/>
        </p:nvSpPr>
        <p:spPr>
          <a:xfrm>
            <a:off x="748442" y="742950"/>
            <a:ext cx="15925424" cy="3154710"/>
          </a:xfrm>
          <a:prstGeom prst="rect">
            <a:avLst/>
          </a:prstGeom>
        </p:spPr>
        <p:txBody>
          <a:bodyPr lIns="0" tIns="0" rIns="0" bIns="0" rtlCol="0" anchor="t">
            <a:spAutoFit/>
          </a:bodyPr>
          <a:lstStyle/>
          <a:p>
            <a:pPr algn="ctr">
              <a:lnSpc>
                <a:spcPts val="8229"/>
              </a:lnSpc>
            </a:pPr>
            <a:r>
              <a:rPr lang="en-US" sz="7200" dirty="0">
                <a:solidFill>
                  <a:srgbClr val="6BD4CD"/>
                </a:solidFill>
                <a:latin typeface="Times New Roman" panose="02020603050405020304" pitchFamily="18" charset="0"/>
                <a:cs typeface="Times New Roman" panose="02020603050405020304" pitchFamily="18" charset="0"/>
              </a:rPr>
              <a:t>SCREENSHOT</a:t>
            </a:r>
          </a:p>
          <a:p>
            <a:pPr algn="ctr">
              <a:lnSpc>
                <a:spcPts val="8229"/>
              </a:lnSpc>
            </a:pPr>
            <a:endParaRPr lang="en-US" sz="7200" dirty="0">
              <a:solidFill>
                <a:srgbClr val="6BD4CD"/>
              </a:solidFill>
              <a:latin typeface="Times New Roman" panose="02020603050405020304" pitchFamily="18" charset="0"/>
              <a:cs typeface="Times New Roman" panose="02020603050405020304" pitchFamily="18" charset="0"/>
            </a:endParaRPr>
          </a:p>
          <a:p>
            <a:pPr algn="ctr">
              <a:lnSpc>
                <a:spcPts val="8229"/>
              </a:lnSpc>
            </a:pPr>
            <a:endParaRPr lang="en-US" sz="7200" dirty="0">
              <a:solidFill>
                <a:srgbClr val="6BD4CD"/>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5758AD3-1185-4F8A-146E-FF69D23CE18B}"/>
              </a:ext>
            </a:extLst>
          </p:cNvPr>
          <p:cNvSpPr txBox="1"/>
          <p:nvPr/>
        </p:nvSpPr>
        <p:spPr>
          <a:xfrm>
            <a:off x="1538072" y="1028700"/>
            <a:ext cx="3684424" cy="707886"/>
          </a:xfrm>
          <a:prstGeom prst="rect">
            <a:avLst/>
          </a:prstGeom>
          <a:noFill/>
        </p:spPr>
        <p:txBody>
          <a:bodyPr wrap="square" rtlCol="0">
            <a:spAutoFit/>
          </a:bodyPr>
          <a:lstStyle/>
          <a:p>
            <a:r>
              <a:rPr lang="en-IN" sz="4000" b="1" dirty="0">
                <a:highlight>
                  <a:srgbClr val="FFFF00"/>
                </a:highlight>
                <a:latin typeface="Times New Roman" panose="02020603050405020304" pitchFamily="18" charset="0"/>
                <a:cs typeface="Times New Roman" panose="02020603050405020304" pitchFamily="18" charset="0"/>
              </a:rPr>
              <a:t>AWS Console</a:t>
            </a:r>
          </a:p>
        </p:txBody>
      </p:sp>
      <p:pic>
        <p:nvPicPr>
          <p:cNvPr id="15" name="Picture 14">
            <a:extLst>
              <a:ext uri="{FF2B5EF4-FFF2-40B4-BE49-F238E27FC236}">
                <a16:creationId xmlns:a16="http://schemas.microsoft.com/office/drawing/2014/main" id="{AB25920C-0492-7132-C626-186573267541}"/>
              </a:ext>
            </a:extLst>
          </p:cNvPr>
          <p:cNvPicPr>
            <a:picLocks noChangeAspect="1"/>
          </p:cNvPicPr>
          <p:nvPr/>
        </p:nvPicPr>
        <p:blipFill>
          <a:blip r:embed="rId4"/>
          <a:stretch>
            <a:fillRect/>
          </a:stretch>
        </p:blipFill>
        <p:spPr>
          <a:xfrm>
            <a:off x="542782" y="1704800"/>
            <a:ext cx="17367068" cy="838704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a:extLst>
            <a:ext uri="{FF2B5EF4-FFF2-40B4-BE49-F238E27FC236}">
              <a16:creationId xmlns:a16="http://schemas.microsoft.com/office/drawing/2014/main" id="{9AE0C1C8-FB33-F5DC-5BE8-D00C1DBD588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F56F288-A094-0773-26E8-F639F8F1CD53}"/>
              </a:ext>
            </a:extLst>
          </p:cNvPr>
          <p:cNvSpPr/>
          <p:nvPr/>
        </p:nvSpPr>
        <p:spPr>
          <a:xfrm rot="-3737344">
            <a:off x="8416210" y="-3200493"/>
            <a:ext cx="11223440" cy="11630507"/>
          </a:xfrm>
          <a:custGeom>
            <a:avLst/>
            <a:gdLst/>
            <a:ahLst/>
            <a:cxnLst/>
            <a:rect l="l" t="t" r="r" b="b"/>
            <a:pathLst>
              <a:path w="11223440" h="11630507">
                <a:moveTo>
                  <a:pt x="0" y="0"/>
                </a:moveTo>
                <a:lnTo>
                  <a:pt x="11223440" y="0"/>
                </a:lnTo>
                <a:lnTo>
                  <a:pt x="11223440" y="11630507"/>
                </a:lnTo>
                <a:lnTo>
                  <a:pt x="0" y="1163050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E25C761B-1BAB-5ED1-B087-E07976C56C51}"/>
              </a:ext>
            </a:extLst>
          </p:cNvPr>
          <p:cNvSpPr/>
          <p:nvPr/>
        </p:nvSpPr>
        <p:spPr>
          <a:xfrm rot="1769280">
            <a:off x="12822143" y="5527205"/>
            <a:ext cx="7703445" cy="7982845"/>
          </a:xfrm>
          <a:custGeom>
            <a:avLst/>
            <a:gdLst/>
            <a:ahLst/>
            <a:cxnLst/>
            <a:rect l="l" t="t" r="r" b="b"/>
            <a:pathLst>
              <a:path w="7703445" h="7982845">
                <a:moveTo>
                  <a:pt x="0" y="0"/>
                </a:moveTo>
                <a:lnTo>
                  <a:pt x="7703445" y="0"/>
                </a:lnTo>
                <a:lnTo>
                  <a:pt x="7703445" y="7982845"/>
                </a:lnTo>
                <a:lnTo>
                  <a:pt x="0" y="79828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3A53F768-DAF7-AF50-5600-49D48D7B20CD}"/>
              </a:ext>
            </a:extLst>
          </p:cNvPr>
          <p:cNvSpPr/>
          <p:nvPr/>
        </p:nvSpPr>
        <p:spPr>
          <a:xfrm rot="-249909">
            <a:off x="-1121485" y="-597928"/>
            <a:ext cx="5359726" cy="5554120"/>
          </a:xfrm>
          <a:custGeom>
            <a:avLst/>
            <a:gdLst/>
            <a:ahLst/>
            <a:cxnLst/>
            <a:rect l="l" t="t" r="r" b="b"/>
            <a:pathLst>
              <a:path w="5359726" h="5554120">
                <a:moveTo>
                  <a:pt x="0" y="0"/>
                </a:moveTo>
                <a:lnTo>
                  <a:pt x="5359725" y="0"/>
                </a:lnTo>
                <a:lnTo>
                  <a:pt x="5359725" y="5554120"/>
                </a:lnTo>
                <a:lnTo>
                  <a:pt x="0" y="555412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5" name="Freeform 5">
            <a:extLst>
              <a:ext uri="{FF2B5EF4-FFF2-40B4-BE49-F238E27FC236}">
                <a16:creationId xmlns:a16="http://schemas.microsoft.com/office/drawing/2014/main" id="{6B316133-D10C-29F1-DFB6-1B64B5A76D13}"/>
              </a:ext>
            </a:extLst>
          </p:cNvPr>
          <p:cNvSpPr/>
          <p:nvPr/>
        </p:nvSpPr>
        <p:spPr>
          <a:xfrm rot="7381687">
            <a:off x="-1391985" y="2028311"/>
            <a:ext cx="11649703" cy="12072231"/>
          </a:xfrm>
          <a:custGeom>
            <a:avLst/>
            <a:gdLst/>
            <a:ahLst/>
            <a:cxnLst/>
            <a:rect l="l" t="t" r="r" b="b"/>
            <a:pathLst>
              <a:path w="11649703" h="12072231">
                <a:moveTo>
                  <a:pt x="0" y="0"/>
                </a:moveTo>
                <a:lnTo>
                  <a:pt x="11649703" y="0"/>
                </a:lnTo>
                <a:lnTo>
                  <a:pt x="11649703" y="12072231"/>
                </a:lnTo>
                <a:lnTo>
                  <a:pt x="0" y="1207223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A56E239A-5129-8CE1-5C8D-7C0A7E39CE9F}"/>
              </a:ext>
            </a:extLst>
          </p:cNvPr>
          <p:cNvGrpSpPr/>
          <p:nvPr/>
        </p:nvGrpSpPr>
        <p:grpSpPr>
          <a:xfrm>
            <a:off x="-320056" y="8324850"/>
            <a:ext cx="1348756" cy="1348756"/>
            <a:chOff x="0" y="0"/>
            <a:chExt cx="6350000" cy="6350000"/>
          </a:xfrm>
        </p:grpSpPr>
        <p:sp>
          <p:nvSpPr>
            <p:cNvPr id="7" name="Freeform 7">
              <a:extLst>
                <a:ext uri="{FF2B5EF4-FFF2-40B4-BE49-F238E27FC236}">
                  <a16:creationId xmlns:a16="http://schemas.microsoft.com/office/drawing/2014/main" id="{02D0B198-1622-EEC1-13E7-47A86DEB6CC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a:extLst>
              <a:ext uri="{FF2B5EF4-FFF2-40B4-BE49-F238E27FC236}">
                <a16:creationId xmlns:a16="http://schemas.microsoft.com/office/drawing/2014/main" id="{916BB3F2-9718-6B76-C452-93E99242E0A6}"/>
              </a:ext>
            </a:extLst>
          </p:cNvPr>
          <p:cNvGrpSpPr/>
          <p:nvPr/>
        </p:nvGrpSpPr>
        <p:grpSpPr>
          <a:xfrm>
            <a:off x="16687800" y="457200"/>
            <a:ext cx="571500" cy="571500"/>
            <a:chOff x="0" y="0"/>
            <a:chExt cx="6350000" cy="6350000"/>
          </a:xfrm>
        </p:grpSpPr>
        <p:sp>
          <p:nvSpPr>
            <p:cNvPr id="9" name="Freeform 9">
              <a:extLst>
                <a:ext uri="{FF2B5EF4-FFF2-40B4-BE49-F238E27FC236}">
                  <a16:creationId xmlns:a16="http://schemas.microsoft.com/office/drawing/2014/main" id="{47FB0867-680E-184B-731F-E9121468E59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10" name="Freeform 10">
            <a:extLst>
              <a:ext uri="{FF2B5EF4-FFF2-40B4-BE49-F238E27FC236}">
                <a16:creationId xmlns:a16="http://schemas.microsoft.com/office/drawing/2014/main" id="{3691A42B-62D9-D7A6-C7A6-8D30F3749ECF}"/>
              </a:ext>
            </a:extLst>
          </p:cNvPr>
          <p:cNvSpPr/>
          <p:nvPr/>
        </p:nvSpPr>
        <p:spPr>
          <a:xfrm rot="-152128">
            <a:off x="17306081" y="408561"/>
            <a:ext cx="2085489" cy="2161129"/>
          </a:xfrm>
          <a:custGeom>
            <a:avLst/>
            <a:gdLst/>
            <a:ahLst/>
            <a:cxnLst/>
            <a:rect l="l" t="t" r="r" b="b"/>
            <a:pathLst>
              <a:path w="2085489" h="2161129">
                <a:moveTo>
                  <a:pt x="0" y="0"/>
                </a:moveTo>
                <a:lnTo>
                  <a:pt x="2085489" y="0"/>
                </a:lnTo>
                <a:lnTo>
                  <a:pt x="2085489" y="2161129"/>
                </a:lnTo>
                <a:lnTo>
                  <a:pt x="0" y="21611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3" name="TextBox 13">
            <a:extLst>
              <a:ext uri="{FF2B5EF4-FFF2-40B4-BE49-F238E27FC236}">
                <a16:creationId xmlns:a16="http://schemas.microsoft.com/office/drawing/2014/main" id="{124BF9C8-BBD1-699B-8489-6821F174F217}"/>
              </a:ext>
            </a:extLst>
          </p:cNvPr>
          <p:cNvSpPr txBox="1"/>
          <p:nvPr/>
        </p:nvSpPr>
        <p:spPr>
          <a:xfrm>
            <a:off x="748442" y="742950"/>
            <a:ext cx="15925424" cy="1051570"/>
          </a:xfrm>
          <a:prstGeom prst="rect">
            <a:avLst/>
          </a:prstGeom>
        </p:spPr>
        <p:txBody>
          <a:bodyPr lIns="0" tIns="0" rIns="0" bIns="0" rtlCol="0" anchor="t">
            <a:spAutoFit/>
          </a:bodyPr>
          <a:lstStyle/>
          <a:p>
            <a:pPr algn="ctr">
              <a:lnSpc>
                <a:spcPts val="8229"/>
              </a:lnSpc>
            </a:pPr>
            <a:r>
              <a:rPr lang="en-US" sz="7200" dirty="0">
                <a:solidFill>
                  <a:srgbClr val="6BD4CD"/>
                </a:solidFill>
                <a:latin typeface="Times New Roman" panose="02020603050405020304" pitchFamily="18" charset="0"/>
                <a:cs typeface="Times New Roman" panose="02020603050405020304" pitchFamily="18" charset="0"/>
              </a:rPr>
              <a:t>SCREENSHOT</a:t>
            </a:r>
          </a:p>
        </p:txBody>
      </p:sp>
      <p:pic>
        <p:nvPicPr>
          <p:cNvPr id="12" name="Picture 11">
            <a:extLst>
              <a:ext uri="{FF2B5EF4-FFF2-40B4-BE49-F238E27FC236}">
                <a16:creationId xmlns:a16="http://schemas.microsoft.com/office/drawing/2014/main" id="{5B3F5058-2607-027D-BC0E-738E245E7444}"/>
              </a:ext>
            </a:extLst>
          </p:cNvPr>
          <p:cNvPicPr>
            <a:picLocks noChangeAspect="1"/>
          </p:cNvPicPr>
          <p:nvPr/>
        </p:nvPicPr>
        <p:blipFill>
          <a:blip r:embed="rId4"/>
          <a:stretch>
            <a:fillRect/>
          </a:stretch>
        </p:blipFill>
        <p:spPr>
          <a:xfrm>
            <a:off x="1538071" y="1756341"/>
            <a:ext cx="15515568" cy="8073459"/>
          </a:xfrm>
          <a:prstGeom prst="rect">
            <a:avLst/>
          </a:prstGeom>
        </p:spPr>
      </p:pic>
      <p:sp>
        <p:nvSpPr>
          <p:cNvPr id="11" name="TextBox 10">
            <a:extLst>
              <a:ext uri="{FF2B5EF4-FFF2-40B4-BE49-F238E27FC236}">
                <a16:creationId xmlns:a16="http://schemas.microsoft.com/office/drawing/2014/main" id="{E770C346-270B-540B-B272-20E539C088CE}"/>
              </a:ext>
            </a:extLst>
          </p:cNvPr>
          <p:cNvSpPr txBox="1"/>
          <p:nvPr/>
        </p:nvSpPr>
        <p:spPr>
          <a:xfrm>
            <a:off x="1538072" y="1028700"/>
            <a:ext cx="3684424" cy="707886"/>
          </a:xfrm>
          <a:prstGeom prst="rect">
            <a:avLst/>
          </a:prstGeom>
          <a:noFill/>
        </p:spPr>
        <p:txBody>
          <a:bodyPr wrap="square" rtlCol="0">
            <a:spAutoFit/>
          </a:bodyPr>
          <a:lstStyle/>
          <a:p>
            <a:r>
              <a:rPr lang="en-IN" sz="4000" b="1" dirty="0">
                <a:highlight>
                  <a:srgbClr val="FFFF00"/>
                </a:highlight>
                <a:latin typeface="Times New Roman" panose="02020603050405020304" pitchFamily="18" charset="0"/>
                <a:cs typeface="Times New Roman" panose="02020603050405020304" pitchFamily="18" charset="0"/>
              </a:rPr>
              <a:t>EC2 Instance</a:t>
            </a:r>
          </a:p>
        </p:txBody>
      </p:sp>
    </p:spTree>
    <p:extLst>
      <p:ext uri="{BB962C8B-B14F-4D97-AF65-F5344CB8AC3E}">
        <p14:creationId xmlns:p14="http://schemas.microsoft.com/office/powerpoint/2010/main" val="2351922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a:extLst>
            <a:ext uri="{FF2B5EF4-FFF2-40B4-BE49-F238E27FC236}">
              <a16:creationId xmlns:a16="http://schemas.microsoft.com/office/drawing/2014/main" id="{F5D787B7-BE57-7959-1C0B-A85ED512B4A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244ACCF-9483-E231-1368-6E4F61500D86}"/>
              </a:ext>
            </a:extLst>
          </p:cNvPr>
          <p:cNvSpPr/>
          <p:nvPr/>
        </p:nvSpPr>
        <p:spPr>
          <a:xfrm rot="-3737344">
            <a:off x="8416210" y="-3200493"/>
            <a:ext cx="11223440" cy="11630507"/>
          </a:xfrm>
          <a:custGeom>
            <a:avLst/>
            <a:gdLst/>
            <a:ahLst/>
            <a:cxnLst/>
            <a:rect l="l" t="t" r="r" b="b"/>
            <a:pathLst>
              <a:path w="11223440" h="11630507">
                <a:moveTo>
                  <a:pt x="0" y="0"/>
                </a:moveTo>
                <a:lnTo>
                  <a:pt x="11223440" y="0"/>
                </a:lnTo>
                <a:lnTo>
                  <a:pt x="11223440" y="11630507"/>
                </a:lnTo>
                <a:lnTo>
                  <a:pt x="0" y="11630507"/>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F3CB2FD2-9BD2-6D6C-71A8-49F3C6DB2AE0}"/>
              </a:ext>
            </a:extLst>
          </p:cNvPr>
          <p:cNvSpPr/>
          <p:nvPr/>
        </p:nvSpPr>
        <p:spPr>
          <a:xfrm rot="1769280">
            <a:off x="12822143" y="5527205"/>
            <a:ext cx="7703445" cy="7982845"/>
          </a:xfrm>
          <a:custGeom>
            <a:avLst/>
            <a:gdLst/>
            <a:ahLst/>
            <a:cxnLst/>
            <a:rect l="l" t="t" r="r" b="b"/>
            <a:pathLst>
              <a:path w="7703445" h="7982845">
                <a:moveTo>
                  <a:pt x="0" y="0"/>
                </a:moveTo>
                <a:lnTo>
                  <a:pt x="7703445" y="0"/>
                </a:lnTo>
                <a:lnTo>
                  <a:pt x="7703445" y="7982845"/>
                </a:lnTo>
                <a:lnTo>
                  <a:pt x="0" y="79828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4A35687C-053B-78D5-7B30-3D4DC16E3BD8}"/>
              </a:ext>
            </a:extLst>
          </p:cNvPr>
          <p:cNvSpPr/>
          <p:nvPr/>
        </p:nvSpPr>
        <p:spPr>
          <a:xfrm rot="-249909">
            <a:off x="-991764" y="-307992"/>
            <a:ext cx="5359726" cy="5554120"/>
          </a:xfrm>
          <a:custGeom>
            <a:avLst/>
            <a:gdLst/>
            <a:ahLst/>
            <a:cxnLst/>
            <a:rect l="l" t="t" r="r" b="b"/>
            <a:pathLst>
              <a:path w="5359726" h="5554120">
                <a:moveTo>
                  <a:pt x="0" y="0"/>
                </a:moveTo>
                <a:lnTo>
                  <a:pt x="5359725" y="0"/>
                </a:lnTo>
                <a:lnTo>
                  <a:pt x="5359725" y="5554120"/>
                </a:lnTo>
                <a:lnTo>
                  <a:pt x="0" y="5554120"/>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5" name="Freeform 5">
            <a:extLst>
              <a:ext uri="{FF2B5EF4-FFF2-40B4-BE49-F238E27FC236}">
                <a16:creationId xmlns:a16="http://schemas.microsoft.com/office/drawing/2014/main" id="{FA823522-50D1-E65A-DDF5-B2B5D1FC5449}"/>
              </a:ext>
            </a:extLst>
          </p:cNvPr>
          <p:cNvSpPr/>
          <p:nvPr/>
        </p:nvSpPr>
        <p:spPr>
          <a:xfrm rot="7381687">
            <a:off x="-1391985" y="2028311"/>
            <a:ext cx="11649703" cy="12072231"/>
          </a:xfrm>
          <a:custGeom>
            <a:avLst/>
            <a:gdLst/>
            <a:ahLst/>
            <a:cxnLst/>
            <a:rect l="l" t="t" r="r" b="b"/>
            <a:pathLst>
              <a:path w="11649703" h="12072231">
                <a:moveTo>
                  <a:pt x="0" y="0"/>
                </a:moveTo>
                <a:lnTo>
                  <a:pt x="11649703" y="0"/>
                </a:lnTo>
                <a:lnTo>
                  <a:pt x="11649703" y="12072231"/>
                </a:lnTo>
                <a:lnTo>
                  <a:pt x="0" y="1207223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C1B7D1E5-28A8-3974-CDE8-B63146CADDB1}"/>
              </a:ext>
            </a:extLst>
          </p:cNvPr>
          <p:cNvGrpSpPr/>
          <p:nvPr/>
        </p:nvGrpSpPr>
        <p:grpSpPr>
          <a:xfrm>
            <a:off x="-320056" y="8324850"/>
            <a:ext cx="1348756" cy="1348756"/>
            <a:chOff x="0" y="0"/>
            <a:chExt cx="6350000" cy="6350000"/>
          </a:xfrm>
        </p:grpSpPr>
        <p:sp>
          <p:nvSpPr>
            <p:cNvPr id="7" name="Freeform 7">
              <a:extLst>
                <a:ext uri="{FF2B5EF4-FFF2-40B4-BE49-F238E27FC236}">
                  <a16:creationId xmlns:a16="http://schemas.microsoft.com/office/drawing/2014/main" id="{67A863EA-72B5-11D8-0335-BB39CDDA499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grpSp>
        <p:nvGrpSpPr>
          <p:cNvPr id="8" name="Group 8">
            <a:extLst>
              <a:ext uri="{FF2B5EF4-FFF2-40B4-BE49-F238E27FC236}">
                <a16:creationId xmlns:a16="http://schemas.microsoft.com/office/drawing/2014/main" id="{0D0002C2-08DF-C1C3-245C-C3B4568B61DE}"/>
              </a:ext>
            </a:extLst>
          </p:cNvPr>
          <p:cNvGrpSpPr/>
          <p:nvPr/>
        </p:nvGrpSpPr>
        <p:grpSpPr>
          <a:xfrm>
            <a:off x="16687800" y="457200"/>
            <a:ext cx="571500" cy="571500"/>
            <a:chOff x="0" y="0"/>
            <a:chExt cx="6350000" cy="6350000"/>
          </a:xfrm>
        </p:grpSpPr>
        <p:sp>
          <p:nvSpPr>
            <p:cNvPr id="9" name="Freeform 9">
              <a:extLst>
                <a:ext uri="{FF2B5EF4-FFF2-40B4-BE49-F238E27FC236}">
                  <a16:creationId xmlns:a16="http://schemas.microsoft.com/office/drawing/2014/main" id="{7F900680-09CA-661A-DF35-803DA71C118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BD4CD"/>
            </a:solidFill>
          </p:spPr>
          <p:txBody>
            <a:bodyPr/>
            <a:lstStyle/>
            <a:p>
              <a:endParaRPr lang="en-IN"/>
            </a:p>
          </p:txBody>
        </p:sp>
      </p:grpSp>
      <p:sp>
        <p:nvSpPr>
          <p:cNvPr id="10" name="Freeform 10">
            <a:extLst>
              <a:ext uri="{FF2B5EF4-FFF2-40B4-BE49-F238E27FC236}">
                <a16:creationId xmlns:a16="http://schemas.microsoft.com/office/drawing/2014/main" id="{71F4AFDF-BCC3-483A-2AB0-1261ECC5F3F1}"/>
              </a:ext>
            </a:extLst>
          </p:cNvPr>
          <p:cNvSpPr/>
          <p:nvPr/>
        </p:nvSpPr>
        <p:spPr>
          <a:xfrm rot="-152128">
            <a:off x="17306081" y="408561"/>
            <a:ext cx="2085489" cy="2161129"/>
          </a:xfrm>
          <a:custGeom>
            <a:avLst/>
            <a:gdLst/>
            <a:ahLst/>
            <a:cxnLst/>
            <a:rect l="l" t="t" r="r" b="b"/>
            <a:pathLst>
              <a:path w="2085489" h="2161129">
                <a:moveTo>
                  <a:pt x="0" y="0"/>
                </a:moveTo>
                <a:lnTo>
                  <a:pt x="2085489" y="0"/>
                </a:lnTo>
                <a:lnTo>
                  <a:pt x="2085489" y="2161129"/>
                </a:lnTo>
                <a:lnTo>
                  <a:pt x="0" y="21611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3" name="TextBox 13">
            <a:extLst>
              <a:ext uri="{FF2B5EF4-FFF2-40B4-BE49-F238E27FC236}">
                <a16:creationId xmlns:a16="http://schemas.microsoft.com/office/drawing/2014/main" id="{2C411A5C-E259-67BE-EB84-822CB23D3247}"/>
              </a:ext>
            </a:extLst>
          </p:cNvPr>
          <p:cNvSpPr txBox="1"/>
          <p:nvPr/>
        </p:nvSpPr>
        <p:spPr>
          <a:xfrm>
            <a:off x="748442" y="742950"/>
            <a:ext cx="15925424" cy="1051570"/>
          </a:xfrm>
          <a:prstGeom prst="rect">
            <a:avLst/>
          </a:prstGeom>
        </p:spPr>
        <p:txBody>
          <a:bodyPr lIns="0" tIns="0" rIns="0" bIns="0" rtlCol="0" anchor="t">
            <a:spAutoFit/>
          </a:bodyPr>
          <a:lstStyle/>
          <a:p>
            <a:pPr algn="ctr">
              <a:lnSpc>
                <a:spcPts val="8229"/>
              </a:lnSpc>
            </a:pPr>
            <a:r>
              <a:rPr lang="en-US" sz="7200" dirty="0">
                <a:solidFill>
                  <a:srgbClr val="6BD4CD"/>
                </a:solidFill>
                <a:latin typeface="Times New Roman" panose="02020603050405020304" pitchFamily="18" charset="0"/>
                <a:cs typeface="Times New Roman" panose="02020603050405020304" pitchFamily="18" charset="0"/>
              </a:rPr>
              <a:t>SCREENSHOT</a:t>
            </a:r>
          </a:p>
        </p:txBody>
      </p:sp>
      <p:pic>
        <p:nvPicPr>
          <p:cNvPr id="14" name="Picture 13">
            <a:extLst>
              <a:ext uri="{FF2B5EF4-FFF2-40B4-BE49-F238E27FC236}">
                <a16:creationId xmlns:a16="http://schemas.microsoft.com/office/drawing/2014/main" id="{175A4428-2024-D05C-35A4-AAAD327A5C48}"/>
              </a:ext>
            </a:extLst>
          </p:cNvPr>
          <p:cNvPicPr>
            <a:picLocks noChangeAspect="1"/>
          </p:cNvPicPr>
          <p:nvPr/>
        </p:nvPicPr>
        <p:blipFill>
          <a:blip r:embed="rId4"/>
          <a:stretch>
            <a:fillRect/>
          </a:stretch>
        </p:blipFill>
        <p:spPr>
          <a:xfrm>
            <a:off x="1028699" y="1638300"/>
            <a:ext cx="16471075" cy="8035306"/>
          </a:xfrm>
          <a:prstGeom prst="rect">
            <a:avLst/>
          </a:prstGeom>
        </p:spPr>
      </p:pic>
      <p:sp>
        <p:nvSpPr>
          <p:cNvPr id="15" name="TextBox 14">
            <a:extLst>
              <a:ext uri="{FF2B5EF4-FFF2-40B4-BE49-F238E27FC236}">
                <a16:creationId xmlns:a16="http://schemas.microsoft.com/office/drawing/2014/main" id="{223CF4E9-771E-B1CF-6144-64370C1A456C}"/>
              </a:ext>
            </a:extLst>
          </p:cNvPr>
          <p:cNvSpPr txBox="1"/>
          <p:nvPr/>
        </p:nvSpPr>
        <p:spPr>
          <a:xfrm>
            <a:off x="1438776" y="876300"/>
            <a:ext cx="3695310" cy="707886"/>
          </a:xfrm>
          <a:prstGeom prst="rect">
            <a:avLst/>
          </a:prstGeom>
          <a:noFill/>
        </p:spPr>
        <p:txBody>
          <a:bodyPr wrap="square" rtlCol="0">
            <a:spAutoFit/>
          </a:bodyPr>
          <a:lstStyle/>
          <a:p>
            <a:r>
              <a:rPr lang="en-IN" sz="4000" b="1" dirty="0">
                <a:highlight>
                  <a:srgbClr val="FFFF00"/>
                </a:highlight>
                <a:latin typeface="Times New Roman" panose="02020603050405020304" pitchFamily="18" charset="0"/>
                <a:cs typeface="Times New Roman" panose="02020603050405020304" pitchFamily="18" charset="0"/>
              </a:rPr>
              <a:t>S3 Bucket</a:t>
            </a:r>
          </a:p>
        </p:txBody>
      </p:sp>
    </p:spTree>
    <p:extLst>
      <p:ext uri="{BB962C8B-B14F-4D97-AF65-F5344CB8AC3E}">
        <p14:creationId xmlns:p14="http://schemas.microsoft.com/office/powerpoint/2010/main" val="3504219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BD4CD"/>
        </a:solidFill>
        <a:effectLst/>
      </p:bgPr>
    </p:bg>
    <p:spTree>
      <p:nvGrpSpPr>
        <p:cNvPr id="1" name="">
          <a:extLst>
            <a:ext uri="{FF2B5EF4-FFF2-40B4-BE49-F238E27FC236}">
              <a16:creationId xmlns:a16="http://schemas.microsoft.com/office/drawing/2014/main" id="{4E099633-5EB7-1D6B-1910-5A7159434B0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058EE4C-309F-95D0-3211-2BD6E491FEDC}"/>
              </a:ext>
            </a:extLst>
          </p:cNvPr>
          <p:cNvSpPr/>
          <p:nvPr/>
        </p:nvSpPr>
        <p:spPr>
          <a:xfrm rot="-8898611">
            <a:off x="8208102" y="4949976"/>
            <a:ext cx="7230953" cy="7493216"/>
          </a:xfrm>
          <a:custGeom>
            <a:avLst/>
            <a:gdLst/>
            <a:ahLst/>
            <a:cxnLst/>
            <a:rect l="l" t="t" r="r" b="b"/>
            <a:pathLst>
              <a:path w="7230953" h="7493216">
                <a:moveTo>
                  <a:pt x="0" y="0"/>
                </a:moveTo>
                <a:lnTo>
                  <a:pt x="7230953" y="0"/>
                </a:lnTo>
                <a:lnTo>
                  <a:pt x="7230953" y="7493215"/>
                </a:lnTo>
                <a:lnTo>
                  <a:pt x="0" y="7493215"/>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C1B18A1B-8682-3E4F-E6DF-A8E84DAA15D1}"/>
              </a:ext>
            </a:extLst>
          </p:cNvPr>
          <p:cNvSpPr/>
          <p:nvPr/>
        </p:nvSpPr>
        <p:spPr>
          <a:xfrm rot="-5688114">
            <a:off x="8410395" y="-1971930"/>
            <a:ext cx="9491370" cy="9835617"/>
          </a:xfrm>
          <a:custGeom>
            <a:avLst/>
            <a:gdLst/>
            <a:ahLst/>
            <a:cxnLst/>
            <a:rect l="l" t="t" r="r" b="b"/>
            <a:pathLst>
              <a:path w="9491370" h="9835617">
                <a:moveTo>
                  <a:pt x="0" y="0"/>
                </a:moveTo>
                <a:lnTo>
                  <a:pt x="9491370" y="0"/>
                </a:lnTo>
                <a:lnTo>
                  <a:pt x="9491370" y="9835616"/>
                </a:lnTo>
                <a:lnTo>
                  <a:pt x="0" y="983561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ED789EA8-FD11-518E-32CC-CBA2AA34D498}"/>
              </a:ext>
            </a:extLst>
          </p:cNvPr>
          <p:cNvSpPr/>
          <p:nvPr/>
        </p:nvSpPr>
        <p:spPr>
          <a:xfrm rot="4750356">
            <a:off x="2316769" y="3410501"/>
            <a:ext cx="6917083" cy="7167962"/>
          </a:xfrm>
          <a:custGeom>
            <a:avLst/>
            <a:gdLst/>
            <a:ahLst/>
            <a:cxnLst/>
            <a:rect l="l" t="t" r="r" b="b"/>
            <a:pathLst>
              <a:path w="6917083" h="7167962">
                <a:moveTo>
                  <a:pt x="0" y="0"/>
                </a:moveTo>
                <a:lnTo>
                  <a:pt x="6917084" y="0"/>
                </a:lnTo>
                <a:lnTo>
                  <a:pt x="6917084" y="7167962"/>
                </a:lnTo>
                <a:lnTo>
                  <a:pt x="0" y="71679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6B0913E0-6A9B-1E7C-83BF-AE0A5D948B61}"/>
              </a:ext>
            </a:extLst>
          </p:cNvPr>
          <p:cNvGrpSpPr/>
          <p:nvPr/>
        </p:nvGrpSpPr>
        <p:grpSpPr>
          <a:xfrm>
            <a:off x="3013906" y="2200419"/>
            <a:ext cx="13854268" cy="6262067"/>
            <a:chOff x="0" y="0"/>
            <a:chExt cx="4598049" cy="1563979"/>
          </a:xfrm>
        </p:grpSpPr>
        <p:sp>
          <p:nvSpPr>
            <p:cNvPr id="7" name="TextBox 7">
              <a:extLst>
                <a:ext uri="{FF2B5EF4-FFF2-40B4-BE49-F238E27FC236}">
                  <a16:creationId xmlns:a16="http://schemas.microsoft.com/office/drawing/2014/main" id="{212514D5-D013-A1EF-5CAA-F1CF1F4B49C8}"/>
                </a:ext>
              </a:extLst>
            </p:cNvPr>
            <p:cNvSpPr txBox="1"/>
            <p:nvPr/>
          </p:nvSpPr>
          <p:spPr>
            <a:xfrm>
              <a:off x="0" y="0"/>
              <a:ext cx="4598049" cy="755302"/>
            </a:xfrm>
            <a:prstGeom prst="rect">
              <a:avLst/>
            </a:prstGeom>
          </p:spPr>
          <p:txBody>
            <a:bodyPr lIns="0" tIns="0" rIns="0" bIns="0" rtlCol="0" anchor="t">
              <a:spAutoFit/>
            </a:bodyPr>
            <a:lstStyle/>
            <a:p>
              <a:pPr algn="ctr">
                <a:lnSpc>
                  <a:spcPts val="4567"/>
                </a:lnSpc>
              </a:pPr>
              <a:endParaRPr/>
            </a:p>
          </p:txBody>
        </p:sp>
        <p:sp>
          <p:nvSpPr>
            <p:cNvPr id="8" name="TextBox 8">
              <a:extLst>
                <a:ext uri="{FF2B5EF4-FFF2-40B4-BE49-F238E27FC236}">
                  <a16:creationId xmlns:a16="http://schemas.microsoft.com/office/drawing/2014/main" id="{11A6746C-3D39-BF7D-0D77-527141158201}"/>
                </a:ext>
              </a:extLst>
            </p:cNvPr>
            <p:cNvSpPr txBox="1"/>
            <p:nvPr/>
          </p:nvSpPr>
          <p:spPr>
            <a:xfrm>
              <a:off x="0" y="938129"/>
              <a:ext cx="4598049" cy="625850"/>
            </a:xfrm>
            <a:prstGeom prst="rect">
              <a:avLst/>
            </a:prstGeom>
          </p:spPr>
          <p:txBody>
            <a:bodyPr lIns="0" tIns="0" rIns="0" bIns="0" rtlCol="0" anchor="t">
              <a:spAutoFit/>
            </a:bodyPr>
            <a:lstStyle/>
            <a:p>
              <a:pPr algn="ctr">
                <a:lnSpc>
                  <a:spcPts val="4123"/>
                </a:lnSpc>
              </a:pPr>
              <a:endParaRPr/>
            </a:p>
          </p:txBody>
        </p:sp>
      </p:grpSp>
      <p:grpSp>
        <p:nvGrpSpPr>
          <p:cNvPr id="9" name="Group 9">
            <a:extLst>
              <a:ext uri="{FF2B5EF4-FFF2-40B4-BE49-F238E27FC236}">
                <a16:creationId xmlns:a16="http://schemas.microsoft.com/office/drawing/2014/main" id="{1CB30CDE-0936-67B9-A3FF-BE62DD0F7E99}"/>
              </a:ext>
            </a:extLst>
          </p:cNvPr>
          <p:cNvGrpSpPr/>
          <p:nvPr/>
        </p:nvGrpSpPr>
        <p:grpSpPr>
          <a:xfrm>
            <a:off x="17259300" y="8462486"/>
            <a:ext cx="571500" cy="571500"/>
            <a:chOff x="0" y="0"/>
            <a:chExt cx="6350000" cy="6350000"/>
          </a:xfrm>
        </p:grpSpPr>
        <p:sp>
          <p:nvSpPr>
            <p:cNvPr id="10" name="Freeform 10">
              <a:extLst>
                <a:ext uri="{FF2B5EF4-FFF2-40B4-BE49-F238E27FC236}">
                  <a16:creationId xmlns:a16="http://schemas.microsoft.com/office/drawing/2014/main" id="{DD733217-3BBB-1E91-751A-90D0FAAE543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11" name="AutoShape 11">
            <a:extLst>
              <a:ext uri="{FF2B5EF4-FFF2-40B4-BE49-F238E27FC236}">
                <a16:creationId xmlns:a16="http://schemas.microsoft.com/office/drawing/2014/main" id="{806C90EB-FFC4-31B3-0094-C471964FBA67}"/>
              </a:ext>
            </a:extLst>
          </p:cNvPr>
          <p:cNvSpPr/>
          <p:nvPr/>
        </p:nvSpPr>
        <p:spPr>
          <a:xfrm>
            <a:off x="2756752" y="-419100"/>
            <a:ext cx="38100" cy="10706100"/>
          </a:xfrm>
          <a:prstGeom prst="rect">
            <a:avLst/>
          </a:prstGeom>
          <a:solidFill>
            <a:srgbClr val="E2EDF1"/>
          </a:solidFill>
        </p:spPr>
        <p:txBody>
          <a:bodyPr/>
          <a:lstStyle/>
          <a:p>
            <a:endParaRPr lang="en-IN"/>
          </a:p>
        </p:txBody>
      </p:sp>
      <p:grpSp>
        <p:nvGrpSpPr>
          <p:cNvPr id="12" name="Group 12">
            <a:extLst>
              <a:ext uri="{FF2B5EF4-FFF2-40B4-BE49-F238E27FC236}">
                <a16:creationId xmlns:a16="http://schemas.microsoft.com/office/drawing/2014/main" id="{293293F5-E236-B560-D9B7-F7CD25AC0E39}"/>
              </a:ext>
            </a:extLst>
          </p:cNvPr>
          <p:cNvGrpSpPr/>
          <p:nvPr/>
        </p:nvGrpSpPr>
        <p:grpSpPr>
          <a:xfrm>
            <a:off x="2628175" y="2407218"/>
            <a:ext cx="257154" cy="257154"/>
            <a:chOff x="0" y="0"/>
            <a:chExt cx="6350000" cy="6350000"/>
          </a:xfrm>
        </p:grpSpPr>
        <p:sp>
          <p:nvSpPr>
            <p:cNvPr id="13" name="Freeform 13">
              <a:extLst>
                <a:ext uri="{FF2B5EF4-FFF2-40B4-BE49-F238E27FC236}">
                  <a16:creationId xmlns:a16="http://schemas.microsoft.com/office/drawing/2014/main" id="{A1771E17-F61A-1907-155B-08065FA18E0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4" name="Group 14">
            <a:extLst>
              <a:ext uri="{FF2B5EF4-FFF2-40B4-BE49-F238E27FC236}">
                <a16:creationId xmlns:a16="http://schemas.microsoft.com/office/drawing/2014/main" id="{30C11EAF-C4F9-88DB-4DC9-110FDB381DF3}"/>
              </a:ext>
            </a:extLst>
          </p:cNvPr>
          <p:cNvGrpSpPr/>
          <p:nvPr/>
        </p:nvGrpSpPr>
        <p:grpSpPr>
          <a:xfrm>
            <a:off x="2666275" y="4848246"/>
            <a:ext cx="257154" cy="257154"/>
            <a:chOff x="0" y="0"/>
            <a:chExt cx="6350000" cy="6350000"/>
          </a:xfrm>
        </p:grpSpPr>
        <p:sp>
          <p:nvSpPr>
            <p:cNvPr id="15" name="Freeform 15">
              <a:extLst>
                <a:ext uri="{FF2B5EF4-FFF2-40B4-BE49-F238E27FC236}">
                  <a16:creationId xmlns:a16="http://schemas.microsoft.com/office/drawing/2014/main" id="{05D2EF85-09F9-D6D9-603A-BFAA8188AAF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6" name="Group 16">
            <a:extLst>
              <a:ext uri="{FF2B5EF4-FFF2-40B4-BE49-F238E27FC236}">
                <a16:creationId xmlns:a16="http://schemas.microsoft.com/office/drawing/2014/main" id="{0673AA1E-B928-5759-46CB-C4B0E42F96D6}"/>
              </a:ext>
            </a:extLst>
          </p:cNvPr>
          <p:cNvGrpSpPr/>
          <p:nvPr/>
        </p:nvGrpSpPr>
        <p:grpSpPr>
          <a:xfrm>
            <a:off x="2666275" y="6556353"/>
            <a:ext cx="257154" cy="257154"/>
            <a:chOff x="0" y="0"/>
            <a:chExt cx="6350000" cy="6350000"/>
          </a:xfrm>
        </p:grpSpPr>
        <p:sp>
          <p:nvSpPr>
            <p:cNvPr id="17" name="Freeform 17">
              <a:extLst>
                <a:ext uri="{FF2B5EF4-FFF2-40B4-BE49-F238E27FC236}">
                  <a16:creationId xmlns:a16="http://schemas.microsoft.com/office/drawing/2014/main" id="{D9AB1288-B25F-2C54-0E34-3F365167929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grpSp>
        <p:nvGrpSpPr>
          <p:cNvPr id="18" name="Group 18">
            <a:extLst>
              <a:ext uri="{FF2B5EF4-FFF2-40B4-BE49-F238E27FC236}">
                <a16:creationId xmlns:a16="http://schemas.microsoft.com/office/drawing/2014/main" id="{51662060-0362-6F9F-704E-314F3D95F358}"/>
              </a:ext>
            </a:extLst>
          </p:cNvPr>
          <p:cNvGrpSpPr/>
          <p:nvPr/>
        </p:nvGrpSpPr>
        <p:grpSpPr>
          <a:xfrm>
            <a:off x="-320056" y="604334"/>
            <a:ext cx="1348756" cy="1348756"/>
            <a:chOff x="0" y="0"/>
            <a:chExt cx="6350000" cy="6350000"/>
          </a:xfrm>
        </p:grpSpPr>
        <p:sp>
          <p:nvSpPr>
            <p:cNvPr id="19" name="Freeform 19">
              <a:extLst>
                <a:ext uri="{FF2B5EF4-FFF2-40B4-BE49-F238E27FC236}">
                  <a16:creationId xmlns:a16="http://schemas.microsoft.com/office/drawing/2014/main" id="{1A5376D6-F0FE-BD9D-9B7C-120445AB164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0" name="Freeform 20">
            <a:extLst>
              <a:ext uri="{FF2B5EF4-FFF2-40B4-BE49-F238E27FC236}">
                <a16:creationId xmlns:a16="http://schemas.microsoft.com/office/drawing/2014/main" id="{6661C77B-B6D0-63FD-F34D-A4772BFA4CD5}"/>
              </a:ext>
            </a:extLst>
          </p:cNvPr>
          <p:cNvSpPr/>
          <p:nvPr/>
        </p:nvSpPr>
        <p:spPr>
          <a:xfrm rot="-2120230">
            <a:off x="16952690" y="6143167"/>
            <a:ext cx="1741778" cy="1804951"/>
          </a:xfrm>
          <a:custGeom>
            <a:avLst/>
            <a:gdLst/>
            <a:ahLst/>
            <a:cxnLst/>
            <a:rect l="l" t="t" r="r" b="b"/>
            <a:pathLst>
              <a:path w="1741778" h="1804951">
                <a:moveTo>
                  <a:pt x="0" y="0"/>
                </a:moveTo>
                <a:lnTo>
                  <a:pt x="1741778" y="0"/>
                </a:lnTo>
                <a:lnTo>
                  <a:pt x="1741778" y="1804951"/>
                </a:lnTo>
                <a:lnTo>
                  <a:pt x="0" y="18049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3" name="TextBox 23">
            <a:extLst>
              <a:ext uri="{FF2B5EF4-FFF2-40B4-BE49-F238E27FC236}">
                <a16:creationId xmlns:a16="http://schemas.microsoft.com/office/drawing/2014/main" id="{78B71569-3AD1-157A-3564-901A34B4340F}"/>
              </a:ext>
            </a:extLst>
          </p:cNvPr>
          <p:cNvSpPr txBox="1"/>
          <p:nvPr/>
        </p:nvSpPr>
        <p:spPr>
          <a:xfrm>
            <a:off x="3858187" y="851572"/>
            <a:ext cx="10279451" cy="717632"/>
          </a:xfrm>
          <a:prstGeom prst="rect">
            <a:avLst/>
          </a:prstGeom>
        </p:spPr>
        <p:txBody>
          <a:bodyPr lIns="0" tIns="0" rIns="0" bIns="0" rtlCol="0" anchor="t">
            <a:spAutoFit/>
          </a:bodyPr>
          <a:lstStyle/>
          <a:p>
            <a:pPr algn="ctr">
              <a:lnSpc>
                <a:spcPts val="5363"/>
              </a:lnSpc>
            </a:pPr>
            <a:r>
              <a:rPr lang="en-IN" sz="6000" b="1" dirty="0">
                <a:solidFill>
                  <a:srgbClr val="002060"/>
                </a:solidFill>
                <a:latin typeface="Times New Roman" panose="02020603050405020304" pitchFamily="18" charset="0"/>
                <a:cs typeface="Times New Roman" panose="02020603050405020304" pitchFamily="18" charset="0"/>
              </a:rPr>
              <a:t>References</a:t>
            </a:r>
            <a:endParaRPr lang="en-US" sz="6000" b="1" spc="446" dirty="0">
              <a:solidFill>
                <a:srgbClr val="002060"/>
              </a:solidFill>
              <a:latin typeface="Times New Roman" panose="02020603050405020304" pitchFamily="18" charset="0"/>
              <a:cs typeface="Times New Roman" panose="02020603050405020304" pitchFamily="18" charset="0"/>
            </a:endParaRPr>
          </a:p>
        </p:txBody>
      </p:sp>
      <p:grpSp>
        <p:nvGrpSpPr>
          <p:cNvPr id="25" name="Group 25">
            <a:extLst>
              <a:ext uri="{FF2B5EF4-FFF2-40B4-BE49-F238E27FC236}">
                <a16:creationId xmlns:a16="http://schemas.microsoft.com/office/drawing/2014/main" id="{75D232FF-332C-C582-027D-BACFDF412012}"/>
              </a:ext>
            </a:extLst>
          </p:cNvPr>
          <p:cNvGrpSpPr/>
          <p:nvPr/>
        </p:nvGrpSpPr>
        <p:grpSpPr>
          <a:xfrm>
            <a:off x="2666275" y="8037930"/>
            <a:ext cx="257154" cy="257154"/>
            <a:chOff x="0" y="0"/>
            <a:chExt cx="6350000" cy="6350000"/>
          </a:xfrm>
        </p:grpSpPr>
        <p:sp>
          <p:nvSpPr>
            <p:cNvPr id="26" name="Freeform 26">
              <a:extLst>
                <a:ext uri="{FF2B5EF4-FFF2-40B4-BE49-F238E27FC236}">
                  <a16:creationId xmlns:a16="http://schemas.microsoft.com/office/drawing/2014/main" id="{FA0AF8CD-3E88-C072-F4FD-119E9432E4E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EDF1"/>
            </a:solidFill>
          </p:spPr>
          <p:txBody>
            <a:bodyPr/>
            <a:lstStyle/>
            <a:p>
              <a:endParaRPr lang="en-IN"/>
            </a:p>
          </p:txBody>
        </p:sp>
      </p:grpSp>
      <p:sp>
        <p:nvSpPr>
          <p:cNvPr id="21" name="TextBox 20">
            <a:extLst>
              <a:ext uri="{FF2B5EF4-FFF2-40B4-BE49-F238E27FC236}">
                <a16:creationId xmlns:a16="http://schemas.microsoft.com/office/drawing/2014/main" id="{03FD2D01-3AC2-39B4-0829-B9284348FA21}"/>
              </a:ext>
            </a:extLst>
          </p:cNvPr>
          <p:cNvSpPr txBox="1"/>
          <p:nvPr/>
        </p:nvSpPr>
        <p:spPr>
          <a:xfrm>
            <a:off x="3429000" y="2407218"/>
            <a:ext cx="11845094" cy="7294305"/>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3600" dirty="0">
                <a:solidFill>
                  <a:srgbClr val="002060"/>
                </a:solidFill>
                <a:latin typeface="Times New Roman" panose="02020603050405020304" pitchFamily="18" charset="0"/>
                <a:cs typeface="Times New Roman" panose="02020603050405020304" pitchFamily="18" charset="0"/>
              </a:rPr>
              <a:t>AWS Documentation</a:t>
            </a:r>
          </a:p>
          <a:p>
            <a:pPr lvl="0" eaLnBrk="0" fontAlgn="base" hangingPunct="0">
              <a:spcBef>
                <a:spcPct val="0"/>
              </a:spcBef>
              <a:spcAft>
                <a:spcPct val="0"/>
              </a:spcAft>
              <a:buFontTx/>
              <a:buChar char="•"/>
            </a:pPr>
            <a:endParaRPr lang="en-US" altLang="en-US" sz="3600" dirty="0">
              <a:solidFill>
                <a:srgbClr val="002060"/>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Tx/>
              <a:buChar char="•"/>
            </a:pPr>
            <a:r>
              <a:rPr lang="en-US" altLang="en-US" sz="3600" dirty="0">
                <a:solidFill>
                  <a:srgbClr val="002060"/>
                </a:solidFill>
                <a:latin typeface="Times New Roman" panose="02020603050405020304" pitchFamily="18" charset="0"/>
                <a:cs typeface="Times New Roman" panose="02020603050405020304" pitchFamily="18" charset="0"/>
              </a:rPr>
              <a:t>Azure Documentation</a:t>
            </a:r>
          </a:p>
          <a:p>
            <a:pPr eaLnBrk="0" fontAlgn="base" hangingPunct="0">
              <a:spcBef>
                <a:spcPct val="0"/>
              </a:spcBef>
              <a:spcAft>
                <a:spcPct val="0"/>
              </a:spcAft>
              <a:buFontTx/>
              <a:buChar char="•"/>
            </a:pPr>
            <a:endParaRPr lang="en-US" altLang="en-US" sz="3600" dirty="0">
              <a:solidFill>
                <a:srgbClr val="002060"/>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Tx/>
              <a:buChar char="•"/>
            </a:pPr>
            <a:r>
              <a:rPr lang="en-US" altLang="en-US" sz="3600" dirty="0">
                <a:solidFill>
                  <a:srgbClr val="002060"/>
                </a:solidFill>
                <a:latin typeface="Times New Roman" panose="02020603050405020304" pitchFamily="18" charset="0"/>
                <a:cs typeface="Times New Roman" panose="02020603050405020304" pitchFamily="18" charset="0"/>
              </a:rPr>
              <a:t>AWS Well-Architected Framework</a:t>
            </a:r>
          </a:p>
          <a:p>
            <a:pPr eaLnBrk="0" fontAlgn="base" hangingPunct="0">
              <a:spcBef>
                <a:spcPct val="0"/>
              </a:spcBef>
              <a:spcAft>
                <a:spcPct val="0"/>
              </a:spcAft>
              <a:buFontTx/>
              <a:buChar char="•"/>
            </a:pPr>
            <a:endParaRPr lang="en-US" altLang="en-US" sz="3600" dirty="0">
              <a:solidFill>
                <a:srgbClr val="002060"/>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Tx/>
              <a:buChar char="•"/>
            </a:pPr>
            <a:r>
              <a:rPr lang="en-US" altLang="en-US" sz="3600" dirty="0">
                <a:solidFill>
                  <a:srgbClr val="002060"/>
                </a:solidFill>
                <a:latin typeface="Times New Roman" panose="02020603050405020304" pitchFamily="18" charset="0"/>
                <a:cs typeface="Times New Roman" panose="02020603050405020304" pitchFamily="18" charset="0"/>
              </a:rPr>
              <a:t>Microsoft Architecture Center</a:t>
            </a:r>
          </a:p>
          <a:p>
            <a:pPr eaLnBrk="0" fontAlgn="base" hangingPunct="0">
              <a:spcBef>
                <a:spcPct val="0"/>
              </a:spcBef>
              <a:spcAft>
                <a:spcPct val="0"/>
              </a:spcAft>
              <a:buFontTx/>
              <a:buChar char="•"/>
            </a:pPr>
            <a:endParaRPr lang="en-US" altLang="en-US" sz="3600" dirty="0">
              <a:solidFill>
                <a:srgbClr val="002060"/>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Tx/>
              <a:buChar char="•"/>
            </a:pPr>
            <a:r>
              <a:rPr lang="en-US" altLang="en-US" sz="3600" dirty="0">
                <a:solidFill>
                  <a:srgbClr val="002060"/>
                </a:solidFill>
                <a:latin typeface="Times New Roman" panose="02020603050405020304" pitchFamily="18" charset="0"/>
                <a:cs typeface="Times New Roman" panose="02020603050405020304" pitchFamily="18" charset="0"/>
              </a:rPr>
              <a:t>Ansys Internal Documentation</a:t>
            </a:r>
          </a:p>
          <a:p>
            <a:pPr eaLnBrk="0" fontAlgn="base" hangingPunct="0">
              <a:spcBef>
                <a:spcPct val="0"/>
              </a:spcBef>
              <a:spcAft>
                <a:spcPct val="0"/>
              </a:spcAft>
              <a:buFontTx/>
              <a:buChar char="•"/>
            </a:pPr>
            <a:endParaRPr lang="en-US" altLang="en-US" sz="3600" dirty="0">
              <a:solidFill>
                <a:srgbClr val="002060"/>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Tx/>
              <a:buChar char="•"/>
            </a:pPr>
            <a:r>
              <a:rPr lang="en-US" altLang="en-US" sz="3600" dirty="0">
                <a:solidFill>
                  <a:srgbClr val="002060"/>
                </a:solidFill>
                <a:latin typeface="Times New Roman" panose="02020603050405020304" pitchFamily="18" charset="0"/>
                <a:cs typeface="Times New Roman" panose="02020603050405020304" pitchFamily="18" charset="0"/>
              </a:rPr>
              <a:t>Cloud Security Alliance</a:t>
            </a:r>
          </a:p>
          <a:p>
            <a:pPr eaLnBrk="0" fontAlgn="base" hangingPunct="0">
              <a:spcBef>
                <a:spcPct val="0"/>
              </a:spcBef>
              <a:spcAft>
                <a:spcPct val="0"/>
              </a:spcAft>
              <a:buFontTx/>
              <a:buChar char="•"/>
            </a:pPr>
            <a:endParaRPr lang="en-US" altLang="en-US" dirty="0">
              <a:latin typeface="Arial" panose="020B0604020202020204" pitchFamily="34" charset="0"/>
            </a:endParaRPr>
          </a:p>
          <a:p>
            <a:pPr eaLnBrk="0" fontAlgn="base" hangingPunct="0">
              <a:spcBef>
                <a:spcPct val="0"/>
              </a:spcBef>
              <a:spcAft>
                <a:spcPct val="0"/>
              </a:spcAft>
              <a:buFontTx/>
              <a:buChar char="•"/>
            </a:pPr>
            <a:endParaRPr lang="en-US" altLang="en-US" dirty="0">
              <a:latin typeface="Arial" panose="020B0604020202020204" pitchFamily="34" charset="0"/>
            </a:endParaRPr>
          </a:p>
          <a:p>
            <a:pPr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endParaRPr lang="en-US" altLang="en-US" dirty="0">
              <a:latin typeface="Arial" panose="020B0604020202020204" pitchFamily="34" charset="0"/>
            </a:endParaRPr>
          </a:p>
        </p:txBody>
      </p:sp>
    </p:spTree>
    <p:extLst>
      <p:ext uri="{BB962C8B-B14F-4D97-AF65-F5344CB8AC3E}">
        <p14:creationId xmlns:p14="http://schemas.microsoft.com/office/powerpoint/2010/main" val="206215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4345C"/>
        </a:solidFill>
        <a:effectLst/>
      </p:bgPr>
    </p:bg>
    <p:spTree>
      <p:nvGrpSpPr>
        <p:cNvPr id="1" name=""/>
        <p:cNvGrpSpPr/>
        <p:nvPr/>
      </p:nvGrpSpPr>
      <p:grpSpPr>
        <a:xfrm>
          <a:off x="0" y="0"/>
          <a:ext cx="0" cy="0"/>
          <a:chOff x="0" y="0"/>
          <a:chExt cx="0" cy="0"/>
        </a:xfrm>
      </p:grpSpPr>
      <p:sp>
        <p:nvSpPr>
          <p:cNvPr id="2" name="TextBox 2"/>
          <p:cNvSpPr txBox="1"/>
          <p:nvPr/>
        </p:nvSpPr>
        <p:spPr>
          <a:xfrm>
            <a:off x="4004275" y="4803081"/>
            <a:ext cx="10279451" cy="680838"/>
          </a:xfrm>
          <a:prstGeom prst="rect">
            <a:avLst/>
          </a:prstGeom>
        </p:spPr>
        <p:txBody>
          <a:bodyPr lIns="0" tIns="0" rIns="0" bIns="0" rtlCol="0" anchor="t">
            <a:spAutoFit/>
          </a:bodyPr>
          <a:lstStyle/>
          <a:p>
            <a:pPr algn="ctr">
              <a:lnSpc>
                <a:spcPts val="5363"/>
              </a:lnSpc>
            </a:pPr>
            <a:r>
              <a:rPr lang="en-US" sz="4469" spc="446">
                <a:solidFill>
                  <a:srgbClr val="6BD4CD"/>
                </a:solidFill>
                <a:latin typeface="Glacial Indifferenc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1176</TotalTime>
  <Words>682</Words>
  <Application>Microsoft Office PowerPoint</Application>
  <PresentationFormat>Custom</PresentationFormat>
  <Paragraphs>144</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Times New Roman</vt:lpstr>
      <vt:lpstr>Glacial Indifference Bold</vt:lpstr>
      <vt:lpstr>Glacial Indifference</vt:lpstr>
      <vt:lpstr>Calibri</vt:lpstr>
      <vt:lpstr>Wingdings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dc:title>
  <dc:creator>Aadhan Navilan</dc:creator>
  <cp:lastModifiedBy>Utkarsh Srivastava</cp:lastModifiedBy>
  <cp:revision>62</cp:revision>
  <dcterms:created xsi:type="dcterms:W3CDTF">2006-08-16T00:00:00Z</dcterms:created>
  <dcterms:modified xsi:type="dcterms:W3CDTF">2025-11-29T19:31:37Z</dcterms:modified>
  <dc:identifier>DAF3HU4MsMc</dc:identifier>
</cp:coreProperties>
</file>