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94" r:id="rId3"/>
    <p:sldId id="257" r:id="rId4"/>
    <p:sldId id="258" r:id="rId5"/>
    <p:sldId id="259" r:id="rId6"/>
    <p:sldId id="265" r:id="rId7"/>
    <p:sldId id="266" r:id="rId8"/>
    <p:sldId id="267" r:id="rId9"/>
    <p:sldId id="278" r:id="rId10"/>
    <p:sldId id="300" r:id="rId11"/>
    <p:sldId id="279" r:id="rId12"/>
    <p:sldId id="295" r:id="rId13"/>
    <p:sldId id="296" r:id="rId14"/>
    <p:sldId id="268" r:id="rId15"/>
    <p:sldId id="284" r:id="rId16"/>
    <p:sldId id="297" r:id="rId17"/>
    <p:sldId id="298" r:id="rId18"/>
    <p:sldId id="299" r:id="rId19"/>
    <p:sldId id="291" r:id="rId20"/>
    <p:sldId id="275" r:id="rId21"/>
  </p:sldIdLst>
  <p:sldSz cx="18288000" cy="10287000"/>
  <p:notesSz cx="6858000" cy="9144000"/>
  <p:embeddedFontLst>
    <p:embeddedFont>
      <p:font typeface="Glacial Indifference" panose="020B0604020202020204" charset="0"/>
      <p:regular r:id="rId22"/>
    </p:embeddedFont>
    <p:embeddedFont>
      <p:font typeface="Glacial Indifference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D4CD"/>
    <a:srgbClr val="04345C"/>
    <a:srgbClr val="1D5B78"/>
    <a:srgbClr val="205F7B"/>
    <a:srgbClr val="3B5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1" d="100"/>
          <a:sy n="51" d="100"/>
        </p:scale>
        <p:origin x="898" y="9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7.sv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hyperlink" Target="https://react.dev/" TargetMode="External"/><Relationship Id="rId13" Type="http://schemas.openxmlformats.org/officeDocument/2006/relationships/hyperlink" Target="https://www.geeksforgeeks.org/mern-stack/" TargetMode="External"/><Relationship Id="rId3" Type="http://schemas.openxmlformats.org/officeDocument/2006/relationships/image" Target="../media/image5.svg"/><Relationship Id="rId7" Type="http://schemas.openxmlformats.org/officeDocument/2006/relationships/hyperlink" Target="https://expressjs.com/" TargetMode="External"/><Relationship Id="rId12" Type="http://schemas.openxmlformats.org/officeDocument/2006/relationships/hyperlink" Target="https://developer.mozilla.org/" TargetMode="Externa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https://www.mongodb.com/docs/" TargetMode="External"/><Relationship Id="rId11" Type="http://schemas.openxmlformats.org/officeDocument/2006/relationships/hyperlink" Target="https://jwt.io/introduction/" TargetMode="External"/><Relationship Id="rId5" Type="http://schemas.openxmlformats.org/officeDocument/2006/relationships/image" Target="../media/image7.svg"/><Relationship Id="rId10" Type="http://schemas.openxmlformats.org/officeDocument/2006/relationships/hyperlink" Target="https://cloudinary.com/documentation" TargetMode="External"/><Relationship Id="rId4" Type="http://schemas.openxmlformats.org/officeDocument/2006/relationships/image" Target="../media/image6.png"/><Relationship Id="rId9" Type="http://schemas.openxmlformats.org/officeDocument/2006/relationships/hyperlink" Target="https://nodejs.org/en/docs" TargetMode="External"/><Relationship Id="rId14" Type="http://schemas.openxmlformats.org/officeDocument/2006/relationships/hyperlink" Target="https://www.freecodecamp.or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3261929">
            <a:off x="9293478" y="-3927861"/>
            <a:ext cx="12406564" cy="12856543"/>
          </a:xfrm>
          <a:custGeom>
            <a:avLst/>
            <a:gdLst/>
            <a:ahLst/>
            <a:cxnLst/>
            <a:rect l="l" t="t" r="r" b="b"/>
            <a:pathLst>
              <a:path w="12406564" h="12856543">
                <a:moveTo>
                  <a:pt x="0" y="0"/>
                </a:moveTo>
                <a:lnTo>
                  <a:pt x="12406564" y="0"/>
                </a:lnTo>
                <a:lnTo>
                  <a:pt x="12406564" y="12856543"/>
                </a:lnTo>
                <a:lnTo>
                  <a:pt x="0" y="12856543"/>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Freeform 4"/>
          <p:cNvSpPr/>
          <p:nvPr/>
        </p:nvSpPr>
        <p:spPr>
          <a:xfrm rot="6512446">
            <a:off x="2886989" y="123521"/>
            <a:ext cx="10179983" cy="10549205"/>
          </a:xfrm>
          <a:custGeom>
            <a:avLst/>
            <a:gdLst/>
            <a:ahLst/>
            <a:cxnLst/>
            <a:rect l="l" t="t" r="r" b="b"/>
            <a:pathLst>
              <a:path w="10179983" h="10549205">
                <a:moveTo>
                  <a:pt x="0" y="0"/>
                </a:moveTo>
                <a:lnTo>
                  <a:pt x="10179983" y="0"/>
                </a:lnTo>
                <a:lnTo>
                  <a:pt x="10179983" y="10549205"/>
                </a:lnTo>
                <a:lnTo>
                  <a:pt x="0" y="1054920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5" name="Group 5"/>
          <p:cNvGrpSpPr/>
          <p:nvPr/>
        </p:nvGrpSpPr>
        <p:grpSpPr>
          <a:xfrm>
            <a:off x="17259300" y="2331504"/>
            <a:ext cx="571500" cy="571500"/>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7" name="TextBox 7"/>
          <p:cNvSpPr txBox="1"/>
          <p:nvPr/>
        </p:nvSpPr>
        <p:spPr>
          <a:xfrm>
            <a:off x="457200" y="1571245"/>
            <a:ext cx="17373600" cy="1015663"/>
          </a:xfrm>
          <a:prstGeom prst="rect">
            <a:avLst/>
          </a:prstGeom>
        </p:spPr>
        <p:txBody>
          <a:bodyPr wrap="square" lIns="0" tIns="0" rIns="0" bIns="0" rtlCol="0" anchor="t">
            <a:spAutoFit/>
          </a:bodyPr>
          <a:lstStyle/>
          <a:p>
            <a:pPr lvl="0"/>
            <a:r>
              <a:rPr lang="en-IN" sz="6600" dirty="0">
                <a:solidFill>
                  <a:srgbClr val="FFFF00"/>
                </a:solidFill>
                <a:latin typeface="Times New Roman"/>
                <a:ea typeface="Times New Roman"/>
                <a:cs typeface="Times New Roman"/>
                <a:sym typeface="Times New Roman"/>
              </a:rPr>
              <a:t> 							</a:t>
            </a:r>
            <a:r>
              <a:rPr lang="en-US" sz="6000" dirty="0">
                <a:solidFill>
                  <a:schemeClr val="bg1"/>
                </a:solidFill>
                <a:latin typeface="Times New Roman" panose="02020603050405020304" pitchFamily="18" charset="0"/>
                <a:cs typeface="Times New Roman" panose="02020603050405020304" pitchFamily="18" charset="0"/>
              </a:rPr>
              <a:t>”</a:t>
            </a:r>
            <a:endParaRPr lang="en-IN" sz="3600" dirty="0">
              <a:solidFill>
                <a:schemeClr val="bg1"/>
              </a:solidFill>
              <a:effectLst/>
              <a:latin typeface="Glacial Indifference Bold" panose="020B0604020202020204" charset="0"/>
              <a:ea typeface="Calibri" panose="020F0502020204030204" pitchFamily="34" charset="0"/>
              <a:cs typeface="Times New Roman" panose="02020603050405020304" pitchFamily="18" charset="0"/>
            </a:endParaRPr>
          </a:p>
        </p:txBody>
      </p:sp>
      <p:sp>
        <p:nvSpPr>
          <p:cNvPr id="8" name="TextBox 8"/>
          <p:cNvSpPr txBox="1"/>
          <p:nvPr/>
        </p:nvSpPr>
        <p:spPr>
          <a:xfrm>
            <a:off x="435429" y="6936961"/>
            <a:ext cx="7115133" cy="474489"/>
          </a:xfrm>
          <a:prstGeom prst="rect">
            <a:avLst/>
          </a:prstGeom>
        </p:spPr>
        <p:txBody>
          <a:bodyPr lIns="0" tIns="0" rIns="0" bIns="0" rtlCol="0" anchor="t">
            <a:spAutoFit/>
          </a:bodyPr>
          <a:lstStyle/>
          <a:p>
            <a:pPr>
              <a:lnSpc>
                <a:spcPts val="3730"/>
              </a:lnSpc>
              <a:spcBef>
                <a:spcPct val="0"/>
              </a:spcBef>
            </a:pPr>
            <a:endParaRPr lang="en-US" sz="3108" spc="310" dirty="0">
              <a:solidFill>
                <a:srgbClr val="FFFFFF"/>
              </a:solidFill>
              <a:latin typeface="Glacial Indifference"/>
            </a:endParaRPr>
          </a:p>
        </p:txBody>
      </p:sp>
      <p:sp>
        <p:nvSpPr>
          <p:cNvPr id="9" name="TextBox 9"/>
          <p:cNvSpPr txBox="1"/>
          <p:nvPr/>
        </p:nvSpPr>
        <p:spPr>
          <a:xfrm>
            <a:off x="9364624" y="6936961"/>
            <a:ext cx="8180426" cy="699615"/>
          </a:xfrm>
          <a:prstGeom prst="rect">
            <a:avLst/>
          </a:prstGeom>
        </p:spPr>
        <p:txBody>
          <a:bodyPr lIns="0" tIns="0" rIns="0" bIns="0" rtlCol="0" anchor="t">
            <a:spAutoFit/>
          </a:bodyPr>
          <a:lstStyle/>
          <a:p>
            <a:pPr algn="ctr">
              <a:lnSpc>
                <a:spcPts val="5667"/>
              </a:lnSpc>
              <a:spcBef>
                <a:spcPct val="0"/>
              </a:spcBef>
            </a:pPr>
            <a:endParaRPr lang="en-US" sz="4722" spc="472" dirty="0">
              <a:solidFill>
                <a:srgbClr val="FFFFFF"/>
              </a:solidFill>
              <a:latin typeface="Glacial Indifference"/>
            </a:endParaRPr>
          </a:p>
        </p:txBody>
      </p:sp>
      <p:sp>
        <p:nvSpPr>
          <p:cNvPr id="10" name="TextBox 10"/>
          <p:cNvSpPr txBox="1"/>
          <p:nvPr/>
        </p:nvSpPr>
        <p:spPr>
          <a:xfrm>
            <a:off x="5867400" y="4305301"/>
            <a:ext cx="6205252" cy="948978"/>
          </a:xfrm>
          <a:prstGeom prst="rect">
            <a:avLst/>
          </a:prstGeom>
        </p:spPr>
        <p:txBody>
          <a:bodyPr wrap="square" lIns="0" tIns="0" rIns="0" bIns="0" rtlCol="0" anchor="t">
            <a:spAutoFit/>
          </a:bodyPr>
          <a:lstStyle/>
          <a:p>
            <a:pPr algn="ctr">
              <a:lnSpc>
                <a:spcPts val="3730"/>
              </a:lnSpc>
              <a:spcBef>
                <a:spcPct val="0"/>
              </a:spcBef>
            </a:pPr>
            <a:endParaRPr lang="en-US" sz="3108" spc="310" dirty="0">
              <a:solidFill>
                <a:srgbClr val="FFFFFF"/>
              </a:solidFill>
              <a:latin typeface="Glacial Indifference" panose="020B0604020202020204" charset="0"/>
            </a:endParaRPr>
          </a:p>
          <a:p>
            <a:pPr>
              <a:lnSpc>
                <a:spcPts val="3730"/>
              </a:lnSpc>
              <a:spcBef>
                <a:spcPct val="0"/>
              </a:spcBef>
            </a:pPr>
            <a:endParaRPr lang="en-US" sz="3108" spc="310" dirty="0">
              <a:solidFill>
                <a:srgbClr val="FFFFFF"/>
              </a:solidFill>
              <a:latin typeface="Glacial Indifference" panose="020B0604020202020204" charset="0"/>
            </a:endParaRPr>
          </a:p>
        </p:txBody>
      </p:sp>
      <p:pic>
        <p:nvPicPr>
          <p:cNvPr id="3" name="Picture 2" descr="Online Education - SRM Online">
            <a:extLst>
              <a:ext uri="{FF2B5EF4-FFF2-40B4-BE49-F238E27FC236}">
                <a16:creationId xmlns:a16="http://schemas.microsoft.com/office/drawing/2014/main" id="{7DEFE581-492D-0B13-5E89-CA6FC2A6C4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2571" y="-38306"/>
            <a:ext cx="9794909" cy="271249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20C9305-FD87-E81C-E399-4CFA61658B6D}"/>
              </a:ext>
            </a:extLst>
          </p:cNvPr>
          <p:cNvSpPr txBox="1"/>
          <p:nvPr/>
        </p:nvSpPr>
        <p:spPr>
          <a:xfrm>
            <a:off x="3992995" y="3464257"/>
            <a:ext cx="8839200" cy="5749266"/>
          </a:xfrm>
          <a:prstGeom prst="rect">
            <a:avLst/>
          </a:prstGeom>
          <a:noFill/>
        </p:spPr>
        <p:txBody>
          <a:bodyPr wrap="square" rtlCol="0">
            <a:spAutoFit/>
          </a:bodyPr>
          <a:lstStyle/>
          <a:p>
            <a:pPr lvl="0" algn="ctr">
              <a:lnSpc>
                <a:spcPct val="107000"/>
              </a:lnSpc>
              <a:spcBef>
                <a:spcPts val="990"/>
              </a:spcBef>
            </a:pPr>
            <a:r>
              <a:rPr lang="en-IN" sz="4000" dirty="0">
                <a:solidFill>
                  <a:schemeClr val="dk1"/>
                </a:solidFill>
                <a:latin typeface="Times New Roman" panose="02020603050405020304" pitchFamily="18" charset="0"/>
                <a:ea typeface="Roboto Slab"/>
                <a:cs typeface="Times New Roman" panose="02020603050405020304" pitchFamily="18" charset="0"/>
                <a:sym typeface="Roboto Slab"/>
              </a:rPr>
              <a:t>MCA III  SEM</a:t>
            </a:r>
            <a:endParaRPr lang="en-IN" sz="4000" dirty="0">
              <a:latin typeface="Times New Roman" panose="02020603050405020304" pitchFamily="18" charset="0"/>
              <a:cs typeface="Times New Roman" panose="02020603050405020304" pitchFamily="18" charset="0"/>
            </a:endParaRPr>
          </a:p>
          <a:p>
            <a:pPr lvl="0" algn="ctr">
              <a:lnSpc>
                <a:spcPct val="107000"/>
              </a:lnSpc>
              <a:spcBef>
                <a:spcPts val="990"/>
              </a:spcBef>
            </a:pPr>
            <a:r>
              <a:rPr lang="en-IN" sz="4000" dirty="0">
                <a:solidFill>
                  <a:schemeClr val="dk1"/>
                </a:solidFill>
                <a:latin typeface="Times New Roman" panose="02020603050405020304" pitchFamily="18" charset="0"/>
                <a:ea typeface="Roboto Slab"/>
                <a:cs typeface="Times New Roman" panose="02020603050405020304" pitchFamily="18" charset="0"/>
                <a:sym typeface="Roboto Slab"/>
              </a:rPr>
              <a:t>MINI PROJECT VIVA VOCE </a:t>
            </a:r>
            <a:endParaRPr lang="en-IN" sz="4000" dirty="0">
              <a:latin typeface="Times New Roman" panose="02020603050405020304" pitchFamily="18" charset="0"/>
              <a:cs typeface="Times New Roman" panose="02020603050405020304" pitchFamily="18" charset="0"/>
            </a:endParaRPr>
          </a:p>
          <a:p>
            <a:pPr lvl="0" algn="ctr">
              <a:lnSpc>
                <a:spcPct val="107000"/>
              </a:lnSpc>
              <a:spcBef>
                <a:spcPts val="990"/>
              </a:spcBef>
            </a:pPr>
            <a:r>
              <a:rPr lang="en-IN" sz="4000" dirty="0">
                <a:solidFill>
                  <a:schemeClr val="dk1"/>
                </a:solidFill>
                <a:latin typeface="Times New Roman" panose="02020603050405020304" pitchFamily="18" charset="0"/>
                <a:ea typeface="Roboto Slab"/>
                <a:cs typeface="Times New Roman" panose="02020603050405020304" pitchFamily="18" charset="0"/>
                <a:sym typeface="Roboto Slab"/>
              </a:rPr>
              <a:t>NOV 2025</a:t>
            </a:r>
          </a:p>
          <a:p>
            <a:pPr lvl="0" algn="ctr">
              <a:lnSpc>
                <a:spcPct val="107000"/>
              </a:lnSpc>
              <a:spcBef>
                <a:spcPts val="990"/>
              </a:spcBef>
            </a:pPr>
            <a:r>
              <a:rPr lang="en-IN" sz="4000" dirty="0">
                <a:solidFill>
                  <a:srgbClr val="6BD4CD"/>
                </a:solidFill>
                <a:latin typeface="Times New Roman" panose="02020603050405020304" pitchFamily="18" charset="0"/>
                <a:ea typeface="Roboto Slab"/>
                <a:cs typeface="Times New Roman" panose="02020603050405020304" pitchFamily="18" charset="0"/>
                <a:sym typeface="Roboto Slab"/>
              </a:rPr>
              <a:t>Utkarsh Srivastava</a:t>
            </a:r>
            <a:endParaRPr lang="en-IN" sz="4000" dirty="0">
              <a:solidFill>
                <a:srgbClr val="6BD4CD"/>
              </a:solidFill>
              <a:latin typeface="Times New Roman" panose="02020603050405020304" pitchFamily="18" charset="0"/>
              <a:cs typeface="Times New Roman" panose="02020603050405020304" pitchFamily="18" charset="0"/>
            </a:endParaRPr>
          </a:p>
          <a:p>
            <a:pPr lvl="0" algn="ctr">
              <a:lnSpc>
                <a:spcPct val="107000"/>
              </a:lnSpc>
              <a:spcBef>
                <a:spcPts val="990"/>
              </a:spcBef>
            </a:pPr>
            <a:r>
              <a:rPr lang="en-IN" sz="4000" b="1" dirty="0">
                <a:highlight>
                  <a:srgbClr val="FFFF00"/>
                </a:highlight>
                <a:latin typeface="Times New Roman" panose="02020603050405020304" pitchFamily="18" charset="0"/>
                <a:cs typeface="Times New Roman" panose="02020603050405020304" pitchFamily="18" charset="0"/>
              </a:rPr>
              <a:t>EA2432251010355</a:t>
            </a:r>
            <a:endParaRPr lang="en-IN" sz="4000" dirty="0">
              <a:solidFill>
                <a:schemeClr val="dk1"/>
              </a:solidFill>
              <a:highlight>
                <a:srgbClr val="FFFF00"/>
              </a:highlight>
              <a:latin typeface="Times New Roman" panose="02020603050405020304" pitchFamily="18" charset="0"/>
              <a:ea typeface="Roboto Slab"/>
              <a:cs typeface="Times New Roman" panose="02020603050405020304" pitchFamily="18" charset="0"/>
              <a:sym typeface="Roboto Slab"/>
            </a:endParaRPr>
          </a:p>
          <a:p>
            <a:pPr lvl="0" algn="ctr">
              <a:lnSpc>
                <a:spcPct val="107000"/>
              </a:lnSpc>
              <a:spcBef>
                <a:spcPts val="990"/>
              </a:spcBef>
              <a:buClr>
                <a:srgbClr val="000000"/>
              </a:buClr>
            </a:pPr>
            <a:endParaRPr lang="en-IN" sz="4000" dirty="0">
              <a:solidFill>
                <a:schemeClr val="dk1"/>
              </a:solidFill>
              <a:highlight>
                <a:srgbClr val="FFFF00"/>
              </a:highlight>
              <a:latin typeface="Times New Roman" panose="02020603050405020304" pitchFamily="18" charset="0"/>
              <a:ea typeface="Roboto Slab"/>
              <a:cs typeface="Times New Roman" panose="02020603050405020304" pitchFamily="18" charset="0"/>
              <a:sym typeface="Roboto Slab"/>
            </a:endParaRPr>
          </a:p>
          <a:p>
            <a:pPr lvl="0" algn="ctr">
              <a:lnSpc>
                <a:spcPct val="107000"/>
              </a:lnSpc>
              <a:spcBef>
                <a:spcPts val="990"/>
              </a:spcBef>
              <a:buClr>
                <a:srgbClr val="000000"/>
              </a:buClr>
            </a:pPr>
            <a:r>
              <a:rPr lang="en-IN" sz="4000" dirty="0">
                <a:solidFill>
                  <a:schemeClr val="dk1"/>
                </a:solidFill>
                <a:highlight>
                  <a:srgbClr val="FFFF00"/>
                </a:highlight>
                <a:latin typeface="Times New Roman" panose="02020603050405020304" pitchFamily="18" charset="0"/>
                <a:ea typeface="Roboto Slab"/>
                <a:cs typeface="Times New Roman" panose="02020603050405020304" pitchFamily="18" charset="0"/>
                <a:sym typeface="Roboto Slab"/>
              </a:rPr>
              <a:t>DATE : 06-12-2025</a:t>
            </a:r>
            <a:endParaRPr lang="en-IN" sz="40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a:extLst>
            <a:ext uri="{FF2B5EF4-FFF2-40B4-BE49-F238E27FC236}">
              <a16:creationId xmlns:a16="http://schemas.microsoft.com/office/drawing/2014/main" id="{16E98F40-1EF8-A298-6680-789B36BDB56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BF983B9-7CA8-ADD1-5AE2-802F3CC3C3C0}"/>
              </a:ext>
            </a:extLst>
          </p:cNvPr>
          <p:cNvSpPr/>
          <p:nvPr/>
        </p:nvSpPr>
        <p:spPr>
          <a:xfrm rot="-3261929">
            <a:off x="8502806" y="-3887529"/>
            <a:ext cx="12406564" cy="12856543"/>
          </a:xfrm>
          <a:custGeom>
            <a:avLst/>
            <a:gdLst/>
            <a:ahLst/>
            <a:cxnLst/>
            <a:rect l="l" t="t" r="r" b="b"/>
            <a:pathLst>
              <a:path w="12406564" h="12856543">
                <a:moveTo>
                  <a:pt x="0" y="0"/>
                </a:moveTo>
                <a:lnTo>
                  <a:pt x="12406564" y="0"/>
                </a:lnTo>
                <a:lnTo>
                  <a:pt x="12406564" y="12856543"/>
                </a:lnTo>
                <a:lnTo>
                  <a:pt x="0" y="12856543"/>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Freeform 4">
            <a:extLst>
              <a:ext uri="{FF2B5EF4-FFF2-40B4-BE49-F238E27FC236}">
                <a16:creationId xmlns:a16="http://schemas.microsoft.com/office/drawing/2014/main" id="{038E3722-85FF-44E3-47E1-BAE7623A9128}"/>
              </a:ext>
            </a:extLst>
          </p:cNvPr>
          <p:cNvSpPr/>
          <p:nvPr/>
        </p:nvSpPr>
        <p:spPr>
          <a:xfrm rot="6512446">
            <a:off x="2886989" y="123521"/>
            <a:ext cx="10179983" cy="10549205"/>
          </a:xfrm>
          <a:custGeom>
            <a:avLst/>
            <a:gdLst/>
            <a:ahLst/>
            <a:cxnLst/>
            <a:rect l="l" t="t" r="r" b="b"/>
            <a:pathLst>
              <a:path w="10179983" h="10549205">
                <a:moveTo>
                  <a:pt x="0" y="0"/>
                </a:moveTo>
                <a:lnTo>
                  <a:pt x="10179983" y="0"/>
                </a:lnTo>
                <a:lnTo>
                  <a:pt x="10179983" y="10549205"/>
                </a:lnTo>
                <a:lnTo>
                  <a:pt x="0" y="1054920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5" name="Group 5">
            <a:extLst>
              <a:ext uri="{FF2B5EF4-FFF2-40B4-BE49-F238E27FC236}">
                <a16:creationId xmlns:a16="http://schemas.microsoft.com/office/drawing/2014/main" id="{C6A6B014-A605-BAFC-7CEC-9644F6305A09}"/>
              </a:ext>
            </a:extLst>
          </p:cNvPr>
          <p:cNvGrpSpPr/>
          <p:nvPr/>
        </p:nvGrpSpPr>
        <p:grpSpPr>
          <a:xfrm>
            <a:off x="17259300" y="2331504"/>
            <a:ext cx="571500" cy="571500"/>
            <a:chOff x="0" y="0"/>
            <a:chExt cx="6350000" cy="6350000"/>
          </a:xfrm>
        </p:grpSpPr>
        <p:sp>
          <p:nvSpPr>
            <p:cNvPr id="6" name="Freeform 6">
              <a:extLst>
                <a:ext uri="{FF2B5EF4-FFF2-40B4-BE49-F238E27FC236}">
                  <a16:creationId xmlns:a16="http://schemas.microsoft.com/office/drawing/2014/main" id="{5D3EF8C1-9EC0-AE3D-A21D-7BABD3B4BE7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7" name="TextBox 7">
            <a:extLst>
              <a:ext uri="{FF2B5EF4-FFF2-40B4-BE49-F238E27FC236}">
                <a16:creationId xmlns:a16="http://schemas.microsoft.com/office/drawing/2014/main" id="{527A1382-6DAC-5117-38F4-99840BB377AB}"/>
              </a:ext>
            </a:extLst>
          </p:cNvPr>
          <p:cNvSpPr txBox="1"/>
          <p:nvPr/>
        </p:nvSpPr>
        <p:spPr>
          <a:xfrm>
            <a:off x="457200" y="1571245"/>
            <a:ext cx="17373600" cy="1938992"/>
          </a:xfrm>
          <a:prstGeom prst="rect">
            <a:avLst/>
          </a:prstGeom>
        </p:spPr>
        <p:txBody>
          <a:bodyPr wrap="square" lIns="0" tIns="0" rIns="0" bIns="0" rtlCol="0" anchor="t">
            <a:spAutoFit/>
          </a:bodyPr>
          <a:lstStyle/>
          <a:p>
            <a:pPr lvl="0"/>
            <a:r>
              <a:rPr lang="en-IN" sz="6600" dirty="0">
                <a:solidFill>
                  <a:srgbClr val="FFFF00"/>
                </a:solidFill>
                <a:latin typeface="Times New Roman"/>
                <a:ea typeface="Times New Roman"/>
                <a:cs typeface="Times New Roman"/>
                <a:sym typeface="Times New Roman"/>
              </a:rPr>
              <a:t> 								Title</a:t>
            </a:r>
          </a:p>
          <a:p>
            <a:pPr lvl="0"/>
            <a:r>
              <a:rPr lang="en-IN" sz="4000" dirty="0">
                <a:solidFill>
                  <a:srgbClr val="FFFF00"/>
                </a:solidFill>
                <a:latin typeface="Times New Roman"/>
                <a:ea typeface="Times New Roman"/>
                <a:cs typeface="Times New Roman"/>
                <a:sym typeface="Times New Roman"/>
              </a:rPr>
              <a:t>                            </a:t>
            </a:r>
            <a:r>
              <a:rPr lang="en-US" sz="6000" dirty="0">
                <a:solidFill>
                  <a:schemeClr val="bg1"/>
                </a:solidFill>
                <a:latin typeface="Times New Roman" panose="02020603050405020304" pitchFamily="18" charset="0"/>
                <a:cs typeface="Times New Roman" panose="02020603050405020304" pitchFamily="18" charset="0"/>
              </a:rPr>
              <a:t>The “Job Portal (Web Application)”</a:t>
            </a:r>
            <a:endParaRPr lang="en-IN" sz="3600" dirty="0">
              <a:solidFill>
                <a:schemeClr val="bg1"/>
              </a:solidFill>
              <a:effectLst/>
              <a:latin typeface="Glacial Indifference Bold" panose="020B0604020202020204" charset="0"/>
              <a:ea typeface="Calibri" panose="020F0502020204030204" pitchFamily="34" charset="0"/>
              <a:cs typeface="Times New Roman" panose="02020603050405020304" pitchFamily="18" charset="0"/>
            </a:endParaRPr>
          </a:p>
        </p:txBody>
      </p:sp>
      <p:sp>
        <p:nvSpPr>
          <p:cNvPr id="8" name="TextBox 8">
            <a:extLst>
              <a:ext uri="{FF2B5EF4-FFF2-40B4-BE49-F238E27FC236}">
                <a16:creationId xmlns:a16="http://schemas.microsoft.com/office/drawing/2014/main" id="{BF768B3D-DCF3-38C1-72F9-25DFC6BB9DAD}"/>
              </a:ext>
            </a:extLst>
          </p:cNvPr>
          <p:cNvSpPr txBox="1"/>
          <p:nvPr/>
        </p:nvSpPr>
        <p:spPr>
          <a:xfrm>
            <a:off x="435429" y="6936961"/>
            <a:ext cx="7115133" cy="474489"/>
          </a:xfrm>
          <a:prstGeom prst="rect">
            <a:avLst/>
          </a:prstGeom>
        </p:spPr>
        <p:txBody>
          <a:bodyPr lIns="0" tIns="0" rIns="0" bIns="0" rtlCol="0" anchor="t">
            <a:spAutoFit/>
          </a:bodyPr>
          <a:lstStyle/>
          <a:p>
            <a:pPr>
              <a:lnSpc>
                <a:spcPts val="3730"/>
              </a:lnSpc>
              <a:spcBef>
                <a:spcPct val="0"/>
              </a:spcBef>
            </a:pPr>
            <a:endParaRPr lang="en-US" sz="3108" spc="310" dirty="0">
              <a:solidFill>
                <a:srgbClr val="FFFFFF"/>
              </a:solidFill>
              <a:latin typeface="Glacial Indifference"/>
            </a:endParaRPr>
          </a:p>
        </p:txBody>
      </p:sp>
      <p:sp>
        <p:nvSpPr>
          <p:cNvPr id="9" name="TextBox 9">
            <a:extLst>
              <a:ext uri="{FF2B5EF4-FFF2-40B4-BE49-F238E27FC236}">
                <a16:creationId xmlns:a16="http://schemas.microsoft.com/office/drawing/2014/main" id="{587CAEBF-8A0D-A7C9-58E7-742257521D6A}"/>
              </a:ext>
            </a:extLst>
          </p:cNvPr>
          <p:cNvSpPr txBox="1"/>
          <p:nvPr/>
        </p:nvSpPr>
        <p:spPr>
          <a:xfrm>
            <a:off x="9364624" y="6936961"/>
            <a:ext cx="8180426" cy="699615"/>
          </a:xfrm>
          <a:prstGeom prst="rect">
            <a:avLst/>
          </a:prstGeom>
        </p:spPr>
        <p:txBody>
          <a:bodyPr lIns="0" tIns="0" rIns="0" bIns="0" rtlCol="0" anchor="t">
            <a:spAutoFit/>
          </a:bodyPr>
          <a:lstStyle/>
          <a:p>
            <a:pPr algn="ctr">
              <a:lnSpc>
                <a:spcPts val="5667"/>
              </a:lnSpc>
              <a:spcBef>
                <a:spcPct val="0"/>
              </a:spcBef>
            </a:pPr>
            <a:endParaRPr lang="en-US" sz="4722" spc="472" dirty="0">
              <a:solidFill>
                <a:srgbClr val="FFFFFF"/>
              </a:solidFill>
              <a:latin typeface="Glacial Indifference"/>
            </a:endParaRPr>
          </a:p>
        </p:txBody>
      </p:sp>
      <p:sp>
        <p:nvSpPr>
          <p:cNvPr id="10" name="TextBox 10">
            <a:extLst>
              <a:ext uri="{FF2B5EF4-FFF2-40B4-BE49-F238E27FC236}">
                <a16:creationId xmlns:a16="http://schemas.microsoft.com/office/drawing/2014/main" id="{D559D80E-A0D8-6B7C-B923-1B811AA34A48}"/>
              </a:ext>
            </a:extLst>
          </p:cNvPr>
          <p:cNvSpPr txBox="1"/>
          <p:nvPr/>
        </p:nvSpPr>
        <p:spPr>
          <a:xfrm>
            <a:off x="5867400" y="4305301"/>
            <a:ext cx="6205252" cy="948978"/>
          </a:xfrm>
          <a:prstGeom prst="rect">
            <a:avLst/>
          </a:prstGeom>
        </p:spPr>
        <p:txBody>
          <a:bodyPr wrap="square" lIns="0" tIns="0" rIns="0" bIns="0" rtlCol="0" anchor="t">
            <a:spAutoFit/>
          </a:bodyPr>
          <a:lstStyle/>
          <a:p>
            <a:pPr algn="ctr">
              <a:lnSpc>
                <a:spcPts val="3730"/>
              </a:lnSpc>
              <a:spcBef>
                <a:spcPct val="0"/>
              </a:spcBef>
            </a:pPr>
            <a:endParaRPr lang="en-US" sz="3108" spc="310" dirty="0">
              <a:solidFill>
                <a:srgbClr val="FFFFFF"/>
              </a:solidFill>
              <a:latin typeface="Glacial Indifference" panose="020B0604020202020204" charset="0"/>
            </a:endParaRPr>
          </a:p>
          <a:p>
            <a:pPr>
              <a:lnSpc>
                <a:spcPts val="3730"/>
              </a:lnSpc>
              <a:spcBef>
                <a:spcPct val="0"/>
              </a:spcBef>
            </a:pPr>
            <a:endParaRPr lang="en-US" sz="3108" spc="310" dirty="0">
              <a:solidFill>
                <a:srgbClr val="FFFFFF"/>
              </a:solidFill>
              <a:latin typeface="Glacial Indifference" panose="020B0604020202020204" charset="0"/>
            </a:endParaRPr>
          </a:p>
        </p:txBody>
      </p:sp>
    </p:spTree>
    <p:extLst>
      <p:ext uri="{BB962C8B-B14F-4D97-AF65-F5344CB8AC3E}">
        <p14:creationId xmlns:p14="http://schemas.microsoft.com/office/powerpoint/2010/main" val="838699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a:off x="121099" y="922297"/>
            <a:ext cx="9022901" cy="9350156"/>
          </a:xfrm>
          <a:custGeom>
            <a:avLst/>
            <a:gdLst/>
            <a:ahLst/>
            <a:cxnLst/>
            <a:rect l="l" t="t" r="r" b="b"/>
            <a:pathLst>
              <a:path w="9022901" h="9350156">
                <a:moveTo>
                  <a:pt x="0" y="0"/>
                </a:moveTo>
                <a:lnTo>
                  <a:pt x="9022900" y="0"/>
                </a:lnTo>
                <a:lnTo>
                  <a:pt x="9022900" y="9350156"/>
                </a:lnTo>
                <a:lnTo>
                  <a:pt x="0" y="935015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rot="-5400000">
            <a:off x="13615654" y="-2642814"/>
            <a:ext cx="5534692" cy="5735432"/>
          </a:xfrm>
          <a:custGeom>
            <a:avLst/>
            <a:gdLst/>
            <a:ahLst/>
            <a:cxnLst/>
            <a:rect l="l" t="t" r="r" b="b"/>
            <a:pathLst>
              <a:path w="5534692" h="5735432">
                <a:moveTo>
                  <a:pt x="0" y="0"/>
                </a:moveTo>
                <a:lnTo>
                  <a:pt x="5534692" y="0"/>
                </a:lnTo>
                <a:lnTo>
                  <a:pt x="5534692" y="5735431"/>
                </a:lnTo>
                <a:lnTo>
                  <a:pt x="0" y="5735431"/>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9653010">
            <a:off x="-2329864" y="2214716"/>
            <a:ext cx="8774102" cy="9092333"/>
          </a:xfrm>
          <a:custGeom>
            <a:avLst/>
            <a:gdLst/>
            <a:ahLst/>
            <a:cxnLst/>
            <a:rect l="l" t="t" r="r" b="b"/>
            <a:pathLst>
              <a:path w="8774102" h="9092333">
                <a:moveTo>
                  <a:pt x="0" y="0"/>
                </a:moveTo>
                <a:lnTo>
                  <a:pt x="8774102" y="0"/>
                </a:lnTo>
                <a:lnTo>
                  <a:pt x="8774102" y="9092334"/>
                </a:lnTo>
                <a:lnTo>
                  <a:pt x="0" y="9092334"/>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896806">
            <a:off x="-1451748" y="4448377"/>
            <a:ext cx="6599197" cy="6838546"/>
          </a:xfrm>
          <a:custGeom>
            <a:avLst/>
            <a:gdLst/>
            <a:ahLst/>
            <a:cxnLst/>
            <a:rect l="l" t="t" r="r" b="b"/>
            <a:pathLst>
              <a:path w="6599197" h="6838546">
                <a:moveTo>
                  <a:pt x="0" y="0"/>
                </a:moveTo>
                <a:lnTo>
                  <a:pt x="6599196" y="0"/>
                </a:lnTo>
                <a:lnTo>
                  <a:pt x="6599196" y="6838546"/>
                </a:lnTo>
                <a:lnTo>
                  <a:pt x="0" y="68385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rot="-1327134">
            <a:off x="16950340" y="6599166"/>
            <a:ext cx="1658546" cy="1718700"/>
          </a:xfrm>
          <a:custGeom>
            <a:avLst/>
            <a:gdLst/>
            <a:ahLst/>
            <a:cxnLst/>
            <a:rect l="l" t="t" r="r" b="b"/>
            <a:pathLst>
              <a:path w="1658546" h="1718700">
                <a:moveTo>
                  <a:pt x="0" y="0"/>
                </a:moveTo>
                <a:lnTo>
                  <a:pt x="1658546" y="0"/>
                </a:lnTo>
                <a:lnTo>
                  <a:pt x="1658546" y="1718700"/>
                </a:lnTo>
                <a:lnTo>
                  <a:pt x="0" y="1718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7" name="Group 7"/>
          <p:cNvGrpSpPr/>
          <p:nvPr/>
        </p:nvGrpSpPr>
        <p:grpSpPr>
          <a:xfrm>
            <a:off x="-152400" y="1028700"/>
            <a:ext cx="1181100" cy="1181100"/>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txBody>
            <a:bodyPr/>
            <a:lstStyle/>
            <a:p>
              <a:endParaRPr lang="en-IN"/>
            </a:p>
          </p:txBody>
        </p:sp>
      </p:grpSp>
      <p:grpSp>
        <p:nvGrpSpPr>
          <p:cNvPr id="9" name="Group 9"/>
          <p:cNvGrpSpPr/>
          <p:nvPr/>
        </p:nvGrpSpPr>
        <p:grpSpPr>
          <a:xfrm>
            <a:off x="16687800" y="8686800"/>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txBody>
            <a:bodyPr/>
            <a:lstStyle/>
            <a:p>
              <a:endParaRPr lang="en-IN"/>
            </a:p>
          </p:txBody>
        </p:sp>
      </p:grpSp>
      <p:sp>
        <p:nvSpPr>
          <p:cNvPr id="12" name="TextBox 12"/>
          <p:cNvSpPr txBox="1"/>
          <p:nvPr/>
        </p:nvSpPr>
        <p:spPr>
          <a:xfrm>
            <a:off x="5917714" y="419101"/>
            <a:ext cx="6693805" cy="807913"/>
          </a:xfrm>
          <a:prstGeom prst="rect">
            <a:avLst/>
          </a:prstGeom>
        </p:spPr>
        <p:txBody>
          <a:bodyPr wrap="square" lIns="0" tIns="0" rIns="0" bIns="0" rtlCol="0" anchor="t">
            <a:spAutoFit/>
          </a:bodyPr>
          <a:lstStyle/>
          <a:p>
            <a:pPr algn="ctr">
              <a:lnSpc>
                <a:spcPts val="6343"/>
              </a:lnSpc>
            </a:pPr>
            <a:r>
              <a:rPr lang="en-US" sz="5286" spc="528" dirty="0">
                <a:solidFill>
                  <a:srgbClr val="04345C"/>
                </a:solidFill>
                <a:latin typeface="Glacial Indifference Bold"/>
              </a:rPr>
              <a:t>CONTENTS</a:t>
            </a:r>
          </a:p>
        </p:txBody>
      </p:sp>
      <p:sp>
        <p:nvSpPr>
          <p:cNvPr id="14" name="Content Placeholder 2">
            <a:extLst>
              <a:ext uri="{FF2B5EF4-FFF2-40B4-BE49-F238E27FC236}">
                <a16:creationId xmlns:a16="http://schemas.microsoft.com/office/drawing/2014/main" id="{BCAE3BFB-6A0B-EB7A-4F14-13C0163B73E6}"/>
              </a:ext>
            </a:extLst>
          </p:cNvPr>
          <p:cNvSpPr txBox="1"/>
          <p:nvPr/>
        </p:nvSpPr>
        <p:spPr>
          <a:xfrm>
            <a:off x="1264426" y="1227014"/>
            <a:ext cx="9459299" cy="894568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50000"/>
              </a:lnSpc>
              <a:buFont typeface="Wingdings" panose="05000000000000000000" pitchFamily="2" charset="2"/>
              <a:buChar char="v"/>
            </a:pPr>
            <a:r>
              <a:rPr lang="en-US" sz="2800" b="1" dirty="0">
                <a:solidFill>
                  <a:schemeClr val="bg1"/>
                </a:solidFill>
                <a:latin typeface="Times New Roman" panose="02020603050405020304" pitchFamily="18" charset="0"/>
                <a:cs typeface="Times New Roman" panose="02020603050405020304" pitchFamily="18" charset="0"/>
              </a:rPr>
              <a:t>Abstract</a:t>
            </a:r>
          </a:p>
          <a:p>
            <a:pPr lvl="2">
              <a:lnSpc>
                <a:spcPct val="150000"/>
              </a:lnSpc>
              <a:buFont typeface="Wingdings" panose="05000000000000000000" pitchFamily="2" charset="2"/>
              <a:buChar char="v"/>
            </a:pPr>
            <a:r>
              <a:rPr lang="en-IN" sz="2800" b="1" dirty="0">
                <a:solidFill>
                  <a:schemeClr val="bg1"/>
                </a:solidFill>
                <a:latin typeface="Times New Roman" panose="02020603050405020304" pitchFamily="18" charset="0"/>
                <a:cs typeface="Times New Roman" panose="02020603050405020304" pitchFamily="18" charset="0"/>
              </a:rPr>
              <a:t>Introduction </a:t>
            </a:r>
          </a:p>
          <a:p>
            <a:pPr lvl="2">
              <a:lnSpc>
                <a:spcPct val="150000"/>
              </a:lnSpc>
              <a:buFont typeface="Wingdings" panose="05000000000000000000" pitchFamily="2" charset="2"/>
              <a:buChar char="v"/>
            </a:pPr>
            <a:r>
              <a:rPr lang="en-IN" sz="2800" b="1" dirty="0">
                <a:solidFill>
                  <a:schemeClr val="bg1"/>
                </a:solidFill>
                <a:latin typeface="Times New Roman" panose="02020603050405020304" pitchFamily="18" charset="0"/>
                <a:cs typeface="Times New Roman" panose="02020603050405020304" pitchFamily="18" charset="0"/>
              </a:rPr>
              <a:t>Problem Description</a:t>
            </a:r>
          </a:p>
          <a:p>
            <a:pPr lvl="2">
              <a:lnSpc>
                <a:spcPct val="150000"/>
              </a:lnSpc>
              <a:buFont typeface="Wingdings" panose="05000000000000000000" pitchFamily="2" charset="2"/>
              <a:buChar char="v"/>
            </a:pPr>
            <a:r>
              <a:rPr lang="en-IN" sz="2800" b="1" dirty="0">
                <a:solidFill>
                  <a:schemeClr val="bg1"/>
                </a:solidFill>
                <a:latin typeface="Times New Roman" panose="02020603050405020304" pitchFamily="18" charset="0"/>
                <a:cs typeface="Times New Roman" panose="02020603050405020304" pitchFamily="18" charset="0"/>
              </a:rPr>
              <a:t>Design Phase</a:t>
            </a:r>
          </a:p>
          <a:p>
            <a:pPr lvl="2">
              <a:lnSpc>
                <a:spcPct val="150000"/>
              </a:lnSpc>
              <a:buFont typeface="Wingdings" panose="05000000000000000000" pitchFamily="2" charset="2"/>
              <a:buChar char="v"/>
            </a:pPr>
            <a:r>
              <a:rPr lang="en-IN" sz="2800" b="1" dirty="0">
                <a:solidFill>
                  <a:schemeClr val="bg1"/>
                </a:solidFill>
                <a:latin typeface="Times New Roman" panose="02020603050405020304" pitchFamily="18" charset="0"/>
                <a:cs typeface="Times New Roman" panose="02020603050405020304" pitchFamily="18" charset="0"/>
              </a:rPr>
              <a:t>Implementation Phase</a:t>
            </a:r>
          </a:p>
          <a:p>
            <a:pPr lvl="2">
              <a:lnSpc>
                <a:spcPct val="150000"/>
              </a:lnSpc>
              <a:buFont typeface="Wingdings" panose="05000000000000000000" pitchFamily="2" charset="2"/>
              <a:buChar char="v"/>
            </a:pPr>
            <a:r>
              <a:rPr lang="en-IN" sz="2800" b="1" dirty="0">
                <a:solidFill>
                  <a:schemeClr val="bg1"/>
                </a:solidFill>
                <a:latin typeface="Times New Roman" panose="02020603050405020304" pitchFamily="18" charset="0"/>
                <a:cs typeface="Times New Roman" panose="02020603050405020304" pitchFamily="18" charset="0"/>
              </a:rPr>
              <a:t>Screenshots</a:t>
            </a:r>
          </a:p>
          <a:p>
            <a:pPr lvl="2">
              <a:lnSpc>
                <a:spcPct val="150000"/>
              </a:lnSpc>
              <a:buFont typeface="Wingdings" panose="05000000000000000000" pitchFamily="2" charset="2"/>
              <a:buChar char="v"/>
            </a:pPr>
            <a:r>
              <a:rPr lang="en-IN" sz="2800" b="1" dirty="0">
                <a:solidFill>
                  <a:schemeClr val="bg1"/>
                </a:solidFill>
                <a:latin typeface="Times New Roman" panose="02020603050405020304" pitchFamily="18" charset="0"/>
                <a:cs typeface="Times New Roman" panose="02020603050405020304" pitchFamily="18" charset="0"/>
              </a:rPr>
              <a:t>Conclusion</a:t>
            </a:r>
          </a:p>
          <a:p>
            <a:pPr lvl="2">
              <a:lnSpc>
                <a:spcPct val="150000"/>
              </a:lnSpc>
              <a:buFont typeface="Wingdings" panose="05000000000000000000" pitchFamily="2" charset="2"/>
              <a:buChar char="v"/>
            </a:pPr>
            <a:r>
              <a:rPr lang="en-IN" sz="2800" b="1" dirty="0">
                <a:solidFill>
                  <a:schemeClr val="bg1"/>
                </a:solidFill>
                <a:latin typeface="Times New Roman" panose="02020603050405020304" pitchFamily="18" charset="0"/>
                <a:cs typeface="Times New Roman" panose="02020603050405020304" pitchFamily="18" charset="0"/>
              </a:rPr>
              <a:t>References</a:t>
            </a:r>
          </a:p>
          <a:p>
            <a:pPr lvl="2">
              <a:lnSpc>
                <a:spcPct val="150000"/>
              </a:lnSpc>
              <a:buFont typeface="Wingdings" panose="05000000000000000000" pitchFamily="2" charset="2"/>
              <a:buChar char="v"/>
            </a:pPr>
            <a:endParaRPr lang="en-IN" sz="2800" b="1" dirty="0">
              <a:solidFill>
                <a:srgbClr val="002060"/>
              </a:solidFill>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v"/>
            </a:pPr>
            <a:endParaRPr lang="en-US" sz="3200" b="1" dirty="0">
              <a:solidFill>
                <a:srgbClr val="04345C"/>
              </a:solidFill>
              <a:latin typeface="Glacial Indifference" panose="020B0604020202020204" charset="0"/>
              <a:cs typeface="Times New Roman" panose="02020603050405020304" pitchFamily="18" charset="0"/>
            </a:endParaRPr>
          </a:p>
          <a:p>
            <a:pPr>
              <a:buFont typeface="Wingdings" panose="05000000000000000000" pitchFamily="2" charset="2"/>
              <a:buChar char="v"/>
            </a:pPr>
            <a:endParaRPr lang="en-US" sz="2800" b="1" dirty="0">
              <a:solidFill>
                <a:srgbClr val="04345C"/>
              </a:solidFill>
              <a:latin typeface="Glacial Indifference" panose="020B060402020202020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9986250">
            <a:off x="-4102298" y="-524776"/>
            <a:ext cx="8880774" cy="9202874"/>
          </a:xfrm>
          <a:custGeom>
            <a:avLst/>
            <a:gdLst/>
            <a:ahLst/>
            <a:cxnLst/>
            <a:rect l="l" t="t" r="r" b="b"/>
            <a:pathLst>
              <a:path w="8880774" h="9202874">
                <a:moveTo>
                  <a:pt x="0" y="0"/>
                </a:moveTo>
                <a:lnTo>
                  <a:pt x="8880774" y="0"/>
                </a:lnTo>
                <a:lnTo>
                  <a:pt x="8880774" y="9202875"/>
                </a:lnTo>
                <a:lnTo>
                  <a:pt x="0" y="920287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rot="5375633">
            <a:off x="-489467" y="7372231"/>
            <a:ext cx="4693285" cy="4863507"/>
          </a:xfrm>
          <a:custGeom>
            <a:avLst/>
            <a:gdLst/>
            <a:ahLst/>
            <a:cxnLst/>
            <a:rect l="l" t="t" r="r" b="b"/>
            <a:pathLst>
              <a:path w="4693285" h="4863507">
                <a:moveTo>
                  <a:pt x="0" y="0"/>
                </a:moveTo>
                <a:lnTo>
                  <a:pt x="4693284" y="0"/>
                </a:lnTo>
                <a:lnTo>
                  <a:pt x="4693284" y="4863507"/>
                </a:lnTo>
                <a:lnTo>
                  <a:pt x="0" y="4863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6087273">
            <a:off x="16499100" y="4419465"/>
            <a:ext cx="6599197" cy="6838546"/>
          </a:xfrm>
          <a:custGeom>
            <a:avLst/>
            <a:gdLst/>
            <a:ahLst/>
            <a:cxnLst/>
            <a:rect l="l" t="t" r="r" b="b"/>
            <a:pathLst>
              <a:path w="6599197" h="6838546">
                <a:moveTo>
                  <a:pt x="0" y="0"/>
                </a:moveTo>
                <a:lnTo>
                  <a:pt x="6599196" y="0"/>
                </a:lnTo>
                <a:lnTo>
                  <a:pt x="6599196" y="6838546"/>
                </a:lnTo>
                <a:lnTo>
                  <a:pt x="0" y="68385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4420793">
            <a:off x="10604897" y="-4495251"/>
            <a:ext cx="9951332" cy="10312261"/>
          </a:xfrm>
          <a:custGeom>
            <a:avLst/>
            <a:gdLst/>
            <a:ahLst/>
            <a:cxnLst/>
            <a:rect l="l" t="t" r="r" b="b"/>
            <a:pathLst>
              <a:path w="9951332" h="10312261">
                <a:moveTo>
                  <a:pt x="0" y="0"/>
                </a:moveTo>
                <a:lnTo>
                  <a:pt x="9951332" y="0"/>
                </a:lnTo>
                <a:lnTo>
                  <a:pt x="9951332" y="10312261"/>
                </a:lnTo>
                <a:lnTo>
                  <a:pt x="0" y="1031226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52339" y="9518234"/>
            <a:ext cx="571500" cy="571500"/>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p:cNvGrpSpPr/>
          <p:nvPr/>
        </p:nvGrpSpPr>
        <p:grpSpPr>
          <a:xfrm>
            <a:off x="52339" y="0"/>
            <a:ext cx="17893175" cy="9364652"/>
            <a:chOff x="0" y="-714872"/>
            <a:chExt cx="23477367" cy="11959740"/>
          </a:xfrm>
        </p:grpSpPr>
        <p:sp>
          <p:nvSpPr>
            <p:cNvPr id="9" name="TextBox 9"/>
            <p:cNvSpPr txBox="1"/>
            <p:nvPr/>
          </p:nvSpPr>
          <p:spPr>
            <a:xfrm>
              <a:off x="0" y="-714872"/>
              <a:ext cx="23326852" cy="3242797"/>
            </a:xfrm>
            <a:prstGeom prst="rect">
              <a:avLst/>
            </a:prstGeom>
          </p:spPr>
          <p:txBody>
            <a:bodyPr wrap="square" lIns="0" tIns="0" rIns="0" bIns="0" rtlCol="0" anchor="t">
              <a:spAutoFit/>
            </a:bodyPr>
            <a:lstStyle/>
            <a:p>
              <a:pPr>
                <a:lnSpc>
                  <a:spcPts val="9918"/>
                </a:lnSpc>
              </a:pPr>
              <a:r>
                <a:rPr lang="en-US" sz="8265" spc="826" dirty="0">
                  <a:solidFill>
                    <a:srgbClr val="6BD4CD"/>
                  </a:solidFill>
                  <a:latin typeface="Glacial Indifference Bold"/>
                </a:rPr>
                <a:t>ABSTRACT</a:t>
              </a:r>
            </a:p>
            <a:p>
              <a:pPr>
                <a:lnSpc>
                  <a:spcPts val="9918"/>
                </a:lnSpc>
              </a:pPr>
              <a:endParaRPr lang="en-US" sz="8265" spc="826" dirty="0">
                <a:solidFill>
                  <a:srgbClr val="6BD4CD"/>
                </a:solidFill>
                <a:latin typeface="Glacial Indifference Bold"/>
              </a:endParaRPr>
            </a:p>
          </p:txBody>
        </p:sp>
        <p:sp>
          <p:nvSpPr>
            <p:cNvPr id="10" name="TextBox 10"/>
            <p:cNvSpPr txBox="1"/>
            <p:nvPr/>
          </p:nvSpPr>
          <p:spPr>
            <a:xfrm>
              <a:off x="1" y="946535"/>
              <a:ext cx="23477366" cy="10298333"/>
            </a:xfrm>
            <a:prstGeom prst="rect">
              <a:avLst/>
            </a:prstGeom>
          </p:spPr>
          <p:txBody>
            <a:bodyPr wrap="square" lIns="0" tIns="0" rIns="0" bIns="0" rtlCol="0" anchor="t">
              <a:spAutoFit/>
            </a:bodyPr>
            <a:lstStyle/>
            <a:p>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The “Job Portal (Web Application)” is designed to provide a common platform for job seekers and employers. The main objective of this project is to simplify the recruitment process by enabling employers to post job openings and candidates to search for and apply for suitable opportunities online.</a:t>
              </a:r>
              <a:br>
                <a:rPr lang="en-US" sz="2800" dirty="0">
                  <a:solidFill>
                    <a:schemeClr val="bg1"/>
                  </a:solidFill>
                  <a:latin typeface="Times New Roman" panose="02020603050405020304" pitchFamily="18" charset="0"/>
                  <a:cs typeface="Times New Roman" panose="02020603050405020304" pitchFamily="18" charset="0"/>
                </a:rPr>
              </a:br>
              <a:endParaRPr lang="en-IN"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The system allows job seekers to register, create and manage their profiles, upload resumes, and search for jobs based on skills, location, and domain. Employers can</a:t>
              </a:r>
              <a:r>
                <a:rPr lang="en-IN" sz="2800" dirty="0">
                  <a:solidFill>
                    <a:schemeClr val="bg1"/>
                  </a:solidFill>
                  <a:latin typeface="Times New Roman" panose="02020603050405020304" pitchFamily="18" charset="0"/>
                  <a:cs typeface="Times New Roman" panose="02020603050405020304" pitchFamily="18" charset="0"/>
                </a:rPr>
                <a:t> </a:t>
              </a:r>
              <a:r>
                <a:rPr lang="en-US" sz="2800" dirty="0">
                  <a:solidFill>
                    <a:schemeClr val="bg1"/>
                  </a:solidFill>
                  <a:latin typeface="Times New Roman" panose="02020603050405020304" pitchFamily="18" charset="0"/>
                  <a:cs typeface="Times New Roman" panose="02020603050405020304" pitchFamily="18" charset="0"/>
                </a:rPr>
                <a:t>register, create company profiles, and post job vacancies with detailed requirements. The application also supports job applications tracking and basic communication between candidates and employers.</a:t>
              </a:r>
              <a:br>
                <a:rPr lang="en-US" sz="2800" dirty="0">
                  <a:solidFill>
                    <a:schemeClr val="bg1"/>
                  </a:solidFill>
                  <a:latin typeface="Times New Roman" panose="02020603050405020304" pitchFamily="18" charset="0"/>
                  <a:cs typeface="Times New Roman" panose="02020603050405020304" pitchFamily="18" charset="0"/>
                </a:rPr>
              </a:br>
              <a:endParaRPr lang="en-IN"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Technologies used for the development include HTML, CSS, JavaScript with React.js as a framework for the frontend, Node.js for backend, and MongoDB as the database. This project demonstrates -</a:t>
              </a:r>
              <a:endParaRPr lang="en-IN"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real-world software development practices such as authentication, CRUD operations, and database connectivity.</a:t>
              </a:r>
              <a:br>
                <a:rPr lang="en-US" sz="2800" dirty="0">
                  <a:solidFill>
                    <a:schemeClr val="bg1"/>
                  </a:solidFill>
                  <a:latin typeface="Times New Roman" panose="02020603050405020304" pitchFamily="18" charset="0"/>
                  <a:cs typeface="Times New Roman" panose="02020603050405020304" pitchFamily="18" charset="0"/>
                </a:rPr>
              </a:br>
              <a:endParaRPr lang="en-IN"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In the future, the system can be enhanced with advanced features like AI-based job recommendations, resume parsing, and email notifications.</a:t>
              </a:r>
              <a:endParaRPr lang="en-IN" sz="2800" dirty="0">
                <a:solidFill>
                  <a:schemeClr val="bg1"/>
                </a:solidFill>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 </a:t>
              </a:r>
            </a:p>
            <a:p>
              <a:pPr marL="330623" lvl="1">
                <a:lnSpc>
                  <a:spcPct val="150000"/>
                </a:lnSpc>
              </a:pPr>
              <a:endParaRPr lang="en-US" sz="3600" dirty="0">
                <a:solidFill>
                  <a:schemeClr val="accent5">
                    <a:lumMod val="60000"/>
                    <a:lumOff val="40000"/>
                  </a:schemeClr>
                </a:solidFill>
                <a:latin typeface="Glacial Indifference" panose="020B0604020202020204" charset="0"/>
              </a:endParaRPr>
            </a:p>
          </p:txBody>
        </p:sp>
      </p:grpSp>
      <p:sp>
        <p:nvSpPr>
          <p:cNvPr id="11" name="Freeform 11"/>
          <p:cNvSpPr/>
          <p:nvPr/>
        </p:nvSpPr>
        <p:spPr>
          <a:xfrm rot="-2059948">
            <a:off x="6506073" y="-1271691"/>
            <a:ext cx="2350917" cy="2436183"/>
          </a:xfrm>
          <a:custGeom>
            <a:avLst/>
            <a:gdLst/>
            <a:ahLst/>
            <a:cxnLst/>
            <a:rect l="l" t="t" r="r" b="b"/>
            <a:pathLst>
              <a:path w="2350917" h="2436183">
                <a:moveTo>
                  <a:pt x="0" y="0"/>
                </a:moveTo>
                <a:lnTo>
                  <a:pt x="2350917" y="0"/>
                </a:lnTo>
                <a:lnTo>
                  <a:pt x="2350917" y="2436183"/>
                </a:lnTo>
                <a:lnTo>
                  <a:pt x="0" y="24361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a:off x="14444223" y="5750572"/>
            <a:ext cx="5630153" cy="5834356"/>
          </a:xfrm>
          <a:custGeom>
            <a:avLst/>
            <a:gdLst/>
            <a:ahLst/>
            <a:cxnLst/>
            <a:rect l="l" t="t" r="r" b="b"/>
            <a:pathLst>
              <a:path w="5630153" h="5834356">
                <a:moveTo>
                  <a:pt x="0" y="0"/>
                </a:moveTo>
                <a:lnTo>
                  <a:pt x="5630154" y="0"/>
                </a:lnTo>
                <a:lnTo>
                  <a:pt x="5630154" y="5834356"/>
                </a:lnTo>
                <a:lnTo>
                  <a:pt x="0" y="583435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3858459">
            <a:off x="11785864" y="-1420005"/>
            <a:ext cx="7958550" cy="8247202"/>
          </a:xfrm>
          <a:custGeom>
            <a:avLst/>
            <a:gdLst/>
            <a:ahLst/>
            <a:cxnLst/>
            <a:rect l="l" t="t" r="r" b="b"/>
            <a:pathLst>
              <a:path w="7958550" h="8247202">
                <a:moveTo>
                  <a:pt x="0" y="0"/>
                </a:moveTo>
                <a:lnTo>
                  <a:pt x="7958550" y="0"/>
                </a:lnTo>
                <a:lnTo>
                  <a:pt x="7958550" y="8247202"/>
                </a:lnTo>
                <a:lnTo>
                  <a:pt x="0" y="824720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6938171">
            <a:off x="-2270898" y="4389359"/>
            <a:ext cx="6599197" cy="6838546"/>
          </a:xfrm>
          <a:custGeom>
            <a:avLst/>
            <a:gdLst/>
            <a:ahLst/>
            <a:cxnLst/>
            <a:rect l="l" t="t" r="r" b="b"/>
            <a:pathLst>
              <a:path w="6599197" h="6838546">
                <a:moveTo>
                  <a:pt x="0" y="0"/>
                </a:moveTo>
                <a:lnTo>
                  <a:pt x="6599196" y="0"/>
                </a:lnTo>
                <a:lnTo>
                  <a:pt x="6599196" y="6838546"/>
                </a:lnTo>
                <a:lnTo>
                  <a:pt x="0" y="68385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9653010">
            <a:off x="-2653501" y="-3517467"/>
            <a:ext cx="8774102" cy="9092333"/>
          </a:xfrm>
          <a:custGeom>
            <a:avLst/>
            <a:gdLst/>
            <a:ahLst/>
            <a:cxnLst/>
            <a:rect l="l" t="t" r="r" b="b"/>
            <a:pathLst>
              <a:path w="8774102" h="9092333">
                <a:moveTo>
                  <a:pt x="0" y="0"/>
                </a:moveTo>
                <a:lnTo>
                  <a:pt x="8774102" y="0"/>
                </a:lnTo>
                <a:lnTo>
                  <a:pt x="8774102" y="9092334"/>
                </a:lnTo>
                <a:lnTo>
                  <a:pt x="0" y="9092334"/>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16078200" y="9258300"/>
            <a:ext cx="1181100" cy="1181100"/>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8" name="Group 8"/>
          <p:cNvGrpSpPr/>
          <p:nvPr/>
        </p:nvGrpSpPr>
        <p:grpSpPr>
          <a:xfrm>
            <a:off x="1028700" y="1028700"/>
            <a:ext cx="571500" cy="5715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0" name="Group 10"/>
          <p:cNvGrpSpPr/>
          <p:nvPr/>
        </p:nvGrpSpPr>
        <p:grpSpPr>
          <a:xfrm>
            <a:off x="399385" y="191755"/>
            <a:ext cx="16859915" cy="9207946"/>
            <a:chOff x="0" y="0"/>
            <a:chExt cx="22479886" cy="12277258"/>
          </a:xfrm>
        </p:grpSpPr>
        <p:sp>
          <p:nvSpPr>
            <p:cNvPr id="11" name="TextBox 11"/>
            <p:cNvSpPr txBox="1"/>
            <p:nvPr/>
          </p:nvSpPr>
          <p:spPr>
            <a:xfrm>
              <a:off x="0" y="0"/>
              <a:ext cx="22479886" cy="1435100"/>
            </a:xfrm>
            <a:prstGeom prst="rect">
              <a:avLst/>
            </a:prstGeom>
          </p:spPr>
          <p:txBody>
            <a:bodyPr lIns="0" tIns="0" rIns="0" bIns="0" rtlCol="0" anchor="t">
              <a:spAutoFit/>
            </a:bodyPr>
            <a:lstStyle/>
            <a:p>
              <a:pPr>
                <a:lnSpc>
                  <a:spcPts val="8496"/>
                </a:lnSpc>
              </a:pPr>
              <a:r>
                <a:rPr lang="en-US" sz="7080" spc="708" dirty="0">
                  <a:solidFill>
                    <a:srgbClr val="04345C"/>
                  </a:solidFill>
                  <a:latin typeface="Glacial Indifference Bold"/>
                </a:rPr>
                <a:t>INTRODUCTION</a:t>
              </a:r>
            </a:p>
          </p:txBody>
        </p:sp>
        <p:sp>
          <p:nvSpPr>
            <p:cNvPr id="12" name="TextBox 12"/>
            <p:cNvSpPr txBox="1"/>
            <p:nvPr/>
          </p:nvSpPr>
          <p:spPr>
            <a:xfrm>
              <a:off x="0" y="1748993"/>
              <a:ext cx="22479886" cy="10528265"/>
            </a:xfrm>
            <a:prstGeom prst="rect">
              <a:avLst/>
            </a:prstGeom>
          </p:spPr>
          <p:txBody>
            <a:bodyPr lIns="0" tIns="0" rIns="0" bIns="0" rtlCol="0" anchor="t">
              <a:spAutoFit/>
            </a:bodyPr>
            <a:lstStyle/>
            <a:p>
              <a:r>
                <a:rPr lang="en-IN" sz="2800" dirty="0">
                  <a:solidFill>
                    <a:schemeClr val="tx2"/>
                  </a:solidFill>
                  <a:latin typeface="Times New Roman" panose="02020603050405020304" pitchFamily="18" charset="0"/>
                  <a:cs typeface="Times New Roman" panose="02020603050405020304" pitchFamily="18" charset="0"/>
                </a:rPr>
                <a:t>In today’s competitive world, the recruitment process has become a crucial activity for both employers and job seekers. Traditional methods of job searching and hiring, such as newspaper advertisements or offline recruitment agencies, are often time-consuming, inefficient, and limited in reach. To overcome these challenges, online job portals have emerged as a practical solution, providing a digital platform that connects job seekers with potential employers.</a:t>
              </a:r>
            </a:p>
            <a:p>
              <a:r>
                <a:rPr lang="en-IN" sz="2800" dirty="0">
                  <a:solidFill>
                    <a:schemeClr val="tx2"/>
                  </a:solidFill>
                  <a:latin typeface="Times New Roman" panose="02020603050405020304" pitchFamily="18" charset="0"/>
                  <a:cs typeface="Times New Roman" panose="02020603050405020304" pitchFamily="18" charset="0"/>
                </a:rPr>
                <a:t>The proposed “Job Portal (Web Application)” aims to simplify and streamline the hiring process by enabling employers to post job vacancies and candidates to search, apply, and track opportunities online. The system is designed with a user-friendly interface, ensuring easy accessibility for both parties. Job seekers can create profiles, upload resumes, and search for jobs based on criteria such as skills, domain, and location, while employers can manage company profiles and post job requirements effectively.</a:t>
              </a:r>
              <a:br>
                <a:rPr lang="en-IN" sz="2800" dirty="0">
                  <a:solidFill>
                    <a:schemeClr val="tx2"/>
                  </a:solidFill>
                  <a:latin typeface="Times New Roman" panose="02020603050405020304" pitchFamily="18" charset="0"/>
                  <a:cs typeface="Times New Roman" panose="02020603050405020304" pitchFamily="18" charset="0"/>
                </a:rPr>
              </a:br>
              <a:endParaRPr lang="en-IN" sz="2800" dirty="0">
                <a:solidFill>
                  <a:schemeClr val="tx2"/>
                </a:solidFill>
                <a:latin typeface="Times New Roman" panose="02020603050405020304" pitchFamily="18" charset="0"/>
                <a:cs typeface="Times New Roman" panose="02020603050405020304" pitchFamily="18" charset="0"/>
              </a:endParaRPr>
            </a:p>
            <a:p>
              <a:r>
                <a:rPr lang="en-IN" sz="2800" dirty="0">
                  <a:solidFill>
                    <a:schemeClr val="tx2"/>
                  </a:solidFill>
                  <a:latin typeface="Times New Roman" panose="02020603050405020304" pitchFamily="18" charset="0"/>
                  <a:cs typeface="Times New Roman" panose="02020603050405020304" pitchFamily="18" charset="0"/>
                </a:rPr>
                <a:t>This project demonstrates the application of modern software development techniques, integrating frontend, backend, and database technologies. It not only provides a basic recruitment platform but also lays the foundation for advanced features such as AI-based job recommendations, resume parsing, and secure communication between candidates and employers.</a:t>
              </a:r>
              <a:br>
                <a:rPr lang="en-IN" sz="2800" dirty="0">
                  <a:solidFill>
                    <a:schemeClr val="tx2"/>
                  </a:solidFill>
                  <a:latin typeface="Times New Roman" panose="02020603050405020304" pitchFamily="18" charset="0"/>
                  <a:cs typeface="Times New Roman" panose="02020603050405020304" pitchFamily="18" charset="0"/>
                </a:rPr>
              </a:br>
              <a:endParaRPr lang="en-IN" sz="2800" dirty="0">
                <a:solidFill>
                  <a:schemeClr val="tx2"/>
                </a:solidFill>
                <a:latin typeface="Times New Roman" panose="02020603050405020304" pitchFamily="18" charset="0"/>
                <a:cs typeface="Times New Roman" panose="02020603050405020304" pitchFamily="18" charset="0"/>
              </a:endParaRPr>
            </a:p>
            <a:p>
              <a:r>
                <a:rPr lang="en-IN" sz="2800" dirty="0">
                  <a:solidFill>
                    <a:schemeClr val="tx2"/>
                  </a:solidFill>
                  <a:latin typeface="Times New Roman" panose="02020603050405020304" pitchFamily="18" charset="0"/>
                  <a:cs typeface="Times New Roman" panose="02020603050405020304" pitchFamily="18" charset="0"/>
                </a:rPr>
                <a:t>By implementing this system, the recruitment process becomes faster, more transparent, and accessible, thus benefiting both job seekers and organizations in achieving their objectives.</a:t>
              </a:r>
            </a:p>
            <a:p>
              <a:pPr marL="304074" lvl="1" algn="just">
                <a:lnSpc>
                  <a:spcPts val="5525"/>
                </a:lnSpc>
              </a:pPr>
              <a:endParaRPr lang="en-US" sz="1400" dirty="0">
                <a:solidFill>
                  <a:srgbClr val="04345C"/>
                </a:solidFill>
                <a:latin typeface="Times New Roman" panose="02020603050405020304" pitchFamily="18" charset="0"/>
                <a:cs typeface="Times New Roman" panose="02020603050405020304" pitchFamily="18" charset="0"/>
              </a:endParaRPr>
            </a:p>
          </p:txBody>
        </p:sp>
      </p:grpSp>
      <p:sp>
        <p:nvSpPr>
          <p:cNvPr id="13" name="Freeform 13"/>
          <p:cNvSpPr/>
          <p:nvPr/>
        </p:nvSpPr>
        <p:spPr>
          <a:xfrm rot="355960">
            <a:off x="17438639" y="7418650"/>
            <a:ext cx="2410762" cy="2498199"/>
          </a:xfrm>
          <a:custGeom>
            <a:avLst/>
            <a:gdLst/>
            <a:ahLst/>
            <a:cxnLst/>
            <a:rect l="l" t="t" r="r" b="b"/>
            <a:pathLst>
              <a:path w="2410762" h="2498199">
                <a:moveTo>
                  <a:pt x="0" y="0"/>
                </a:moveTo>
                <a:lnTo>
                  <a:pt x="2410762" y="0"/>
                </a:lnTo>
                <a:lnTo>
                  <a:pt x="2410762" y="2498200"/>
                </a:lnTo>
                <a:lnTo>
                  <a:pt x="0" y="2498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5692641">
            <a:off x="1859542" y="-2559242"/>
            <a:ext cx="14137151" cy="14649897"/>
          </a:xfrm>
          <a:custGeom>
            <a:avLst/>
            <a:gdLst/>
            <a:ahLst/>
            <a:cxnLst/>
            <a:rect l="l" t="t" r="r" b="b"/>
            <a:pathLst>
              <a:path w="14137151" h="14649897">
                <a:moveTo>
                  <a:pt x="0" y="0"/>
                </a:moveTo>
                <a:lnTo>
                  <a:pt x="14137151" y="0"/>
                </a:lnTo>
                <a:lnTo>
                  <a:pt x="14137151" y="14649897"/>
                </a:lnTo>
                <a:lnTo>
                  <a:pt x="0" y="1464989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a:off x="-1816729" y="5468715"/>
            <a:ext cx="5328508" cy="5521770"/>
          </a:xfrm>
          <a:custGeom>
            <a:avLst/>
            <a:gdLst/>
            <a:ahLst/>
            <a:cxnLst/>
            <a:rect l="l" t="t" r="r" b="b"/>
            <a:pathLst>
              <a:path w="5328508" h="5521770">
                <a:moveTo>
                  <a:pt x="0" y="0"/>
                </a:moveTo>
                <a:lnTo>
                  <a:pt x="5328508" y="0"/>
                </a:lnTo>
                <a:lnTo>
                  <a:pt x="5328508" y="5521770"/>
                </a:lnTo>
                <a:lnTo>
                  <a:pt x="0" y="552177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648884" y="8667750"/>
            <a:ext cx="2306858" cy="2390526"/>
          </a:xfrm>
          <a:custGeom>
            <a:avLst/>
            <a:gdLst/>
            <a:ahLst/>
            <a:cxnLst/>
            <a:rect l="l" t="t" r="r" b="b"/>
            <a:pathLst>
              <a:path w="2306858" h="2390526">
                <a:moveTo>
                  <a:pt x="0" y="0"/>
                </a:moveTo>
                <a:lnTo>
                  <a:pt x="2306858" y="0"/>
                </a:lnTo>
                <a:lnTo>
                  <a:pt x="2306858" y="2390526"/>
                </a:lnTo>
                <a:lnTo>
                  <a:pt x="0" y="23905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2700000">
            <a:off x="12967898" y="-2126071"/>
            <a:ext cx="6088708" cy="6309542"/>
          </a:xfrm>
          <a:custGeom>
            <a:avLst/>
            <a:gdLst/>
            <a:ahLst/>
            <a:cxnLst/>
            <a:rect l="l" t="t" r="r" b="b"/>
            <a:pathLst>
              <a:path w="6088708" h="6309542">
                <a:moveTo>
                  <a:pt x="0" y="0"/>
                </a:moveTo>
                <a:lnTo>
                  <a:pt x="6088708" y="0"/>
                </a:lnTo>
                <a:lnTo>
                  <a:pt x="6088708" y="6309542"/>
                </a:lnTo>
                <a:lnTo>
                  <a:pt x="0" y="6309542"/>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rot="6449029">
            <a:off x="16729013" y="2010975"/>
            <a:ext cx="1828804" cy="1895134"/>
          </a:xfrm>
          <a:custGeom>
            <a:avLst/>
            <a:gdLst/>
            <a:ahLst/>
            <a:cxnLst/>
            <a:rect l="l" t="t" r="r" b="b"/>
            <a:pathLst>
              <a:path w="1828804" h="1895134">
                <a:moveTo>
                  <a:pt x="0" y="0"/>
                </a:moveTo>
                <a:lnTo>
                  <a:pt x="1828804" y="0"/>
                </a:lnTo>
                <a:lnTo>
                  <a:pt x="1828804" y="1895134"/>
                </a:lnTo>
                <a:lnTo>
                  <a:pt x="0" y="18951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7" name="Group 7"/>
          <p:cNvGrpSpPr/>
          <p:nvPr/>
        </p:nvGrpSpPr>
        <p:grpSpPr>
          <a:xfrm>
            <a:off x="16687800" y="1028700"/>
            <a:ext cx="571500" cy="571500"/>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9" name="Group 9"/>
          <p:cNvGrpSpPr/>
          <p:nvPr/>
        </p:nvGrpSpPr>
        <p:grpSpPr>
          <a:xfrm>
            <a:off x="-152400" y="8077200"/>
            <a:ext cx="1181100" cy="11811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11" name="Group 11"/>
          <p:cNvGrpSpPr/>
          <p:nvPr/>
        </p:nvGrpSpPr>
        <p:grpSpPr>
          <a:xfrm>
            <a:off x="1247150" y="688906"/>
            <a:ext cx="16189587" cy="1773888"/>
            <a:chOff x="-41825" y="171450"/>
            <a:chExt cx="21586115" cy="2365184"/>
          </a:xfrm>
        </p:grpSpPr>
        <p:sp>
          <p:nvSpPr>
            <p:cNvPr id="12" name="TextBox 12"/>
            <p:cNvSpPr txBox="1"/>
            <p:nvPr/>
          </p:nvSpPr>
          <p:spPr>
            <a:xfrm>
              <a:off x="0" y="171450"/>
              <a:ext cx="21544290" cy="1521187"/>
            </a:xfrm>
            <a:prstGeom prst="rect">
              <a:avLst/>
            </a:prstGeom>
          </p:spPr>
          <p:txBody>
            <a:bodyPr lIns="0" tIns="0" rIns="0" bIns="0" rtlCol="0" anchor="t">
              <a:spAutoFit/>
            </a:bodyPr>
            <a:lstStyle/>
            <a:p>
              <a:pPr algn="ctr">
                <a:lnSpc>
                  <a:spcPts val="8799"/>
                </a:lnSpc>
              </a:pPr>
              <a:r>
                <a:rPr lang="en-IN" sz="8000" b="1" dirty="0">
                  <a:solidFill>
                    <a:srgbClr val="6BD4CD"/>
                  </a:solidFill>
                  <a:latin typeface="Times New Roman" panose="02020603050405020304" pitchFamily="18" charset="0"/>
                  <a:cs typeface="Times New Roman" panose="02020603050405020304" pitchFamily="18" charset="0"/>
                </a:rPr>
                <a:t>Problem Description</a:t>
              </a:r>
              <a:endParaRPr lang="en-US" sz="8000" b="1" spc="879" dirty="0">
                <a:solidFill>
                  <a:srgbClr val="6BD4CD"/>
                </a:solidFill>
                <a:latin typeface="Times New Roman" panose="02020603050405020304" pitchFamily="18" charset="0"/>
                <a:cs typeface="Times New Roman" panose="02020603050405020304" pitchFamily="18" charset="0"/>
              </a:endParaRPr>
            </a:p>
          </p:txBody>
        </p:sp>
        <p:sp>
          <p:nvSpPr>
            <p:cNvPr id="13" name="TextBox 13"/>
            <p:cNvSpPr txBox="1"/>
            <p:nvPr/>
          </p:nvSpPr>
          <p:spPr>
            <a:xfrm>
              <a:off x="-41825" y="1805114"/>
              <a:ext cx="21544290" cy="731520"/>
            </a:xfrm>
            <a:prstGeom prst="rect">
              <a:avLst/>
            </a:prstGeom>
          </p:spPr>
          <p:txBody>
            <a:bodyPr lIns="0" tIns="0" rIns="0" bIns="0" rtlCol="0" anchor="t">
              <a:spAutoFit/>
            </a:bodyPr>
            <a:lstStyle/>
            <a:p>
              <a:pPr algn="ctr">
                <a:lnSpc>
                  <a:spcPts val="4320"/>
                </a:lnSpc>
              </a:pPr>
              <a:endParaRPr lang="en-US" sz="3600" spc="359" dirty="0">
                <a:solidFill>
                  <a:srgbClr val="6BD4CD"/>
                </a:solidFill>
                <a:latin typeface="Glacial Indifference"/>
              </a:endParaRPr>
            </a:p>
          </p:txBody>
        </p:sp>
      </p:grpSp>
      <p:sp>
        <p:nvSpPr>
          <p:cNvPr id="15" name="TextBox 14">
            <a:extLst>
              <a:ext uri="{FF2B5EF4-FFF2-40B4-BE49-F238E27FC236}">
                <a16:creationId xmlns:a16="http://schemas.microsoft.com/office/drawing/2014/main" id="{BAD5B573-9EF0-2976-2D72-C127A9DFE6BA}"/>
              </a:ext>
            </a:extLst>
          </p:cNvPr>
          <p:cNvSpPr txBox="1"/>
          <p:nvPr/>
        </p:nvSpPr>
        <p:spPr>
          <a:xfrm>
            <a:off x="648884" y="2324100"/>
            <a:ext cx="16038916" cy="5831853"/>
          </a:xfrm>
          <a:prstGeom prst="rect">
            <a:avLst/>
          </a:prstGeom>
          <a:noFill/>
        </p:spPr>
        <p:txBody>
          <a:bodyPr wrap="square" rtlCol="0">
            <a:spAutoFit/>
          </a:bodyPr>
          <a:lstStyle/>
          <a:p>
            <a:pPr marL="139700" lvl="0">
              <a:lnSpc>
                <a:spcPct val="150000"/>
              </a:lnSpc>
              <a:spcBef>
                <a:spcPts val="600"/>
              </a:spcBef>
              <a:buSzPts val="1400"/>
            </a:pPr>
            <a:r>
              <a:rPr lang="en-IN" sz="2800" dirty="0">
                <a:solidFill>
                  <a:schemeClr val="bg1"/>
                </a:solidFill>
                <a:latin typeface="Times New Roman" panose="02020603050405020304" pitchFamily="18" charset="0"/>
                <a:cs typeface="Times New Roman" panose="02020603050405020304" pitchFamily="18" charset="0"/>
              </a:rPr>
              <a:t>In the traditional recruitment process, job seekers rely on newspapers, employment agencies, or personal networks to find opportunities, while employers often face difficulties in reaching suitable candidates. These methods are time-consuming, costly, and lack transparency. Additionally, job seekers cannot easily track their applications, and employers struggle with managing large volumes of resumes offline.</a:t>
            </a:r>
            <a:br>
              <a:rPr lang="en-IN" sz="2800" dirty="0">
                <a:solidFill>
                  <a:schemeClr val="bg1"/>
                </a:solidFill>
                <a:latin typeface="Times New Roman" panose="02020603050405020304" pitchFamily="18" charset="0"/>
                <a:cs typeface="Times New Roman" panose="02020603050405020304" pitchFamily="18" charset="0"/>
              </a:rPr>
            </a:br>
            <a:endParaRPr lang="en-IN" sz="2800"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IN" sz="2800" dirty="0">
                <a:solidFill>
                  <a:schemeClr val="bg1"/>
                </a:solidFill>
                <a:latin typeface="Times New Roman" panose="02020603050405020304" pitchFamily="18" charset="0"/>
                <a:cs typeface="Times New Roman" panose="02020603050405020304" pitchFamily="18" charset="0"/>
              </a:rPr>
              <a:t>To overcome these challenges, the </a:t>
            </a:r>
            <a:r>
              <a:rPr lang="en-IN" sz="2800" b="1" dirty="0">
                <a:solidFill>
                  <a:schemeClr val="bg1"/>
                </a:solidFill>
                <a:latin typeface="Times New Roman" panose="02020603050405020304" pitchFamily="18" charset="0"/>
                <a:cs typeface="Times New Roman" panose="02020603050405020304" pitchFamily="18" charset="0"/>
              </a:rPr>
              <a:t>Job Portal (Web Application)</a:t>
            </a:r>
            <a:r>
              <a:rPr lang="en-IN" sz="2800" dirty="0">
                <a:solidFill>
                  <a:schemeClr val="bg1"/>
                </a:solidFill>
                <a:latin typeface="Times New Roman" panose="02020603050405020304" pitchFamily="18" charset="0"/>
                <a:cs typeface="Times New Roman" panose="02020603050405020304" pitchFamily="18" charset="0"/>
              </a:rPr>
              <a:t> is proposed as an online solution. It provides a centralized platform where job seekers and employers can interact. Job seekers can register, create profiles, upload resumes, and apply for jobs. Employers can post vacancies, review applications, and manage company information. The system reduces manual effort, increases transparency, and enhances accessibility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2700000">
            <a:off x="15243511" y="-1356315"/>
            <a:ext cx="4603079" cy="4770030"/>
          </a:xfrm>
          <a:custGeom>
            <a:avLst/>
            <a:gdLst/>
            <a:ahLst/>
            <a:cxnLst/>
            <a:rect l="l" t="t" r="r" b="b"/>
            <a:pathLst>
              <a:path w="4603079" h="4770030">
                <a:moveTo>
                  <a:pt x="0" y="0"/>
                </a:moveTo>
                <a:lnTo>
                  <a:pt x="4603078" y="0"/>
                </a:lnTo>
                <a:lnTo>
                  <a:pt x="4603078" y="4770030"/>
                </a:lnTo>
                <a:lnTo>
                  <a:pt x="0" y="477003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2887577">
            <a:off x="-92735" y="5353049"/>
            <a:ext cx="5766719" cy="5975875"/>
          </a:xfrm>
          <a:custGeom>
            <a:avLst/>
            <a:gdLst/>
            <a:ahLst/>
            <a:cxnLst/>
            <a:rect l="l" t="t" r="r" b="b"/>
            <a:pathLst>
              <a:path w="5766719" h="5975875">
                <a:moveTo>
                  <a:pt x="0" y="0"/>
                </a:moveTo>
                <a:lnTo>
                  <a:pt x="5766719" y="0"/>
                </a:lnTo>
                <a:lnTo>
                  <a:pt x="5766719" y="5975874"/>
                </a:lnTo>
                <a:lnTo>
                  <a:pt x="0" y="5975874"/>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8904887">
            <a:off x="8268344" y="1201499"/>
            <a:ext cx="9078721" cy="9408001"/>
          </a:xfrm>
          <a:custGeom>
            <a:avLst/>
            <a:gdLst/>
            <a:ahLst/>
            <a:cxnLst/>
            <a:rect l="l" t="t" r="r" b="b"/>
            <a:pathLst>
              <a:path w="9078721" h="9408001">
                <a:moveTo>
                  <a:pt x="0" y="0"/>
                </a:moveTo>
                <a:lnTo>
                  <a:pt x="9078721" y="0"/>
                </a:lnTo>
                <a:lnTo>
                  <a:pt x="9078721" y="9408002"/>
                </a:lnTo>
                <a:lnTo>
                  <a:pt x="0" y="94080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7" name="Group 7"/>
          <p:cNvGrpSpPr/>
          <p:nvPr/>
        </p:nvGrpSpPr>
        <p:grpSpPr>
          <a:xfrm>
            <a:off x="3485664" y="249824"/>
            <a:ext cx="1348756" cy="1348756"/>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9" name="Group 9"/>
          <p:cNvGrpSpPr/>
          <p:nvPr/>
        </p:nvGrpSpPr>
        <p:grpSpPr>
          <a:xfrm>
            <a:off x="16973550" y="742950"/>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11" name="Group 11"/>
          <p:cNvGrpSpPr/>
          <p:nvPr/>
        </p:nvGrpSpPr>
        <p:grpSpPr>
          <a:xfrm>
            <a:off x="782948" y="1314450"/>
            <a:ext cx="10342251" cy="4591050"/>
            <a:chOff x="0" y="-2281679"/>
            <a:chExt cx="9442545" cy="1508189"/>
          </a:xfrm>
        </p:grpSpPr>
        <p:sp>
          <p:nvSpPr>
            <p:cNvPr id="12" name="TextBox 12"/>
            <p:cNvSpPr txBox="1"/>
            <p:nvPr/>
          </p:nvSpPr>
          <p:spPr>
            <a:xfrm>
              <a:off x="0" y="-2281679"/>
              <a:ext cx="8995369" cy="735244"/>
            </a:xfrm>
            <a:prstGeom prst="rect">
              <a:avLst/>
            </a:prstGeom>
          </p:spPr>
          <p:txBody>
            <a:bodyPr lIns="0" tIns="0" rIns="0" bIns="0" rtlCol="0" anchor="t">
              <a:spAutoFit/>
            </a:bodyPr>
            <a:lstStyle/>
            <a:p>
              <a:pPr algn="ctr">
                <a:lnSpc>
                  <a:spcPts val="4320"/>
                </a:lnSpc>
              </a:pPr>
              <a:endParaRPr lang="en-US" sz="3600" spc="359" dirty="0">
                <a:solidFill>
                  <a:srgbClr val="04345C"/>
                </a:solidFill>
                <a:latin typeface="Glacial Indifference"/>
              </a:endParaRPr>
            </a:p>
          </p:txBody>
        </p:sp>
        <p:sp>
          <p:nvSpPr>
            <p:cNvPr id="13" name="TextBox 13"/>
            <p:cNvSpPr txBox="1"/>
            <p:nvPr/>
          </p:nvSpPr>
          <p:spPr>
            <a:xfrm>
              <a:off x="447176" y="-1312099"/>
              <a:ext cx="8995369" cy="538609"/>
            </a:xfrm>
            <a:prstGeom prst="rect">
              <a:avLst/>
            </a:prstGeom>
          </p:spPr>
          <p:txBody>
            <a:bodyPr lIns="0" tIns="0" rIns="0" bIns="0" rtlCol="0" anchor="t">
              <a:spAutoFit/>
            </a:bodyPr>
            <a:lstStyle/>
            <a:p>
              <a:pPr algn="ctr">
                <a:lnSpc>
                  <a:spcPts val="3600"/>
                </a:lnSpc>
              </a:pPr>
              <a:endParaRPr lang="en-IN" dirty="0">
                <a:solidFill>
                  <a:srgbClr val="3B5F80"/>
                </a:solidFill>
                <a:latin typeface="Glacial Indifference" panose="020B0604020202020204" charset="0"/>
                <a:ea typeface="Times New Roman" panose="02020603050405020304" pitchFamily="18" charset="0"/>
              </a:endParaRPr>
            </a:p>
          </p:txBody>
        </p:sp>
      </p:grpSp>
      <p:grpSp>
        <p:nvGrpSpPr>
          <p:cNvPr id="14" name="Group 14"/>
          <p:cNvGrpSpPr/>
          <p:nvPr/>
        </p:nvGrpSpPr>
        <p:grpSpPr>
          <a:xfrm>
            <a:off x="10694761" y="3454480"/>
            <a:ext cx="7072790" cy="1072358"/>
            <a:chOff x="0" y="0"/>
            <a:chExt cx="9430387" cy="1429810"/>
          </a:xfrm>
        </p:grpSpPr>
        <p:sp>
          <p:nvSpPr>
            <p:cNvPr id="15" name="TextBox 15"/>
            <p:cNvSpPr txBox="1"/>
            <p:nvPr/>
          </p:nvSpPr>
          <p:spPr>
            <a:xfrm>
              <a:off x="0" y="0"/>
              <a:ext cx="9430387" cy="735244"/>
            </a:xfrm>
            <a:prstGeom prst="rect">
              <a:avLst/>
            </a:prstGeom>
          </p:spPr>
          <p:txBody>
            <a:bodyPr lIns="0" tIns="0" rIns="0" bIns="0" rtlCol="0" anchor="t">
              <a:spAutoFit/>
            </a:bodyPr>
            <a:lstStyle/>
            <a:p>
              <a:pPr algn="ctr">
                <a:lnSpc>
                  <a:spcPts val="4320"/>
                </a:lnSpc>
              </a:pPr>
              <a:endParaRPr lang="en-US" sz="3600" spc="359" dirty="0">
                <a:solidFill>
                  <a:srgbClr val="04345C"/>
                </a:solidFill>
                <a:latin typeface="Glacial Indifference"/>
              </a:endParaRPr>
            </a:p>
          </p:txBody>
        </p:sp>
        <p:sp>
          <p:nvSpPr>
            <p:cNvPr id="16" name="TextBox 16"/>
            <p:cNvSpPr txBox="1"/>
            <p:nvPr/>
          </p:nvSpPr>
          <p:spPr>
            <a:xfrm>
              <a:off x="0" y="882651"/>
              <a:ext cx="9430387" cy="547159"/>
            </a:xfrm>
            <a:prstGeom prst="rect">
              <a:avLst/>
            </a:prstGeom>
          </p:spPr>
          <p:txBody>
            <a:bodyPr lIns="0" tIns="0" rIns="0" bIns="0" rtlCol="0" anchor="t">
              <a:spAutoFit/>
            </a:bodyPr>
            <a:lstStyle/>
            <a:p>
              <a:pPr algn="just">
                <a:lnSpc>
                  <a:spcPct val="150000"/>
                </a:lnSpc>
                <a:spcAft>
                  <a:spcPts val="800"/>
                </a:spcAft>
              </a:pPr>
              <a:endParaRPr lang="en-IN" sz="2000" dirty="0">
                <a:solidFill>
                  <a:srgbClr val="3B5F80"/>
                </a:solidFill>
                <a:effectLst/>
                <a:latin typeface="Glacial Indifference" panose="020B0604020202020204" charset="0"/>
                <a:ea typeface="Calibri" panose="020F0502020204030204" pitchFamily="34" charset="0"/>
                <a:cs typeface="Times New Roman" panose="02020603050405020304" pitchFamily="18" charset="0"/>
              </a:endParaRPr>
            </a:p>
          </p:txBody>
        </p:sp>
      </p:grpSp>
      <p:sp>
        <p:nvSpPr>
          <p:cNvPr id="17" name="Freeform 17"/>
          <p:cNvSpPr/>
          <p:nvPr/>
        </p:nvSpPr>
        <p:spPr>
          <a:xfrm rot="-5780817">
            <a:off x="15156397" y="-969796"/>
            <a:ext cx="1697903" cy="1759485"/>
          </a:xfrm>
          <a:custGeom>
            <a:avLst/>
            <a:gdLst/>
            <a:ahLst/>
            <a:cxnLst/>
            <a:rect l="l" t="t" r="r" b="b"/>
            <a:pathLst>
              <a:path w="1697903" h="1759485">
                <a:moveTo>
                  <a:pt x="0" y="0"/>
                </a:moveTo>
                <a:lnTo>
                  <a:pt x="1697903" y="0"/>
                </a:lnTo>
                <a:lnTo>
                  <a:pt x="1697903" y="1759485"/>
                </a:lnTo>
                <a:lnTo>
                  <a:pt x="0" y="17594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0" name="TextBox 19">
            <a:extLst>
              <a:ext uri="{FF2B5EF4-FFF2-40B4-BE49-F238E27FC236}">
                <a16:creationId xmlns:a16="http://schemas.microsoft.com/office/drawing/2014/main" id="{8EA559C0-FF56-880D-3A16-8E782DD2F0E9}"/>
              </a:ext>
            </a:extLst>
          </p:cNvPr>
          <p:cNvSpPr txBox="1"/>
          <p:nvPr/>
        </p:nvSpPr>
        <p:spPr>
          <a:xfrm>
            <a:off x="742950" y="0"/>
            <a:ext cx="15096732" cy="8679299"/>
          </a:xfrm>
          <a:prstGeom prst="rect">
            <a:avLst/>
          </a:prstGeom>
          <a:noFill/>
        </p:spPr>
        <p:txBody>
          <a:bodyPr wrap="square" rtlCol="0">
            <a:spAutoFit/>
          </a:bodyPr>
          <a:lstStyle/>
          <a:p>
            <a:pPr algn="ctr">
              <a:spcAft>
                <a:spcPts val="1200"/>
              </a:spcAft>
            </a:pPr>
            <a:r>
              <a:rPr lang="en-IN" sz="6000" dirty="0">
                <a:solidFill>
                  <a:srgbClr val="6BD4CD"/>
                </a:solidFill>
                <a:latin typeface="Times New Roman" panose="02020603050405020304" pitchFamily="18" charset="0"/>
                <a:cs typeface="Times New Roman" panose="02020603050405020304" pitchFamily="18" charset="0"/>
              </a:rPr>
              <a:t>Module Description</a:t>
            </a:r>
          </a:p>
          <a:p>
            <a:r>
              <a:rPr lang="en-IN" sz="3200" b="1" dirty="0">
                <a:solidFill>
                  <a:schemeClr val="accent1"/>
                </a:solidFill>
                <a:latin typeface="Times New Roman" panose="02020603050405020304" pitchFamily="18" charset="0"/>
                <a:cs typeface="Times New Roman" panose="02020603050405020304" pitchFamily="18" charset="0"/>
              </a:rPr>
              <a:t>Job Seeker Module</a:t>
            </a:r>
            <a:endParaRPr lang="en-IN" sz="3200" dirty="0">
              <a:solidFill>
                <a:schemeClr val="accent1"/>
              </a:solidFill>
              <a:latin typeface="Times New Roman" panose="02020603050405020304" pitchFamily="18" charset="0"/>
              <a:cs typeface="Times New Roman" panose="02020603050405020304" pitchFamily="18" charset="0"/>
            </a:endParaRPr>
          </a:p>
          <a:p>
            <a:pPr lvl="0"/>
            <a:r>
              <a:rPr lang="en-IN" sz="2800" dirty="0">
                <a:solidFill>
                  <a:schemeClr val="bg1"/>
                </a:solidFill>
                <a:latin typeface="Times New Roman" panose="02020603050405020304" pitchFamily="18" charset="0"/>
                <a:cs typeface="Times New Roman" panose="02020603050405020304" pitchFamily="18" charset="0"/>
              </a:rPr>
              <a:t>Register and login to the system.</a:t>
            </a:r>
          </a:p>
          <a:p>
            <a:pPr lvl="0"/>
            <a:r>
              <a:rPr lang="en-IN" sz="2800" dirty="0">
                <a:solidFill>
                  <a:schemeClr val="bg1"/>
                </a:solidFill>
                <a:latin typeface="Times New Roman" panose="02020603050405020304" pitchFamily="18" charset="0"/>
                <a:cs typeface="Times New Roman" panose="02020603050405020304" pitchFamily="18" charset="0"/>
              </a:rPr>
              <a:t>Create and manage profile including personal details, skills, and resume.</a:t>
            </a:r>
          </a:p>
          <a:p>
            <a:pPr lvl="0"/>
            <a:r>
              <a:rPr lang="en-IN" sz="2800" dirty="0">
                <a:solidFill>
                  <a:schemeClr val="bg1"/>
                </a:solidFill>
                <a:latin typeface="Times New Roman" panose="02020603050405020304" pitchFamily="18" charset="0"/>
                <a:cs typeface="Times New Roman" panose="02020603050405020304" pitchFamily="18" charset="0"/>
              </a:rPr>
              <a:t>Search for jobs by title, location, or skill.</a:t>
            </a:r>
          </a:p>
          <a:p>
            <a:pPr lvl="0"/>
            <a:r>
              <a:rPr lang="en-IN" sz="2800" dirty="0">
                <a:solidFill>
                  <a:schemeClr val="bg1"/>
                </a:solidFill>
                <a:latin typeface="Times New Roman" panose="02020603050405020304" pitchFamily="18" charset="0"/>
                <a:cs typeface="Times New Roman" panose="02020603050405020304" pitchFamily="18" charset="0"/>
              </a:rPr>
              <a:t>Apply for jobs and track application status.</a:t>
            </a:r>
          </a:p>
          <a:p>
            <a:pPr lvl="0"/>
            <a:endParaRPr lang="en-IN" sz="3200" b="1" dirty="0">
              <a:solidFill>
                <a:schemeClr val="bg1"/>
              </a:solidFill>
              <a:latin typeface="Times New Roman" panose="02020603050405020304" pitchFamily="18" charset="0"/>
              <a:cs typeface="Times New Roman" panose="02020603050405020304" pitchFamily="18" charset="0"/>
            </a:endParaRPr>
          </a:p>
          <a:p>
            <a:pPr lvl="0"/>
            <a:r>
              <a:rPr lang="en-IN" sz="3200" b="1" dirty="0">
                <a:solidFill>
                  <a:schemeClr val="accent1"/>
                </a:solidFill>
                <a:latin typeface="Times New Roman" panose="02020603050405020304" pitchFamily="18" charset="0"/>
                <a:cs typeface="Times New Roman" panose="02020603050405020304" pitchFamily="18" charset="0"/>
              </a:rPr>
              <a:t>Employer Module</a:t>
            </a:r>
            <a:endParaRPr lang="en-IN" sz="3200" dirty="0">
              <a:solidFill>
                <a:schemeClr val="accent1"/>
              </a:solidFill>
              <a:latin typeface="Times New Roman" panose="02020603050405020304" pitchFamily="18" charset="0"/>
              <a:cs typeface="Times New Roman" panose="02020603050405020304" pitchFamily="18" charset="0"/>
            </a:endParaRPr>
          </a:p>
          <a:p>
            <a:r>
              <a:rPr lang="en-IN" sz="3200" b="1" dirty="0">
                <a:solidFill>
                  <a:schemeClr val="bg1"/>
                </a:solidFill>
                <a:latin typeface="Times New Roman" panose="02020603050405020304" pitchFamily="18" charset="0"/>
                <a:cs typeface="Times New Roman" panose="02020603050405020304" pitchFamily="18" charset="0"/>
              </a:rPr>
              <a:t> </a:t>
            </a:r>
            <a:r>
              <a:rPr lang="en-IN" sz="2800" dirty="0">
                <a:solidFill>
                  <a:schemeClr val="bg1"/>
                </a:solidFill>
                <a:latin typeface="Times New Roman" panose="02020603050405020304" pitchFamily="18" charset="0"/>
                <a:cs typeface="Times New Roman" panose="02020603050405020304" pitchFamily="18" charset="0"/>
              </a:rPr>
              <a:t>Register and login as an employer.</a:t>
            </a:r>
          </a:p>
          <a:p>
            <a:pPr lvl="0"/>
            <a:r>
              <a:rPr lang="en-IN" sz="2800" dirty="0">
                <a:solidFill>
                  <a:schemeClr val="bg1"/>
                </a:solidFill>
                <a:latin typeface="Times New Roman" panose="02020603050405020304" pitchFamily="18" charset="0"/>
                <a:cs typeface="Times New Roman" panose="02020603050405020304" pitchFamily="18" charset="0"/>
              </a:rPr>
              <a:t>Create and manage company profile.</a:t>
            </a:r>
          </a:p>
          <a:p>
            <a:pPr lvl="0"/>
            <a:r>
              <a:rPr lang="en-IN" sz="2800" dirty="0">
                <a:solidFill>
                  <a:schemeClr val="bg1"/>
                </a:solidFill>
                <a:latin typeface="Times New Roman" panose="02020603050405020304" pitchFamily="18" charset="0"/>
                <a:cs typeface="Times New Roman" panose="02020603050405020304" pitchFamily="18" charset="0"/>
              </a:rPr>
              <a:t>Post new job vacancies with detailed requirements.</a:t>
            </a:r>
          </a:p>
          <a:p>
            <a:pPr lvl="0"/>
            <a:r>
              <a:rPr lang="en-IN" sz="2800" dirty="0">
                <a:solidFill>
                  <a:schemeClr val="bg1"/>
                </a:solidFill>
                <a:latin typeface="Times New Roman" panose="02020603050405020304" pitchFamily="18" charset="0"/>
                <a:cs typeface="Times New Roman" panose="02020603050405020304" pitchFamily="18" charset="0"/>
              </a:rPr>
              <a:t>View applications and shortlist candidates.</a:t>
            </a:r>
          </a:p>
          <a:p>
            <a:pPr lvl="0">
              <a:lnSpc>
                <a:spcPct val="150000"/>
              </a:lnSpc>
            </a:pPr>
            <a:endParaRPr lang="en-IN" sz="3200" b="1" dirty="0">
              <a:solidFill>
                <a:schemeClr val="accent1"/>
              </a:solidFill>
              <a:latin typeface="Times New Roman" panose="02020603050405020304" pitchFamily="18" charset="0"/>
              <a:cs typeface="Times New Roman" panose="02020603050405020304" pitchFamily="18" charset="0"/>
            </a:endParaRPr>
          </a:p>
          <a:p>
            <a:pPr lvl="0"/>
            <a:r>
              <a:rPr lang="en-IN" sz="3200" b="1" dirty="0">
                <a:solidFill>
                  <a:schemeClr val="accent1"/>
                </a:solidFill>
                <a:latin typeface="Times New Roman" panose="02020603050405020304" pitchFamily="18" charset="0"/>
                <a:cs typeface="Times New Roman" panose="02020603050405020304" pitchFamily="18" charset="0"/>
              </a:rPr>
              <a:t>Communication Module (Optional)</a:t>
            </a:r>
            <a:endParaRPr lang="en-IN" sz="3200" dirty="0">
              <a:solidFill>
                <a:schemeClr val="accent1"/>
              </a:solidFill>
              <a:latin typeface="Times New Roman" panose="02020603050405020304" pitchFamily="18" charset="0"/>
              <a:cs typeface="Times New Roman" panose="02020603050405020304" pitchFamily="18" charset="0"/>
            </a:endParaRPr>
          </a:p>
          <a:p>
            <a:r>
              <a:rPr lang="en-IN" sz="2800" b="1" dirty="0">
                <a:solidFill>
                  <a:schemeClr val="bg1"/>
                </a:solidFill>
                <a:latin typeface="Times New Roman" panose="02020603050405020304" pitchFamily="18" charset="0"/>
                <a:cs typeface="Times New Roman" panose="02020603050405020304" pitchFamily="18" charset="0"/>
              </a:rPr>
              <a:t> </a:t>
            </a:r>
            <a:r>
              <a:rPr lang="en-IN" sz="2800" dirty="0">
                <a:solidFill>
                  <a:schemeClr val="bg1"/>
                </a:solidFill>
                <a:latin typeface="Times New Roman" panose="02020603050405020304" pitchFamily="18" charset="0"/>
                <a:cs typeface="Times New Roman" panose="02020603050405020304" pitchFamily="18" charset="0"/>
              </a:rPr>
              <a:t>Enable communication between job seekers and employers.</a:t>
            </a:r>
          </a:p>
          <a:p>
            <a:pPr lvl="0"/>
            <a:r>
              <a:rPr lang="en-IN" sz="2800" dirty="0">
                <a:solidFill>
                  <a:schemeClr val="bg1"/>
                </a:solidFill>
                <a:latin typeface="Times New Roman" panose="02020603050405020304" pitchFamily="18" charset="0"/>
                <a:cs typeface="Times New Roman" panose="02020603050405020304" pitchFamily="18" charset="0"/>
              </a:rPr>
              <a:t>Provide notifications or updates on job applications.</a:t>
            </a:r>
          </a:p>
          <a:p>
            <a:r>
              <a:rPr lang="en-IN" sz="2800" dirty="0">
                <a:solidFill>
                  <a:schemeClr val="bg1"/>
                </a:solidFill>
                <a:latin typeface="Times New Roman" panose="02020603050405020304" pitchFamily="18" charset="0"/>
                <a:cs typeface="Times New Roman" panose="02020603050405020304" pitchFamily="18" charset="0"/>
              </a:rPr>
              <a:t>Support for email alerts and system messages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7912599">
            <a:off x="283697" y="-2560035"/>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2794852" y="2166923"/>
            <a:ext cx="3448537" cy="1172984"/>
            <a:chOff x="0" y="0"/>
            <a:chExt cx="4598049" cy="1563979"/>
          </a:xfrm>
        </p:grpSpPr>
        <p:sp>
          <p:nvSpPr>
            <p:cNvPr id="7" name="TextBox 7"/>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p:cNvGrpSpPr/>
          <p:nvPr/>
        </p:nvGrpSpPr>
        <p:grpSpPr>
          <a:xfrm>
            <a:off x="17259300" y="8462486"/>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p:cNvSpPr/>
          <p:nvPr/>
        </p:nvSpPr>
        <p:spPr>
          <a:xfrm>
            <a:off x="2756752" y="-419100"/>
            <a:ext cx="38100" cy="10706100"/>
          </a:xfrm>
          <a:prstGeom prst="rect">
            <a:avLst/>
          </a:prstGeom>
          <a:solidFill>
            <a:srgbClr val="E2EDF1"/>
          </a:solidFill>
        </p:spPr>
        <p:txBody>
          <a:bodyPr/>
          <a:lstStyle/>
          <a:p>
            <a:endParaRPr lang="en-IN"/>
          </a:p>
        </p:txBody>
      </p:sp>
      <p:grpSp>
        <p:nvGrpSpPr>
          <p:cNvPr id="12" name="Group 12"/>
          <p:cNvGrpSpPr/>
          <p:nvPr/>
        </p:nvGrpSpPr>
        <p:grpSpPr>
          <a:xfrm>
            <a:off x="2628175" y="2407218"/>
            <a:ext cx="257154" cy="257154"/>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p:cNvGrpSpPr/>
          <p:nvPr/>
        </p:nvGrpSpPr>
        <p:grpSpPr>
          <a:xfrm>
            <a:off x="2628175" y="3609295"/>
            <a:ext cx="257154" cy="257154"/>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p:cNvGrpSpPr/>
          <p:nvPr/>
        </p:nvGrpSpPr>
        <p:grpSpPr>
          <a:xfrm>
            <a:off x="2666275" y="4917213"/>
            <a:ext cx="257154" cy="257154"/>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p:cNvGrpSpPr/>
          <p:nvPr/>
        </p:nvGrpSpPr>
        <p:grpSpPr>
          <a:xfrm>
            <a:off x="2666275" y="5945040"/>
            <a:ext cx="257154" cy="257154"/>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0" name="Group 20"/>
          <p:cNvGrpSpPr/>
          <p:nvPr/>
        </p:nvGrpSpPr>
        <p:grpSpPr>
          <a:xfrm>
            <a:off x="-320056" y="604334"/>
            <a:ext cx="1348756" cy="1348756"/>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2" name="Freeform 22"/>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p:cNvSpPr txBox="1"/>
          <p:nvPr/>
        </p:nvSpPr>
        <p:spPr>
          <a:xfrm>
            <a:off x="190260" y="264778"/>
            <a:ext cx="8687041" cy="859210"/>
          </a:xfrm>
          <a:prstGeom prst="rect">
            <a:avLst/>
          </a:prstGeom>
        </p:spPr>
        <p:txBody>
          <a:bodyPr wrap="square" lIns="0" tIns="0" rIns="0" bIns="0" rtlCol="0" anchor="t">
            <a:spAutoFit/>
          </a:bodyPr>
          <a:lstStyle/>
          <a:p>
            <a:pPr algn="ctr">
              <a:lnSpc>
                <a:spcPts val="6720"/>
              </a:lnSpc>
            </a:pPr>
            <a:r>
              <a:rPr lang="en-IN" sz="6000" b="1" dirty="0">
                <a:solidFill>
                  <a:srgbClr val="002060"/>
                </a:solidFill>
                <a:latin typeface="Times New Roman" panose="02020603050405020304" pitchFamily="18" charset="0"/>
                <a:cs typeface="Times New Roman" panose="02020603050405020304" pitchFamily="18" charset="0"/>
              </a:rPr>
              <a:t>Design</a:t>
            </a:r>
            <a:endParaRPr lang="en-US" sz="5600" b="1" spc="560" dirty="0">
              <a:solidFill>
                <a:srgbClr val="002060"/>
              </a:solidFill>
              <a:latin typeface="Times New Roman" panose="02020603050405020304" pitchFamily="18" charset="0"/>
              <a:cs typeface="Times New Roman" panose="02020603050405020304" pitchFamily="18" charset="0"/>
            </a:endParaRPr>
          </a:p>
        </p:txBody>
      </p:sp>
      <p:sp>
        <p:nvSpPr>
          <p:cNvPr id="25" name="TextBox 25"/>
          <p:cNvSpPr txBox="1"/>
          <p:nvPr/>
        </p:nvSpPr>
        <p:spPr>
          <a:xfrm>
            <a:off x="2961528" y="1314845"/>
            <a:ext cx="13629631" cy="9192260"/>
          </a:xfrm>
          <a:prstGeom prst="rect">
            <a:avLst/>
          </a:prstGeom>
        </p:spPr>
        <p:txBody>
          <a:bodyPr wrap="square" lIns="0" tIns="0" rIns="0" bIns="0" rtlCol="0" anchor="t">
            <a:spAutoFit/>
          </a:bodyPr>
          <a:lstStyle/>
          <a:p>
            <a:r>
              <a:rPr lang="en-IN" sz="2800" b="1" dirty="0">
                <a:solidFill>
                  <a:srgbClr val="002060"/>
                </a:solidFill>
                <a:latin typeface="Times New Roman" panose="02020603050405020304" pitchFamily="18" charset="0"/>
                <a:cs typeface="Times New Roman" panose="02020603050405020304" pitchFamily="18" charset="0"/>
              </a:rPr>
              <a:t>System Architecture</a:t>
            </a:r>
          </a:p>
          <a:p>
            <a:endParaRPr lang="en-IN" sz="2800" dirty="0">
              <a:solidFill>
                <a:schemeClr val="bg1"/>
              </a:solidFill>
              <a:latin typeface="Times New Roman" panose="02020603050405020304" pitchFamily="18" charset="0"/>
              <a:cs typeface="Times New Roman" panose="02020603050405020304" pitchFamily="18" charset="0"/>
            </a:endParaRPr>
          </a:p>
          <a:p>
            <a:pPr lvl="1"/>
            <a:r>
              <a:rPr lang="en-IN" sz="2800" dirty="0">
                <a:solidFill>
                  <a:schemeClr val="bg1"/>
                </a:solidFill>
                <a:latin typeface="Times New Roman" panose="02020603050405020304" pitchFamily="18" charset="0"/>
                <a:cs typeface="Times New Roman" panose="02020603050405020304" pitchFamily="18" charset="0"/>
              </a:rPr>
              <a:t>The </a:t>
            </a:r>
            <a:r>
              <a:rPr lang="en-IN" sz="2800" b="1" dirty="0">
                <a:solidFill>
                  <a:schemeClr val="bg1"/>
                </a:solidFill>
                <a:latin typeface="Times New Roman" panose="02020603050405020304" pitchFamily="18" charset="0"/>
                <a:cs typeface="Times New Roman" panose="02020603050405020304" pitchFamily="18" charset="0"/>
              </a:rPr>
              <a:t>Job Portal Web Application</a:t>
            </a:r>
            <a:r>
              <a:rPr lang="en-IN" sz="2800" dirty="0">
                <a:solidFill>
                  <a:schemeClr val="bg1"/>
                </a:solidFill>
                <a:latin typeface="Times New Roman" panose="02020603050405020304" pitchFamily="18" charset="0"/>
                <a:cs typeface="Times New Roman" panose="02020603050405020304" pitchFamily="18" charset="0"/>
              </a:rPr>
              <a:t> follows a </a:t>
            </a:r>
            <a:r>
              <a:rPr lang="en-IN" sz="2800" b="1" dirty="0">
                <a:solidFill>
                  <a:schemeClr val="bg1"/>
                </a:solidFill>
                <a:latin typeface="Times New Roman" panose="02020603050405020304" pitchFamily="18" charset="0"/>
                <a:cs typeface="Times New Roman" panose="02020603050405020304" pitchFamily="18" charset="0"/>
              </a:rPr>
              <a:t>three-tier architecture</a:t>
            </a:r>
            <a:r>
              <a:rPr lang="en-IN" sz="2800" dirty="0">
                <a:solidFill>
                  <a:schemeClr val="bg1"/>
                </a:solidFill>
                <a:latin typeface="Times New Roman" panose="02020603050405020304" pitchFamily="18" charset="0"/>
                <a:cs typeface="Times New Roman" panose="02020603050405020304" pitchFamily="18" charset="0"/>
              </a:rPr>
              <a:t>, which divides the system into three logical layers:</a:t>
            </a:r>
          </a:p>
          <a:p>
            <a:r>
              <a:rPr lang="en-IN" sz="2800" dirty="0">
                <a:solidFill>
                  <a:schemeClr val="bg1"/>
                </a:solidFill>
                <a:latin typeface="Times New Roman" panose="02020603050405020304" pitchFamily="18" charset="0"/>
                <a:cs typeface="Times New Roman" panose="02020603050405020304" pitchFamily="18" charset="0"/>
              </a:rPr>
              <a:t> </a:t>
            </a:r>
          </a:p>
          <a:p>
            <a:pPr lvl="1"/>
            <a:r>
              <a:rPr lang="en-IN" sz="2800" b="1" dirty="0">
                <a:solidFill>
                  <a:srgbClr val="002060"/>
                </a:solidFill>
                <a:latin typeface="Times New Roman" panose="02020603050405020304" pitchFamily="18" charset="0"/>
                <a:cs typeface="Times New Roman" panose="02020603050405020304" pitchFamily="18" charset="0"/>
              </a:rPr>
              <a:t>Presentation Layer (Frontend):</a:t>
            </a:r>
            <a:endParaRPr lang="en-IN" sz="2800" dirty="0">
              <a:solidFill>
                <a:srgbClr val="002060"/>
              </a:solidFill>
              <a:latin typeface="Times New Roman" panose="02020603050405020304" pitchFamily="18" charset="0"/>
              <a:cs typeface="Times New Roman" panose="02020603050405020304" pitchFamily="18" charset="0"/>
            </a:endParaRPr>
          </a:p>
          <a:p>
            <a:pPr lvl="2"/>
            <a:r>
              <a:rPr lang="en-IN" sz="2800" dirty="0">
                <a:solidFill>
                  <a:schemeClr val="bg1"/>
                </a:solidFill>
                <a:latin typeface="Times New Roman" panose="02020603050405020304" pitchFamily="18" charset="0"/>
                <a:cs typeface="Times New Roman" panose="02020603050405020304" pitchFamily="18" charset="0"/>
              </a:rPr>
              <a:t>- Developed using </a:t>
            </a:r>
            <a:r>
              <a:rPr lang="en-IN" sz="2800" b="1" dirty="0">
                <a:solidFill>
                  <a:schemeClr val="bg1"/>
                </a:solidFill>
                <a:latin typeface="Times New Roman" panose="02020603050405020304" pitchFamily="18" charset="0"/>
                <a:cs typeface="Times New Roman" panose="02020603050405020304" pitchFamily="18" charset="0"/>
              </a:rPr>
              <a:t>HTML, CSS, and React.js</a:t>
            </a:r>
            <a:r>
              <a:rPr lang="en-IN" sz="2800" dirty="0">
                <a:solidFill>
                  <a:schemeClr val="bg1"/>
                </a:solidFill>
                <a:latin typeface="Times New Roman" panose="02020603050405020304" pitchFamily="18" charset="0"/>
                <a:cs typeface="Times New Roman" panose="02020603050405020304" pitchFamily="18" charset="0"/>
              </a:rPr>
              <a:t>.</a:t>
            </a:r>
          </a:p>
          <a:p>
            <a:pPr lvl="2"/>
            <a:r>
              <a:rPr lang="en-IN" sz="2800" dirty="0">
                <a:solidFill>
                  <a:schemeClr val="bg1"/>
                </a:solidFill>
                <a:latin typeface="Times New Roman" panose="02020603050405020304" pitchFamily="18" charset="0"/>
                <a:cs typeface="Times New Roman" panose="02020603050405020304" pitchFamily="18" charset="0"/>
              </a:rPr>
              <a:t>- Handles user interactions, registration, login, job search, and job posting interfaces.</a:t>
            </a:r>
          </a:p>
          <a:p>
            <a:pPr lvl="2"/>
            <a:r>
              <a:rPr lang="en-IN" sz="2800" dirty="0">
                <a:solidFill>
                  <a:schemeClr val="bg1"/>
                </a:solidFill>
                <a:latin typeface="Times New Roman" panose="02020603050405020304" pitchFamily="18" charset="0"/>
                <a:cs typeface="Times New Roman" panose="02020603050405020304" pitchFamily="18" charset="0"/>
              </a:rPr>
              <a:t>- Communicates with the backend via HTTP requests (GET/POST).</a:t>
            </a:r>
          </a:p>
          <a:p>
            <a:pPr lvl="2"/>
            <a:endParaRPr lang="en-IN" sz="2800" dirty="0">
              <a:solidFill>
                <a:srgbClr val="002060"/>
              </a:solidFill>
              <a:latin typeface="Times New Roman" panose="02020603050405020304" pitchFamily="18" charset="0"/>
              <a:cs typeface="Times New Roman" panose="02020603050405020304" pitchFamily="18" charset="0"/>
            </a:endParaRPr>
          </a:p>
          <a:p>
            <a:pPr lvl="1"/>
            <a:r>
              <a:rPr lang="en-IN" sz="2800" b="1" dirty="0">
                <a:solidFill>
                  <a:srgbClr val="002060"/>
                </a:solidFill>
                <a:latin typeface="Times New Roman" panose="02020603050405020304" pitchFamily="18" charset="0"/>
                <a:cs typeface="Times New Roman" panose="02020603050405020304" pitchFamily="18" charset="0"/>
              </a:rPr>
              <a:t>Application Layer (Backend):</a:t>
            </a:r>
            <a:endParaRPr lang="en-IN" sz="2800" dirty="0">
              <a:solidFill>
                <a:srgbClr val="002060"/>
              </a:solidFill>
              <a:latin typeface="Times New Roman" panose="02020603050405020304" pitchFamily="18" charset="0"/>
              <a:cs typeface="Times New Roman" panose="02020603050405020304" pitchFamily="18" charset="0"/>
            </a:endParaRPr>
          </a:p>
          <a:p>
            <a:pPr lvl="2"/>
            <a:r>
              <a:rPr lang="en-IN" sz="2800" dirty="0">
                <a:solidFill>
                  <a:schemeClr val="bg1"/>
                </a:solidFill>
                <a:latin typeface="Times New Roman" panose="02020603050405020304" pitchFamily="18" charset="0"/>
                <a:cs typeface="Times New Roman" panose="02020603050405020304" pitchFamily="18" charset="0"/>
              </a:rPr>
              <a:t>- Implemented using</a:t>
            </a:r>
            <a:r>
              <a:rPr lang="en-IN" sz="2800" b="1" dirty="0">
                <a:solidFill>
                  <a:schemeClr val="bg1"/>
                </a:solidFill>
                <a:latin typeface="Times New Roman" panose="02020603050405020304" pitchFamily="18" charset="0"/>
                <a:cs typeface="Times New Roman" panose="02020603050405020304" pitchFamily="18" charset="0"/>
              </a:rPr>
              <a:t>  Node.js </a:t>
            </a:r>
            <a:r>
              <a:rPr lang="en-IN" sz="2800" dirty="0">
                <a:solidFill>
                  <a:schemeClr val="bg1"/>
                </a:solidFill>
                <a:latin typeface="Times New Roman" panose="02020603050405020304" pitchFamily="18" charset="0"/>
                <a:cs typeface="Times New Roman" panose="02020603050405020304" pitchFamily="18" charset="0"/>
              </a:rPr>
              <a:t>.</a:t>
            </a:r>
          </a:p>
          <a:p>
            <a:pPr lvl="2"/>
            <a:r>
              <a:rPr lang="en-IN" sz="2800" dirty="0">
                <a:solidFill>
                  <a:schemeClr val="bg1"/>
                </a:solidFill>
                <a:latin typeface="Times New Roman" panose="02020603050405020304" pitchFamily="18" charset="0"/>
                <a:cs typeface="Times New Roman" panose="02020603050405020304" pitchFamily="18" charset="0"/>
              </a:rPr>
              <a:t>- Manages all the business logic such as authentication, job posting, and application   tracking.</a:t>
            </a:r>
          </a:p>
          <a:p>
            <a:pPr lvl="2"/>
            <a:r>
              <a:rPr lang="en-IN" sz="2800" dirty="0">
                <a:solidFill>
                  <a:schemeClr val="bg1"/>
                </a:solidFill>
                <a:latin typeface="Times New Roman" panose="02020603050405020304" pitchFamily="18" charset="0"/>
                <a:cs typeface="Times New Roman" panose="02020603050405020304" pitchFamily="18" charset="0"/>
              </a:rPr>
              <a:t>- Performs validation and interacts with the database.</a:t>
            </a:r>
          </a:p>
          <a:p>
            <a:pPr lvl="2"/>
            <a:endParaRPr lang="en-IN" sz="2800" dirty="0">
              <a:solidFill>
                <a:schemeClr val="bg1"/>
              </a:solidFill>
              <a:latin typeface="Times New Roman" panose="02020603050405020304" pitchFamily="18" charset="0"/>
              <a:cs typeface="Times New Roman" panose="02020603050405020304" pitchFamily="18" charset="0"/>
            </a:endParaRPr>
          </a:p>
          <a:p>
            <a:pPr lvl="1"/>
            <a:r>
              <a:rPr lang="en-IN" sz="2800" b="1" dirty="0">
                <a:solidFill>
                  <a:srgbClr val="002060"/>
                </a:solidFill>
                <a:latin typeface="Times New Roman" panose="02020603050405020304" pitchFamily="18" charset="0"/>
                <a:cs typeface="Times New Roman" panose="02020603050405020304" pitchFamily="18" charset="0"/>
              </a:rPr>
              <a:t>Database Layer:</a:t>
            </a:r>
            <a:endParaRPr lang="en-IN" sz="2800" dirty="0">
              <a:solidFill>
                <a:srgbClr val="002060"/>
              </a:solidFill>
              <a:latin typeface="Times New Roman" panose="02020603050405020304" pitchFamily="18" charset="0"/>
              <a:cs typeface="Times New Roman" panose="02020603050405020304" pitchFamily="18" charset="0"/>
            </a:endParaRPr>
          </a:p>
          <a:p>
            <a:pPr lvl="2"/>
            <a:r>
              <a:rPr lang="en-IN" sz="2800" dirty="0">
                <a:solidFill>
                  <a:schemeClr val="bg1"/>
                </a:solidFill>
                <a:latin typeface="Times New Roman" panose="02020603050405020304" pitchFamily="18" charset="0"/>
                <a:cs typeface="Times New Roman" panose="02020603050405020304" pitchFamily="18" charset="0"/>
              </a:rPr>
              <a:t>- Built on </a:t>
            </a:r>
            <a:r>
              <a:rPr lang="en-US" sz="2800" dirty="0">
                <a:solidFill>
                  <a:schemeClr val="bg1"/>
                </a:solidFill>
                <a:latin typeface="Times New Roman" panose="02020603050405020304" pitchFamily="18" charset="0"/>
                <a:cs typeface="Times New Roman" panose="02020603050405020304" pitchFamily="18" charset="0"/>
              </a:rPr>
              <a:t>MongoDB</a:t>
            </a:r>
            <a:r>
              <a:rPr lang="en-IN" sz="2800" dirty="0">
                <a:solidFill>
                  <a:schemeClr val="bg1"/>
                </a:solidFill>
                <a:latin typeface="Times New Roman" panose="02020603050405020304" pitchFamily="18" charset="0"/>
                <a:cs typeface="Times New Roman" panose="02020603050405020304" pitchFamily="18" charset="0"/>
              </a:rPr>
              <a:t>.</a:t>
            </a:r>
          </a:p>
          <a:p>
            <a:pPr lvl="2"/>
            <a:r>
              <a:rPr lang="en-IN" sz="2800" dirty="0">
                <a:solidFill>
                  <a:schemeClr val="bg1"/>
                </a:solidFill>
                <a:latin typeface="Times New Roman" panose="02020603050405020304" pitchFamily="18" charset="0"/>
                <a:cs typeface="Times New Roman" panose="02020603050405020304" pitchFamily="18" charset="0"/>
              </a:rPr>
              <a:t>- Stores information about users, jobs, companies, and applications.</a:t>
            </a:r>
          </a:p>
          <a:p>
            <a:pPr lvl="2"/>
            <a:r>
              <a:rPr lang="en-IN" sz="2800" dirty="0">
                <a:solidFill>
                  <a:schemeClr val="bg1"/>
                </a:solidFill>
                <a:latin typeface="Times New Roman" panose="02020603050405020304" pitchFamily="18" charset="0"/>
                <a:cs typeface="Times New Roman" panose="02020603050405020304" pitchFamily="18" charset="0"/>
              </a:rPr>
              <a:t>- Ensures data integrity and supports CRUD operations.</a:t>
            </a:r>
          </a:p>
          <a:p>
            <a:pPr marL="342900" lvl="0" indent="-342900" algn="just">
              <a:lnSpc>
                <a:spcPct val="150000"/>
              </a:lnSpc>
              <a:spcAft>
                <a:spcPts val="0"/>
              </a:spcAft>
              <a:tabLst>
                <a:tab pos="228600" algn="l"/>
                <a:tab pos="457200" algn="l"/>
              </a:tabLst>
            </a:pPr>
            <a:endParaRPr lang="en-IN" sz="2800" kern="100" dirty="0">
              <a:solidFill>
                <a:srgbClr val="04345C"/>
              </a:solidFill>
              <a:latin typeface="Glacial Indifference" panose="020B0604020202020204" charset="0"/>
              <a:ea typeface="Calibri" panose="020F0502020204030204" pitchFamily="34" charset="0"/>
              <a:cs typeface="Times New Roman" panose="02020603050405020304" pitchFamily="18" charset="0"/>
            </a:endParaRPr>
          </a:p>
        </p:txBody>
      </p:sp>
      <p:grpSp>
        <p:nvGrpSpPr>
          <p:cNvPr id="28" name="Group 28"/>
          <p:cNvGrpSpPr/>
          <p:nvPr/>
        </p:nvGrpSpPr>
        <p:grpSpPr>
          <a:xfrm>
            <a:off x="2656750" y="7007543"/>
            <a:ext cx="257154" cy="257154"/>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2" name="Group 32"/>
          <p:cNvGrpSpPr/>
          <p:nvPr/>
        </p:nvGrpSpPr>
        <p:grpSpPr>
          <a:xfrm>
            <a:off x="2647225" y="7969547"/>
            <a:ext cx="257154" cy="257154"/>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5" name="Group 35"/>
          <p:cNvGrpSpPr/>
          <p:nvPr/>
        </p:nvGrpSpPr>
        <p:grpSpPr>
          <a:xfrm>
            <a:off x="2666275" y="8905409"/>
            <a:ext cx="257154" cy="257154"/>
            <a:chOff x="0" y="0"/>
            <a:chExt cx="6350000" cy="6350000"/>
          </a:xfrm>
        </p:grpSpPr>
        <p:sp>
          <p:nvSpPr>
            <p:cNvPr id="36" name="Freeform 3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7912599">
            <a:off x="-142155" y="-2823007"/>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2794852" y="2166923"/>
            <a:ext cx="3448537" cy="1172984"/>
            <a:chOff x="0" y="0"/>
            <a:chExt cx="4598049" cy="1563979"/>
          </a:xfrm>
        </p:grpSpPr>
        <p:sp>
          <p:nvSpPr>
            <p:cNvPr id="7" name="TextBox 7"/>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p:cNvGrpSpPr/>
          <p:nvPr/>
        </p:nvGrpSpPr>
        <p:grpSpPr>
          <a:xfrm>
            <a:off x="17259300" y="8462486"/>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p:cNvSpPr/>
          <p:nvPr/>
        </p:nvSpPr>
        <p:spPr>
          <a:xfrm>
            <a:off x="2756752" y="-419100"/>
            <a:ext cx="38100" cy="10706100"/>
          </a:xfrm>
          <a:prstGeom prst="rect">
            <a:avLst/>
          </a:prstGeom>
          <a:solidFill>
            <a:srgbClr val="E2EDF1"/>
          </a:solidFill>
        </p:spPr>
        <p:txBody>
          <a:bodyPr/>
          <a:lstStyle/>
          <a:p>
            <a:endParaRPr lang="en-IN"/>
          </a:p>
        </p:txBody>
      </p:sp>
      <p:grpSp>
        <p:nvGrpSpPr>
          <p:cNvPr id="12" name="Group 12"/>
          <p:cNvGrpSpPr/>
          <p:nvPr/>
        </p:nvGrpSpPr>
        <p:grpSpPr>
          <a:xfrm>
            <a:off x="2628175" y="2407218"/>
            <a:ext cx="257154" cy="257154"/>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p:cNvGrpSpPr/>
          <p:nvPr/>
        </p:nvGrpSpPr>
        <p:grpSpPr>
          <a:xfrm>
            <a:off x="2628175" y="3609295"/>
            <a:ext cx="257154" cy="257154"/>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p:cNvGrpSpPr/>
          <p:nvPr/>
        </p:nvGrpSpPr>
        <p:grpSpPr>
          <a:xfrm>
            <a:off x="2666275" y="4917213"/>
            <a:ext cx="257154" cy="257154"/>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p:cNvGrpSpPr/>
          <p:nvPr/>
        </p:nvGrpSpPr>
        <p:grpSpPr>
          <a:xfrm>
            <a:off x="2666275" y="5945040"/>
            <a:ext cx="257154" cy="257154"/>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0" name="Group 20"/>
          <p:cNvGrpSpPr/>
          <p:nvPr/>
        </p:nvGrpSpPr>
        <p:grpSpPr>
          <a:xfrm>
            <a:off x="-320056" y="604334"/>
            <a:ext cx="1348756" cy="1348756"/>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2" name="Freeform 22"/>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p:cNvSpPr txBox="1"/>
          <p:nvPr/>
        </p:nvSpPr>
        <p:spPr>
          <a:xfrm>
            <a:off x="0" y="848653"/>
            <a:ext cx="10279451" cy="806696"/>
          </a:xfrm>
          <a:prstGeom prst="rect">
            <a:avLst/>
          </a:prstGeom>
        </p:spPr>
        <p:txBody>
          <a:bodyPr lIns="0" tIns="0" rIns="0" bIns="0" rtlCol="0" anchor="t">
            <a:spAutoFit/>
          </a:bodyPr>
          <a:lstStyle/>
          <a:p>
            <a:pPr algn="ctr">
              <a:lnSpc>
                <a:spcPts val="6720"/>
              </a:lnSpc>
            </a:pPr>
            <a:r>
              <a:rPr lang="en-IN" sz="5400" b="1" dirty="0">
                <a:solidFill>
                  <a:srgbClr val="002060"/>
                </a:solidFill>
                <a:latin typeface="Times New Roman" panose="02020603050405020304" pitchFamily="18" charset="0"/>
                <a:cs typeface="Times New Roman" panose="02020603050405020304" pitchFamily="18" charset="0"/>
              </a:rPr>
              <a:t>Implementation</a:t>
            </a:r>
            <a:endParaRPr lang="en-US" sz="5400" b="1" spc="560" dirty="0">
              <a:solidFill>
                <a:srgbClr val="002060"/>
              </a:solidFill>
              <a:latin typeface="Times New Roman" panose="02020603050405020304" pitchFamily="18" charset="0"/>
              <a:cs typeface="Times New Roman" panose="02020603050405020304" pitchFamily="18" charset="0"/>
            </a:endParaRPr>
          </a:p>
        </p:txBody>
      </p:sp>
      <p:sp>
        <p:nvSpPr>
          <p:cNvPr id="25" name="TextBox 25"/>
          <p:cNvSpPr txBox="1"/>
          <p:nvPr/>
        </p:nvSpPr>
        <p:spPr>
          <a:xfrm>
            <a:off x="2885330" y="1790701"/>
            <a:ext cx="15181060" cy="12115432"/>
          </a:xfrm>
          <a:prstGeom prst="rect">
            <a:avLst/>
          </a:prstGeom>
        </p:spPr>
        <p:txBody>
          <a:bodyPr wrap="square" lIns="0" tIns="0" rIns="0" bIns="0" rtlCol="0" anchor="t">
            <a:spAutoFit/>
          </a:bodyPr>
          <a:lstStyle/>
          <a:p>
            <a:endParaRPr lang="en-IN" dirty="0"/>
          </a:p>
          <a:p>
            <a:r>
              <a:rPr lang="en-IN" sz="2400" dirty="0">
                <a:latin typeface="Times New Roman" panose="02020603050405020304" pitchFamily="18" charset="0"/>
                <a:cs typeface="Times New Roman" panose="02020603050405020304" pitchFamily="18" charset="0"/>
              </a:rPr>
              <a:t>The implementation phase converts the design into a functional system. The </a:t>
            </a:r>
            <a:r>
              <a:rPr lang="en-IN" sz="2400" b="1" dirty="0">
                <a:latin typeface="Times New Roman" panose="02020603050405020304" pitchFamily="18" charset="0"/>
                <a:cs typeface="Times New Roman" panose="02020603050405020304" pitchFamily="18" charset="0"/>
              </a:rPr>
              <a:t>Job Portal Web Application</a:t>
            </a:r>
            <a:r>
              <a:rPr lang="en-IN" sz="2400" dirty="0">
                <a:latin typeface="Times New Roman" panose="02020603050405020304" pitchFamily="18" charset="0"/>
                <a:cs typeface="Times New Roman" panose="02020603050405020304" pitchFamily="18" charset="0"/>
              </a:rPr>
              <a:t> was developed using modern web technologies ensuring scalability, maintainability, and usability.</a:t>
            </a:r>
          </a:p>
          <a:p>
            <a:r>
              <a:rPr lang="en-IN" sz="2400" dirty="0">
                <a:latin typeface="Times New Roman" panose="02020603050405020304" pitchFamily="18" charset="0"/>
                <a:cs typeface="Times New Roman" panose="02020603050405020304" pitchFamily="18" charset="0"/>
              </a:rPr>
              <a:t> </a:t>
            </a:r>
          </a:p>
          <a:p>
            <a:r>
              <a:rPr lang="en-IN" sz="2400" b="1" dirty="0">
                <a:solidFill>
                  <a:schemeClr val="bg1"/>
                </a:solidFill>
                <a:latin typeface="Times New Roman" panose="02020603050405020304" pitchFamily="18" charset="0"/>
                <a:cs typeface="Times New Roman" panose="02020603050405020304" pitchFamily="18" charset="0"/>
              </a:rPr>
              <a:t>1. Frontend Implementation</a:t>
            </a:r>
          </a:p>
          <a:p>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user interface (UI)</a:t>
            </a:r>
            <a:r>
              <a:rPr lang="en-IN" sz="2400" dirty="0">
                <a:latin typeface="Times New Roman" panose="02020603050405020304" pitchFamily="18" charset="0"/>
                <a:cs typeface="Times New Roman" panose="02020603050405020304" pitchFamily="18" charset="0"/>
              </a:rPr>
              <a:t> is designed using </a:t>
            </a:r>
            <a:r>
              <a:rPr lang="en-IN" sz="2400" b="1" dirty="0">
                <a:latin typeface="Times New Roman" panose="02020603050405020304" pitchFamily="18" charset="0"/>
                <a:cs typeface="Times New Roman" panose="02020603050405020304" pitchFamily="18" charset="0"/>
              </a:rPr>
              <a:t>HTML</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CSS</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JavaScript</a:t>
            </a:r>
            <a:r>
              <a:rPr lang="en-IN" sz="2400" dirty="0">
                <a:latin typeface="Times New Roman" panose="02020603050405020304" pitchFamily="18" charset="0"/>
                <a:cs typeface="Times New Roman" panose="02020603050405020304" pitchFamily="18" charset="0"/>
              </a:rPr>
              <a:t>.</a:t>
            </a:r>
          </a:p>
          <a:p>
            <a:pPr lvl="0"/>
            <a:r>
              <a:rPr lang="en-IN" sz="2400" b="1" dirty="0">
                <a:latin typeface="Times New Roman" panose="02020603050405020304" pitchFamily="18" charset="0"/>
                <a:cs typeface="Times New Roman" panose="02020603050405020304" pitchFamily="18" charset="0"/>
              </a:rPr>
              <a:t>Responsive design</a:t>
            </a:r>
            <a:r>
              <a:rPr lang="en-IN" sz="2400" dirty="0">
                <a:latin typeface="Times New Roman" panose="02020603050405020304" pitchFamily="18" charset="0"/>
                <a:cs typeface="Times New Roman" panose="02020603050405020304" pitchFamily="18" charset="0"/>
              </a:rPr>
              <a:t> ensures the portal works smoothly on desktops and mobile devices.</a:t>
            </a:r>
          </a:p>
          <a:p>
            <a:pPr lvl="0"/>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communicates with the backend via HTTP requests using </a:t>
            </a:r>
            <a:r>
              <a:rPr lang="en-IN" sz="2400" b="1" dirty="0">
                <a:latin typeface="Times New Roman" panose="02020603050405020304" pitchFamily="18" charset="0"/>
                <a:cs typeface="Times New Roman" panose="02020603050405020304" pitchFamily="18" charset="0"/>
              </a:rPr>
              <a:t>AJAX / Fetch API</a:t>
            </a:r>
            <a:r>
              <a:rPr lang="en-IN" sz="2400" dirty="0">
                <a:latin typeface="Times New Roman" panose="02020603050405020304" pitchFamily="18" charset="0"/>
                <a:cs typeface="Times New Roman" panose="02020603050405020304" pitchFamily="18" charset="0"/>
              </a:rPr>
              <a:t>.</a:t>
            </a:r>
          </a:p>
          <a:p>
            <a:r>
              <a:rPr lang="en-IN" sz="2400" b="1" dirty="0">
                <a:latin typeface="Times New Roman" panose="02020603050405020304" pitchFamily="18" charset="0"/>
                <a:cs typeface="Times New Roman" panose="02020603050405020304" pitchFamily="18" charset="0"/>
              </a:rPr>
              <a:t>Key Features Implemented:</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User Registration and Login Pages</a:t>
            </a:r>
          </a:p>
          <a:p>
            <a:pPr lvl="0"/>
            <a:r>
              <a:rPr lang="en-IN" sz="2400" dirty="0">
                <a:latin typeface="Times New Roman" panose="02020603050405020304" pitchFamily="18" charset="0"/>
                <a:cs typeface="Times New Roman" panose="02020603050405020304" pitchFamily="18" charset="0"/>
              </a:rPr>
              <a:t>Employer Dashboard for Job Posting</a:t>
            </a:r>
          </a:p>
          <a:p>
            <a:pPr lvl="0"/>
            <a:r>
              <a:rPr lang="en-IN" sz="2400" dirty="0">
                <a:latin typeface="Times New Roman" panose="02020603050405020304" pitchFamily="18" charset="0"/>
                <a:cs typeface="Times New Roman" panose="02020603050405020304" pitchFamily="18" charset="0"/>
              </a:rPr>
              <a:t>Job Seeker Dashboard for Application Tracking</a:t>
            </a:r>
          </a:p>
          <a:p>
            <a:pPr lvl="0"/>
            <a:r>
              <a:rPr lang="en-IN" sz="2400" dirty="0">
                <a:latin typeface="Times New Roman" panose="02020603050405020304" pitchFamily="18" charset="0"/>
                <a:cs typeface="Times New Roman" panose="02020603050405020304" pitchFamily="18" charset="0"/>
              </a:rPr>
              <a:t>Search and Filter Functionality</a:t>
            </a:r>
          </a:p>
          <a:p>
            <a:pPr lvl="0"/>
            <a:r>
              <a:rPr lang="en-IN" sz="2400" dirty="0">
                <a:latin typeface="Times New Roman" panose="02020603050405020304" pitchFamily="18" charset="0"/>
                <a:cs typeface="Times New Roman" panose="02020603050405020304" pitchFamily="18" charset="0"/>
              </a:rPr>
              <a:t>Admin Panel for Management</a:t>
            </a:r>
          </a:p>
          <a:p>
            <a:pPr lvl="0"/>
            <a:endParaRPr lang="en-IN" sz="2400" dirty="0">
              <a:latin typeface="Times New Roman" panose="02020603050405020304" pitchFamily="18" charset="0"/>
              <a:cs typeface="Times New Roman" panose="02020603050405020304" pitchFamily="18" charset="0"/>
            </a:endParaRPr>
          </a:p>
          <a:p>
            <a:r>
              <a:rPr lang="en-IN" sz="2400" b="1" dirty="0">
                <a:solidFill>
                  <a:schemeClr val="bg1"/>
                </a:solidFill>
                <a:latin typeface="Times New Roman" panose="02020603050405020304" pitchFamily="18" charset="0"/>
                <a:cs typeface="Times New Roman" panose="02020603050405020304" pitchFamily="18" charset="0"/>
              </a:rPr>
              <a:t>2. Backend Implementation</a:t>
            </a:r>
          </a:p>
          <a:p>
            <a:endParaRPr lang="en-IN" sz="2400" dirty="0">
              <a:solidFill>
                <a:schemeClr val="bg1"/>
              </a:solidFill>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The backend handles business logic, data validation, and database operations.</a:t>
            </a:r>
          </a:p>
          <a:p>
            <a:pPr lvl="0"/>
            <a:r>
              <a:rPr lang="en-IN" sz="2400" dirty="0">
                <a:latin typeface="Times New Roman" panose="02020603050405020304" pitchFamily="18" charset="0"/>
                <a:cs typeface="Times New Roman" panose="02020603050405020304" pitchFamily="18" charset="0"/>
              </a:rPr>
              <a:t>Developed using </a:t>
            </a:r>
            <a:r>
              <a:rPr lang="en-IN" sz="2400" b="1" dirty="0">
                <a:latin typeface="Times New Roman" panose="02020603050405020304" pitchFamily="18" charset="0"/>
                <a:cs typeface="Times New Roman" panose="02020603050405020304" pitchFamily="18" charset="0"/>
              </a:rPr>
              <a:t>Node.js</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RESTful APIs were implemented for communication between the client and the server.</a:t>
            </a:r>
          </a:p>
          <a:p>
            <a:pPr lvl="0"/>
            <a:r>
              <a:rPr lang="en-IN" sz="2400" dirty="0">
                <a:latin typeface="Times New Roman" panose="02020603050405020304" pitchFamily="18" charset="0"/>
                <a:cs typeface="Times New Roman" panose="02020603050405020304" pitchFamily="18" charset="0"/>
              </a:rPr>
              <a:t>Proper </a:t>
            </a:r>
            <a:r>
              <a:rPr lang="en-IN" sz="2400" b="1" dirty="0">
                <a:latin typeface="Times New Roman" panose="02020603050405020304" pitchFamily="18" charset="0"/>
                <a:cs typeface="Times New Roman" panose="02020603050405020304" pitchFamily="18" charset="0"/>
              </a:rPr>
              <a:t>authentication and authorization</a:t>
            </a:r>
            <a:r>
              <a:rPr lang="en-IN" sz="2400" dirty="0">
                <a:latin typeface="Times New Roman" panose="02020603050405020304" pitchFamily="18" charset="0"/>
                <a:cs typeface="Times New Roman" panose="02020603050405020304" pitchFamily="18" charset="0"/>
              </a:rPr>
              <a:t> were implemented using sessions/tokens.</a:t>
            </a:r>
          </a:p>
          <a:p>
            <a:pPr marL="342900" indent="-342900">
              <a:lnSpc>
                <a:spcPct val="150000"/>
              </a:lnSpc>
              <a:tabLst>
                <a:tab pos="228600" algn="l"/>
                <a:tab pos="457200" algn="l"/>
              </a:tabLst>
            </a:pPr>
            <a:endParaRPr lang="en-US" altLang="en-US" sz="2400" dirty="0">
              <a:latin typeface="Times New Roman" panose="02020603050405020304" pitchFamily="18" charset="0"/>
              <a:cs typeface="Times New Roman" panose="02020603050405020304" pitchFamily="18" charset="0"/>
            </a:endParaRPr>
          </a:p>
          <a:p>
            <a:pPr marL="342900" indent="-342900">
              <a:lnSpc>
                <a:spcPct val="150000"/>
              </a:lnSpc>
              <a:tabLst>
                <a:tab pos="228600" algn="l"/>
                <a:tab pos="457200" algn="l"/>
              </a:tabLst>
            </a:pPr>
            <a:endParaRPr lang="en-US" altLang="en-US" sz="2400" dirty="0">
              <a:latin typeface="Times New Roman" panose="02020603050405020304" pitchFamily="18" charset="0"/>
              <a:cs typeface="Times New Roman" panose="02020603050405020304" pitchFamily="18" charset="0"/>
            </a:endParaRPr>
          </a:p>
          <a:p>
            <a:pPr marL="342900" lvl="0" indent="-342900">
              <a:lnSpc>
                <a:spcPct val="150000"/>
              </a:lnSpc>
              <a:spcAft>
                <a:spcPts val="0"/>
              </a:spcAft>
              <a:tabLst>
                <a:tab pos="228600" algn="l"/>
                <a:tab pos="457200" algn="l"/>
              </a:tabLst>
            </a:pPr>
            <a:endParaRPr lang="en-IN" sz="2400" kern="100" dirty="0">
              <a:solidFill>
                <a:srgbClr val="04345C"/>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0"/>
              </a:spcAft>
              <a:tabLst>
                <a:tab pos="228600" algn="l"/>
                <a:tab pos="457200" algn="l"/>
              </a:tabLst>
            </a:pPr>
            <a:r>
              <a:rPr lang="en-IN" sz="2400" kern="100" dirty="0">
                <a:solidFill>
                  <a:srgbClr val="04345C"/>
                </a:solidFill>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nSpc>
                <a:spcPct val="150000"/>
              </a:lnSpc>
              <a:spcAft>
                <a:spcPts val="0"/>
              </a:spcAft>
              <a:tabLst>
                <a:tab pos="228600" algn="l"/>
                <a:tab pos="457200" algn="l"/>
              </a:tabLst>
            </a:pPr>
            <a:endParaRPr lang="en-IN" sz="2400" kern="100" dirty="0">
              <a:solidFill>
                <a:srgbClr val="04345C"/>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0"/>
              </a:spcAft>
              <a:tabLst>
                <a:tab pos="228600" algn="l"/>
                <a:tab pos="457200" algn="l"/>
              </a:tabLst>
            </a:pPr>
            <a:endParaRPr lang="en-IN" sz="2400" kern="100" dirty="0">
              <a:solidFill>
                <a:srgbClr val="04345C"/>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0"/>
              </a:spcAft>
              <a:tabLst>
                <a:tab pos="228600" algn="l"/>
                <a:tab pos="457200" algn="l"/>
              </a:tabLst>
            </a:pPr>
            <a:endParaRPr lang="en-IN" sz="3600" dirty="0">
              <a:solidFill>
                <a:srgbClr val="04345C"/>
              </a:solidFill>
              <a:latin typeface="Glacial Indifference" panose="020B0604020202020204" charset="0"/>
            </a:endParaRPr>
          </a:p>
        </p:txBody>
      </p:sp>
      <p:grpSp>
        <p:nvGrpSpPr>
          <p:cNvPr id="28" name="Group 28"/>
          <p:cNvGrpSpPr/>
          <p:nvPr/>
        </p:nvGrpSpPr>
        <p:grpSpPr>
          <a:xfrm>
            <a:off x="2656750" y="7007543"/>
            <a:ext cx="257154" cy="257154"/>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2" name="Group 32"/>
          <p:cNvGrpSpPr/>
          <p:nvPr/>
        </p:nvGrpSpPr>
        <p:grpSpPr>
          <a:xfrm>
            <a:off x="2647225" y="7969547"/>
            <a:ext cx="257154" cy="257154"/>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5" name="Group 35"/>
          <p:cNvGrpSpPr/>
          <p:nvPr/>
        </p:nvGrpSpPr>
        <p:grpSpPr>
          <a:xfrm>
            <a:off x="2666275" y="8905409"/>
            <a:ext cx="257154" cy="257154"/>
            <a:chOff x="0" y="0"/>
            <a:chExt cx="6350000" cy="6350000"/>
          </a:xfrm>
        </p:grpSpPr>
        <p:sp>
          <p:nvSpPr>
            <p:cNvPr id="36" name="Freeform 3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Tree>
    <p:extLst>
      <p:ext uri="{BB962C8B-B14F-4D97-AF65-F5344CB8AC3E}">
        <p14:creationId xmlns:p14="http://schemas.microsoft.com/office/powerpoint/2010/main" val="3612144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a:extLst>
            <a:ext uri="{FF2B5EF4-FFF2-40B4-BE49-F238E27FC236}">
              <a16:creationId xmlns:a16="http://schemas.microsoft.com/office/drawing/2014/main" id="{FE93BDB7-37AA-7245-4422-F914F498806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51ED63-07A3-20BC-8D6E-58AE05BB52EE}"/>
              </a:ext>
            </a:extLst>
          </p:cNvPr>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D1122481-1608-A4E5-8A55-5E3CB67BAE08}"/>
              </a:ext>
            </a:extLst>
          </p:cNvPr>
          <p:cNvSpPr/>
          <p:nvPr/>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185645C8-9908-DD17-AC39-6EFB69878650}"/>
              </a:ext>
            </a:extLst>
          </p:cNvPr>
          <p:cNvSpPr/>
          <p:nvPr/>
        </p:nvSpPr>
        <p:spPr>
          <a:xfrm rot="-7912599">
            <a:off x="-142155" y="-2823007"/>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7E34B71A-77BB-3754-9125-464F8DC9F055}"/>
              </a:ext>
            </a:extLst>
          </p:cNvPr>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0EE482ED-407D-D5D5-3A15-FB0A92A9E1A7}"/>
              </a:ext>
            </a:extLst>
          </p:cNvPr>
          <p:cNvGrpSpPr/>
          <p:nvPr/>
        </p:nvGrpSpPr>
        <p:grpSpPr>
          <a:xfrm>
            <a:off x="2794852" y="2166923"/>
            <a:ext cx="3448537" cy="1172984"/>
            <a:chOff x="0" y="0"/>
            <a:chExt cx="4598049" cy="1563979"/>
          </a:xfrm>
        </p:grpSpPr>
        <p:sp>
          <p:nvSpPr>
            <p:cNvPr id="7" name="TextBox 7">
              <a:extLst>
                <a:ext uri="{FF2B5EF4-FFF2-40B4-BE49-F238E27FC236}">
                  <a16:creationId xmlns:a16="http://schemas.microsoft.com/office/drawing/2014/main" id="{B8EAC5C2-5CE4-72F7-7484-6B1994C4BF4C}"/>
                </a:ext>
              </a:extLst>
            </p:cNvPr>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a:extLst>
                <a:ext uri="{FF2B5EF4-FFF2-40B4-BE49-F238E27FC236}">
                  <a16:creationId xmlns:a16="http://schemas.microsoft.com/office/drawing/2014/main" id="{EBD28CEF-5B55-9DA2-85E5-D53F513CFC2E}"/>
                </a:ext>
              </a:extLst>
            </p:cNvPr>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a:extLst>
              <a:ext uri="{FF2B5EF4-FFF2-40B4-BE49-F238E27FC236}">
                <a16:creationId xmlns:a16="http://schemas.microsoft.com/office/drawing/2014/main" id="{6ACC9477-3A25-9857-4E32-75FAEEE685A0}"/>
              </a:ext>
            </a:extLst>
          </p:cNvPr>
          <p:cNvGrpSpPr/>
          <p:nvPr/>
        </p:nvGrpSpPr>
        <p:grpSpPr>
          <a:xfrm>
            <a:off x="17259300" y="8462486"/>
            <a:ext cx="571500" cy="571500"/>
            <a:chOff x="0" y="0"/>
            <a:chExt cx="6350000" cy="6350000"/>
          </a:xfrm>
        </p:grpSpPr>
        <p:sp>
          <p:nvSpPr>
            <p:cNvPr id="10" name="Freeform 10">
              <a:extLst>
                <a:ext uri="{FF2B5EF4-FFF2-40B4-BE49-F238E27FC236}">
                  <a16:creationId xmlns:a16="http://schemas.microsoft.com/office/drawing/2014/main" id="{30AD2DEC-DC68-BD50-5722-E0D42BE650D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a:extLst>
              <a:ext uri="{FF2B5EF4-FFF2-40B4-BE49-F238E27FC236}">
                <a16:creationId xmlns:a16="http://schemas.microsoft.com/office/drawing/2014/main" id="{3A149475-42B7-AE20-0814-065432B8654B}"/>
              </a:ext>
            </a:extLst>
          </p:cNvPr>
          <p:cNvSpPr/>
          <p:nvPr/>
        </p:nvSpPr>
        <p:spPr>
          <a:xfrm>
            <a:off x="2756752" y="-419100"/>
            <a:ext cx="38100" cy="10706100"/>
          </a:xfrm>
          <a:prstGeom prst="rect">
            <a:avLst/>
          </a:prstGeom>
          <a:solidFill>
            <a:srgbClr val="E2EDF1"/>
          </a:solidFill>
        </p:spPr>
        <p:txBody>
          <a:bodyPr/>
          <a:lstStyle/>
          <a:p>
            <a:endParaRPr lang="en-IN"/>
          </a:p>
        </p:txBody>
      </p:sp>
      <p:grpSp>
        <p:nvGrpSpPr>
          <p:cNvPr id="12" name="Group 12">
            <a:extLst>
              <a:ext uri="{FF2B5EF4-FFF2-40B4-BE49-F238E27FC236}">
                <a16:creationId xmlns:a16="http://schemas.microsoft.com/office/drawing/2014/main" id="{EA330135-DBA1-4130-74A6-971A0A3FA516}"/>
              </a:ext>
            </a:extLst>
          </p:cNvPr>
          <p:cNvGrpSpPr/>
          <p:nvPr/>
        </p:nvGrpSpPr>
        <p:grpSpPr>
          <a:xfrm>
            <a:off x="2628175" y="2407218"/>
            <a:ext cx="257154" cy="257154"/>
            <a:chOff x="0" y="0"/>
            <a:chExt cx="6350000" cy="6350000"/>
          </a:xfrm>
        </p:grpSpPr>
        <p:sp>
          <p:nvSpPr>
            <p:cNvPr id="13" name="Freeform 13">
              <a:extLst>
                <a:ext uri="{FF2B5EF4-FFF2-40B4-BE49-F238E27FC236}">
                  <a16:creationId xmlns:a16="http://schemas.microsoft.com/office/drawing/2014/main" id="{6F020B00-4265-208E-6EE7-3AF118724E0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a:extLst>
              <a:ext uri="{FF2B5EF4-FFF2-40B4-BE49-F238E27FC236}">
                <a16:creationId xmlns:a16="http://schemas.microsoft.com/office/drawing/2014/main" id="{41A77433-21E7-9077-DAA5-43C823707B5E}"/>
              </a:ext>
            </a:extLst>
          </p:cNvPr>
          <p:cNvGrpSpPr/>
          <p:nvPr/>
        </p:nvGrpSpPr>
        <p:grpSpPr>
          <a:xfrm>
            <a:off x="2628175" y="3609295"/>
            <a:ext cx="257154" cy="257154"/>
            <a:chOff x="0" y="0"/>
            <a:chExt cx="6350000" cy="6350000"/>
          </a:xfrm>
        </p:grpSpPr>
        <p:sp>
          <p:nvSpPr>
            <p:cNvPr id="15" name="Freeform 15">
              <a:extLst>
                <a:ext uri="{FF2B5EF4-FFF2-40B4-BE49-F238E27FC236}">
                  <a16:creationId xmlns:a16="http://schemas.microsoft.com/office/drawing/2014/main" id="{9CA3A4BF-C7FF-0037-EC5B-4E47607096D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a:extLst>
              <a:ext uri="{FF2B5EF4-FFF2-40B4-BE49-F238E27FC236}">
                <a16:creationId xmlns:a16="http://schemas.microsoft.com/office/drawing/2014/main" id="{77B0DF77-5912-7A52-C1D7-D72473318149}"/>
              </a:ext>
            </a:extLst>
          </p:cNvPr>
          <p:cNvGrpSpPr/>
          <p:nvPr/>
        </p:nvGrpSpPr>
        <p:grpSpPr>
          <a:xfrm>
            <a:off x="2666275" y="4917213"/>
            <a:ext cx="257154" cy="257154"/>
            <a:chOff x="0" y="0"/>
            <a:chExt cx="6350000" cy="6350000"/>
          </a:xfrm>
        </p:grpSpPr>
        <p:sp>
          <p:nvSpPr>
            <p:cNvPr id="17" name="Freeform 17">
              <a:extLst>
                <a:ext uri="{FF2B5EF4-FFF2-40B4-BE49-F238E27FC236}">
                  <a16:creationId xmlns:a16="http://schemas.microsoft.com/office/drawing/2014/main" id="{1E486FFD-E7F1-059D-3919-0B727FE4F79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a:extLst>
              <a:ext uri="{FF2B5EF4-FFF2-40B4-BE49-F238E27FC236}">
                <a16:creationId xmlns:a16="http://schemas.microsoft.com/office/drawing/2014/main" id="{61AFCE19-17A3-ED5A-6456-7E65CC8EF901}"/>
              </a:ext>
            </a:extLst>
          </p:cNvPr>
          <p:cNvGrpSpPr/>
          <p:nvPr/>
        </p:nvGrpSpPr>
        <p:grpSpPr>
          <a:xfrm>
            <a:off x="2666275" y="5945040"/>
            <a:ext cx="257154" cy="257154"/>
            <a:chOff x="0" y="0"/>
            <a:chExt cx="6350000" cy="6350000"/>
          </a:xfrm>
        </p:grpSpPr>
        <p:sp>
          <p:nvSpPr>
            <p:cNvPr id="19" name="Freeform 19">
              <a:extLst>
                <a:ext uri="{FF2B5EF4-FFF2-40B4-BE49-F238E27FC236}">
                  <a16:creationId xmlns:a16="http://schemas.microsoft.com/office/drawing/2014/main" id="{1F2FD56E-2A59-9EAA-EBCA-FBD3EC78E1E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0" name="Group 20">
            <a:extLst>
              <a:ext uri="{FF2B5EF4-FFF2-40B4-BE49-F238E27FC236}">
                <a16:creationId xmlns:a16="http://schemas.microsoft.com/office/drawing/2014/main" id="{BCB60C73-F8C8-0F95-2D1C-6EA2280EBABD}"/>
              </a:ext>
            </a:extLst>
          </p:cNvPr>
          <p:cNvGrpSpPr/>
          <p:nvPr/>
        </p:nvGrpSpPr>
        <p:grpSpPr>
          <a:xfrm>
            <a:off x="-320056" y="604334"/>
            <a:ext cx="1348756" cy="1348756"/>
            <a:chOff x="0" y="0"/>
            <a:chExt cx="6350000" cy="6350000"/>
          </a:xfrm>
        </p:grpSpPr>
        <p:sp>
          <p:nvSpPr>
            <p:cNvPr id="21" name="Freeform 21">
              <a:extLst>
                <a:ext uri="{FF2B5EF4-FFF2-40B4-BE49-F238E27FC236}">
                  <a16:creationId xmlns:a16="http://schemas.microsoft.com/office/drawing/2014/main" id="{05969CF5-80AB-3F4A-C846-3BADAD29050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2" name="Freeform 22">
            <a:extLst>
              <a:ext uri="{FF2B5EF4-FFF2-40B4-BE49-F238E27FC236}">
                <a16:creationId xmlns:a16="http://schemas.microsoft.com/office/drawing/2014/main" id="{8E4E5C32-E17B-C08C-C45B-5C493761D5C6}"/>
              </a:ext>
            </a:extLst>
          </p:cNvPr>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a:extLst>
              <a:ext uri="{FF2B5EF4-FFF2-40B4-BE49-F238E27FC236}">
                <a16:creationId xmlns:a16="http://schemas.microsoft.com/office/drawing/2014/main" id="{1C037FD0-EE5B-A0F7-13EC-BFEAC135F42A}"/>
              </a:ext>
            </a:extLst>
          </p:cNvPr>
          <p:cNvSpPr txBox="1"/>
          <p:nvPr/>
        </p:nvSpPr>
        <p:spPr>
          <a:xfrm>
            <a:off x="828654" y="848653"/>
            <a:ext cx="9450797" cy="806696"/>
          </a:xfrm>
          <a:prstGeom prst="rect">
            <a:avLst/>
          </a:prstGeom>
        </p:spPr>
        <p:txBody>
          <a:bodyPr wrap="square" lIns="0" tIns="0" rIns="0" bIns="0" rtlCol="0" anchor="t">
            <a:spAutoFit/>
          </a:bodyPr>
          <a:lstStyle/>
          <a:p>
            <a:pPr algn="ctr">
              <a:lnSpc>
                <a:spcPts val="6720"/>
              </a:lnSpc>
            </a:pPr>
            <a:r>
              <a:rPr lang="en-IN" sz="5400" b="1" spc="560" dirty="0">
                <a:solidFill>
                  <a:srgbClr val="002060"/>
                </a:solidFill>
                <a:latin typeface="Times New Roman" panose="02020603050405020304" pitchFamily="18" charset="0"/>
                <a:cs typeface="Times New Roman" panose="02020603050405020304" pitchFamily="18" charset="0"/>
              </a:rPr>
              <a:t>ER Diagram</a:t>
            </a:r>
            <a:endParaRPr lang="en-US" sz="5400" b="1" spc="560" dirty="0">
              <a:solidFill>
                <a:srgbClr val="002060"/>
              </a:solidFill>
              <a:latin typeface="Times New Roman" panose="02020603050405020304" pitchFamily="18" charset="0"/>
              <a:cs typeface="Times New Roman" panose="02020603050405020304" pitchFamily="18" charset="0"/>
            </a:endParaRPr>
          </a:p>
        </p:txBody>
      </p:sp>
      <p:sp>
        <p:nvSpPr>
          <p:cNvPr id="25" name="TextBox 25">
            <a:extLst>
              <a:ext uri="{FF2B5EF4-FFF2-40B4-BE49-F238E27FC236}">
                <a16:creationId xmlns:a16="http://schemas.microsoft.com/office/drawing/2014/main" id="{D1A28D22-39C7-5441-0F92-A1D0DB627AD7}"/>
              </a:ext>
            </a:extLst>
          </p:cNvPr>
          <p:cNvSpPr txBox="1"/>
          <p:nvPr/>
        </p:nvSpPr>
        <p:spPr>
          <a:xfrm>
            <a:off x="2885330" y="1790701"/>
            <a:ext cx="15181060" cy="4062651"/>
          </a:xfrm>
          <a:prstGeom prst="rect">
            <a:avLst/>
          </a:prstGeom>
        </p:spPr>
        <p:txBody>
          <a:bodyPr wrap="square" lIns="0" tIns="0" rIns="0" bIns="0" rtlCol="0" anchor="t">
            <a:spAutoFit/>
          </a:bodyPr>
          <a:lstStyle/>
          <a:p>
            <a:pPr marL="342900" indent="-342900">
              <a:lnSpc>
                <a:spcPct val="150000"/>
              </a:lnSpc>
              <a:tabLst>
                <a:tab pos="228600" algn="l"/>
                <a:tab pos="457200" algn="l"/>
              </a:tabLst>
            </a:pPr>
            <a:endParaRPr lang="en-US" altLang="en-US" sz="2400" dirty="0">
              <a:latin typeface="Times New Roman" panose="02020603050405020304" pitchFamily="18" charset="0"/>
              <a:cs typeface="Times New Roman" panose="02020603050405020304" pitchFamily="18" charset="0"/>
            </a:endParaRPr>
          </a:p>
          <a:p>
            <a:pPr marL="342900" indent="-342900">
              <a:lnSpc>
                <a:spcPct val="150000"/>
              </a:lnSpc>
              <a:tabLst>
                <a:tab pos="228600" algn="l"/>
                <a:tab pos="457200" algn="l"/>
              </a:tabLst>
            </a:pPr>
            <a:endParaRPr lang="en-US" altLang="en-US" sz="2400" dirty="0">
              <a:latin typeface="Times New Roman" panose="02020603050405020304" pitchFamily="18" charset="0"/>
              <a:cs typeface="Times New Roman" panose="02020603050405020304" pitchFamily="18" charset="0"/>
            </a:endParaRPr>
          </a:p>
          <a:p>
            <a:pPr marL="342900" lvl="0" indent="-342900">
              <a:lnSpc>
                <a:spcPct val="150000"/>
              </a:lnSpc>
              <a:spcAft>
                <a:spcPts val="0"/>
              </a:spcAft>
              <a:tabLst>
                <a:tab pos="228600" algn="l"/>
                <a:tab pos="457200" algn="l"/>
              </a:tabLst>
            </a:pPr>
            <a:endParaRPr lang="en-IN" sz="2400" kern="100" dirty="0">
              <a:solidFill>
                <a:srgbClr val="04345C"/>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0"/>
              </a:spcAft>
              <a:tabLst>
                <a:tab pos="228600" algn="l"/>
                <a:tab pos="457200" algn="l"/>
              </a:tabLst>
            </a:pPr>
            <a:r>
              <a:rPr lang="en-IN" sz="2400" kern="100" dirty="0">
                <a:solidFill>
                  <a:srgbClr val="04345C"/>
                </a:solidFill>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nSpc>
                <a:spcPct val="150000"/>
              </a:lnSpc>
              <a:spcAft>
                <a:spcPts val="0"/>
              </a:spcAft>
              <a:tabLst>
                <a:tab pos="228600" algn="l"/>
                <a:tab pos="457200" algn="l"/>
              </a:tabLst>
            </a:pPr>
            <a:endParaRPr lang="en-IN" sz="2400" kern="100" dirty="0">
              <a:solidFill>
                <a:srgbClr val="04345C"/>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0"/>
              </a:spcAft>
              <a:tabLst>
                <a:tab pos="228600" algn="l"/>
                <a:tab pos="457200" algn="l"/>
              </a:tabLst>
            </a:pPr>
            <a:endParaRPr lang="en-IN" sz="2400" kern="100" dirty="0">
              <a:solidFill>
                <a:srgbClr val="04345C"/>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0"/>
              </a:spcAft>
              <a:tabLst>
                <a:tab pos="228600" algn="l"/>
                <a:tab pos="457200" algn="l"/>
              </a:tabLst>
            </a:pPr>
            <a:endParaRPr lang="en-IN" sz="3600" dirty="0">
              <a:solidFill>
                <a:srgbClr val="04345C"/>
              </a:solidFill>
              <a:latin typeface="Glacial Indifference" panose="020B0604020202020204" charset="0"/>
            </a:endParaRPr>
          </a:p>
        </p:txBody>
      </p:sp>
      <p:grpSp>
        <p:nvGrpSpPr>
          <p:cNvPr id="28" name="Group 28">
            <a:extLst>
              <a:ext uri="{FF2B5EF4-FFF2-40B4-BE49-F238E27FC236}">
                <a16:creationId xmlns:a16="http://schemas.microsoft.com/office/drawing/2014/main" id="{BABB1893-04C2-4616-9BE5-04323860485B}"/>
              </a:ext>
            </a:extLst>
          </p:cNvPr>
          <p:cNvGrpSpPr/>
          <p:nvPr/>
        </p:nvGrpSpPr>
        <p:grpSpPr>
          <a:xfrm>
            <a:off x="2656750" y="7007543"/>
            <a:ext cx="257154" cy="257154"/>
            <a:chOff x="0" y="0"/>
            <a:chExt cx="6350000" cy="6350000"/>
          </a:xfrm>
        </p:grpSpPr>
        <p:sp>
          <p:nvSpPr>
            <p:cNvPr id="29" name="Freeform 29">
              <a:extLst>
                <a:ext uri="{FF2B5EF4-FFF2-40B4-BE49-F238E27FC236}">
                  <a16:creationId xmlns:a16="http://schemas.microsoft.com/office/drawing/2014/main" id="{8C083A90-A0F6-5745-CCA7-2CD57C481C4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2" name="Group 32">
            <a:extLst>
              <a:ext uri="{FF2B5EF4-FFF2-40B4-BE49-F238E27FC236}">
                <a16:creationId xmlns:a16="http://schemas.microsoft.com/office/drawing/2014/main" id="{1B9BC650-53EC-2D5B-7A46-73A5A8330BE4}"/>
              </a:ext>
            </a:extLst>
          </p:cNvPr>
          <p:cNvGrpSpPr/>
          <p:nvPr/>
        </p:nvGrpSpPr>
        <p:grpSpPr>
          <a:xfrm>
            <a:off x="2647225" y="7969547"/>
            <a:ext cx="257154" cy="257154"/>
            <a:chOff x="0" y="0"/>
            <a:chExt cx="6350000" cy="6350000"/>
          </a:xfrm>
        </p:grpSpPr>
        <p:sp>
          <p:nvSpPr>
            <p:cNvPr id="33" name="Freeform 33">
              <a:extLst>
                <a:ext uri="{FF2B5EF4-FFF2-40B4-BE49-F238E27FC236}">
                  <a16:creationId xmlns:a16="http://schemas.microsoft.com/office/drawing/2014/main" id="{7D3AFD57-73CD-890A-1421-97373AB576E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5" name="Group 35">
            <a:extLst>
              <a:ext uri="{FF2B5EF4-FFF2-40B4-BE49-F238E27FC236}">
                <a16:creationId xmlns:a16="http://schemas.microsoft.com/office/drawing/2014/main" id="{65937465-B987-0B57-6D32-1DA532628AC6}"/>
              </a:ext>
            </a:extLst>
          </p:cNvPr>
          <p:cNvGrpSpPr/>
          <p:nvPr/>
        </p:nvGrpSpPr>
        <p:grpSpPr>
          <a:xfrm>
            <a:off x="2666275" y="8905409"/>
            <a:ext cx="257154" cy="257154"/>
            <a:chOff x="0" y="0"/>
            <a:chExt cx="6350000" cy="6350000"/>
          </a:xfrm>
        </p:grpSpPr>
        <p:sp>
          <p:nvSpPr>
            <p:cNvPr id="36" name="Freeform 36">
              <a:extLst>
                <a:ext uri="{FF2B5EF4-FFF2-40B4-BE49-F238E27FC236}">
                  <a16:creationId xmlns:a16="http://schemas.microsoft.com/office/drawing/2014/main" id="{FEEC5886-D170-12B0-493A-8483299A1D3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4" name="Group 23">
            <a:extLst>
              <a:ext uri="{FF2B5EF4-FFF2-40B4-BE49-F238E27FC236}">
                <a16:creationId xmlns:a16="http://schemas.microsoft.com/office/drawing/2014/main" id="{01D8DA52-A89A-5688-C78E-AC67141A547E}"/>
              </a:ext>
            </a:extLst>
          </p:cNvPr>
          <p:cNvGrpSpPr>
            <a:grpSpLocks/>
          </p:cNvGrpSpPr>
          <p:nvPr/>
        </p:nvGrpSpPr>
        <p:grpSpPr>
          <a:xfrm>
            <a:off x="3090107" y="1655349"/>
            <a:ext cx="12569718" cy="7506522"/>
            <a:chOff x="3047" y="3047"/>
            <a:chExt cx="4993133" cy="2901950"/>
          </a:xfrm>
        </p:grpSpPr>
        <p:pic>
          <p:nvPicPr>
            <p:cNvPr id="26" name="Image 52">
              <a:extLst>
                <a:ext uri="{FF2B5EF4-FFF2-40B4-BE49-F238E27FC236}">
                  <a16:creationId xmlns:a16="http://schemas.microsoft.com/office/drawing/2014/main" id="{8330C395-E724-7023-5987-440885694CE4}"/>
                </a:ext>
              </a:extLst>
            </p:cNvPr>
            <p:cNvPicPr/>
            <p:nvPr/>
          </p:nvPicPr>
          <p:blipFill>
            <a:blip r:embed="rId6" cstate="print"/>
            <a:stretch>
              <a:fillRect/>
            </a:stretch>
          </p:blipFill>
          <p:spPr>
            <a:xfrm>
              <a:off x="105775" y="263710"/>
              <a:ext cx="4456913" cy="2512241"/>
            </a:xfrm>
            <a:prstGeom prst="rect">
              <a:avLst/>
            </a:prstGeom>
          </p:spPr>
        </p:pic>
        <p:sp>
          <p:nvSpPr>
            <p:cNvPr id="27" name="Graphic 53">
              <a:extLst>
                <a:ext uri="{FF2B5EF4-FFF2-40B4-BE49-F238E27FC236}">
                  <a16:creationId xmlns:a16="http://schemas.microsoft.com/office/drawing/2014/main" id="{AE132CAB-A4C3-34EF-FF8B-C641D7A9BC2B}"/>
                </a:ext>
              </a:extLst>
            </p:cNvPr>
            <p:cNvSpPr/>
            <p:nvPr/>
          </p:nvSpPr>
          <p:spPr>
            <a:xfrm>
              <a:off x="3047" y="3047"/>
              <a:ext cx="4933315" cy="2901950"/>
            </a:xfrm>
            <a:custGeom>
              <a:avLst/>
              <a:gdLst/>
              <a:ahLst/>
              <a:cxnLst/>
              <a:rect l="l" t="t" r="r" b="b"/>
              <a:pathLst>
                <a:path w="4933315" h="2901950">
                  <a:moveTo>
                    <a:pt x="0" y="0"/>
                  </a:moveTo>
                  <a:lnTo>
                    <a:pt x="56387" y="2901696"/>
                  </a:lnTo>
                </a:path>
                <a:path w="4933315" h="2901950">
                  <a:moveTo>
                    <a:pt x="3047" y="32004"/>
                  </a:moveTo>
                  <a:lnTo>
                    <a:pt x="4933187" y="32004"/>
                  </a:lnTo>
                </a:path>
              </a:pathLst>
            </a:custGeom>
            <a:ln w="6096">
              <a:solidFill>
                <a:srgbClr val="000000"/>
              </a:solidFill>
              <a:prstDash val="solid"/>
            </a:ln>
          </p:spPr>
          <p:txBody>
            <a:bodyPr wrap="square" lIns="0" tIns="0" rIns="0" bIns="0" rtlCol="0">
              <a:prstTxWarp prst="textNoShape">
                <a:avLst/>
              </a:prstTxWarp>
              <a:noAutofit/>
            </a:bodyPr>
            <a:lstStyle/>
            <a:p>
              <a:endParaRPr lang="en-IN"/>
            </a:p>
          </p:txBody>
        </p:sp>
        <p:sp>
          <p:nvSpPr>
            <p:cNvPr id="30" name="Graphic 54">
              <a:extLst>
                <a:ext uri="{FF2B5EF4-FFF2-40B4-BE49-F238E27FC236}">
                  <a16:creationId xmlns:a16="http://schemas.microsoft.com/office/drawing/2014/main" id="{A739EB34-0E39-EEEE-B6D8-D2F657EE2A53}"/>
                </a:ext>
              </a:extLst>
            </p:cNvPr>
            <p:cNvSpPr/>
            <p:nvPr/>
          </p:nvSpPr>
          <p:spPr>
            <a:xfrm>
              <a:off x="60960" y="35052"/>
              <a:ext cx="4935220" cy="2865120"/>
            </a:xfrm>
            <a:custGeom>
              <a:avLst/>
              <a:gdLst/>
              <a:ahLst/>
              <a:cxnLst/>
              <a:rect l="l" t="t" r="r" b="b"/>
              <a:pathLst>
                <a:path w="4935220" h="2865120">
                  <a:moveTo>
                    <a:pt x="4881371" y="0"/>
                  </a:moveTo>
                  <a:lnTo>
                    <a:pt x="4922520" y="2859024"/>
                  </a:lnTo>
                </a:path>
                <a:path w="4935220" h="2865120">
                  <a:moveTo>
                    <a:pt x="0" y="2865120"/>
                  </a:moveTo>
                  <a:lnTo>
                    <a:pt x="4934711" y="2865120"/>
                  </a:lnTo>
                </a:path>
              </a:pathLst>
            </a:custGeom>
            <a:ln w="6096">
              <a:solidFill>
                <a:srgbClr val="156082"/>
              </a:solidFill>
              <a:prstDash val="solid"/>
            </a:ln>
          </p:spPr>
          <p:txBody>
            <a:bodyPr wrap="square" lIns="0" tIns="0" rIns="0" bIns="0" rtlCol="0">
              <a:prstTxWarp prst="textNoShape">
                <a:avLst/>
              </a:prstTxWarp>
              <a:noAutofit/>
            </a:bodyPr>
            <a:lstStyle/>
            <a:p>
              <a:endParaRPr lang="en-IN"/>
            </a:p>
          </p:txBody>
        </p:sp>
      </p:grpSp>
    </p:spTree>
    <p:extLst>
      <p:ext uri="{BB962C8B-B14F-4D97-AF65-F5344CB8AC3E}">
        <p14:creationId xmlns:p14="http://schemas.microsoft.com/office/powerpoint/2010/main" val="1627562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rot="-8898611">
            <a:off x="7791790" y="2618940"/>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7912599">
            <a:off x="244395" y="-2469393"/>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Freeform 5"/>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2794852" y="2166923"/>
            <a:ext cx="3448537" cy="1172984"/>
            <a:chOff x="0" y="0"/>
            <a:chExt cx="4598049" cy="1563979"/>
          </a:xfrm>
        </p:grpSpPr>
        <p:sp>
          <p:nvSpPr>
            <p:cNvPr id="7" name="TextBox 7"/>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p:cNvGrpSpPr/>
          <p:nvPr/>
        </p:nvGrpSpPr>
        <p:grpSpPr>
          <a:xfrm>
            <a:off x="17259300" y="8462486"/>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p:cNvSpPr/>
          <p:nvPr/>
        </p:nvSpPr>
        <p:spPr>
          <a:xfrm>
            <a:off x="2756752" y="-419100"/>
            <a:ext cx="38100" cy="10706100"/>
          </a:xfrm>
          <a:prstGeom prst="rect">
            <a:avLst/>
          </a:prstGeom>
          <a:solidFill>
            <a:srgbClr val="E2EDF1"/>
          </a:solidFill>
        </p:spPr>
        <p:txBody>
          <a:bodyPr/>
          <a:lstStyle/>
          <a:p>
            <a:endParaRPr lang="en-IN"/>
          </a:p>
        </p:txBody>
      </p:sp>
      <p:grpSp>
        <p:nvGrpSpPr>
          <p:cNvPr id="12" name="Group 12"/>
          <p:cNvGrpSpPr/>
          <p:nvPr/>
        </p:nvGrpSpPr>
        <p:grpSpPr>
          <a:xfrm>
            <a:off x="2628175" y="2407218"/>
            <a:ext cx="257154" cy="257154"/>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p:cNvGrpSpPr/>
          <p:nvPr/>
        </p:nvGrpSpPr>
        <p:grpSpPr>
          <a:xfrm>
            <a:off x="2628175" y="3609295"/>
            <a:ext cx="257154" cy="257154"/>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p:cNvGrpSpPr/>
          <p:nvPr/>
        </p:nvGrpSpPr>
        <p:grpSpPr>
          <a:xfrm>
            <a:off x="2666275" y="4917213"/>
            <a:ext cx="257154" cy="257154"/>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p:cNvGrpSpPr/>
          <p:nvPr/>
        </p:nvGrpSpPr>
        <p:grpSpPr>
          <a:xfrm>
            <a:off x="2666275" y="5945040"/>
            <a:ext cx="257154" cy="257154"/>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0" name="Group 20"/>
          <p:cNvGrpSpPr/>
          <p:nvPr/>
        </p:nvGrpSpPr>
        <p:grpSpPr>
          <a:xfrm>
            <a:off x="-320056" y="604334"/>
            <a:ext cx="1348756" cy="1348756"/>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2" name="Freeform 22"/>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p:cNvSpPr txBox="1"/>
          <p:nvPr/>
        </p:nvSpPr>
        <p:spPr>
          <a:xfrm>
            <a:off x="2794852" y="-37098"/>
            <a:ext cx="12597548" cy="1424877"/>
          </a:xfrm>
          <a:prstGeom prst="rect">
            <a:avLst/>
          </a:prstGeom>
        </p:spPr>
        <p:txBody>
          <a:bodyPr wrap="square" lIns="0" tIns="0" rIns="0" bIns="0" rtlCol="0" anchor="t">
            <a:spAutoFit/>
          </a:bodyPr>
          <a:lstStyle/>
          <a:p>
            <a:pPr marL="457200" lvl="0" indent="-317500" algn="just">
              <a:lnSpc>
                <a:spcPct val="200000"/>
              </a:lnSpc>
              <a:spcBef>
                <a:spcPts val="600"/>
              </a:spcBef>
              <a:buSzPts val="1400"/>
              <a:buChar char="◇"/>
            </a:pPr>
            <a:r>
              <a:rPr lang="en-IN" sz="5400" dirty="0">
                <a:solidFill>
                  <a:srgbClr val="002060"/>
                </a:solidFill>
                <a:latin typeface="Times New Roman"/>
                <a:ea typeface="Times New Roman"/>
                <a:cs typeface="Times New Roman"/>
                <a:sym typeface="Times New Roman"/>
              </a:rPr>
              <a:t>INPUT/OUTPUT/SCREENSHOTS</a:t>
            </a:r>
            <a:endParaRPr lang="en-IN" sz="5400" b="1" dirty="0">
              <a:solidFill>
                <a:srgbClr val="002060"/>
              </a:solidFill>
              <a:ea typeface="Calibri"/>
              <a:cs typeface="Calibri"/>
              <a:sym typeface="Calibri"/>
            </a:endParaRPr>
          </a:p>
        </p:txBody>
      </p:sp>
      <p:grpSp>
        <p:nvGrpSpPr>
          <p:cNvPr id="28" name="Group 28"/>
          <p:cNvGrpSpPr/>
          <p:nvPr/>
        </p:nvGrpSpPr>
        <p:grpSpPr>
          <a:xfrm>
            <a:off x="2656750" y="7007543"/>
            <a:ext cx="257154" cy="257154"/>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2" name="Group 32"/>
          <p:cNvGrpSpPr/>
          <p:nvPr/>
        </p:nvGrpSpPr>
        <p:grpSpPr>
          <a:xfrm>
            <a:off x="2647225" y="7969547"/>
            <a:ext cx="257154" cy="257154"/>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5" name="Group 35"/>
          <p:cNvGrpSpPr/>
          <p:nvPr/>
        </p:nvGrpSpPr>
        <p:grpSpPr>
          <a:xfrm>
            <a:off x="2666275" y="8905409"/>
            <a:ext cx="257154" cy="257154"/>
            <a:chOff x="0" y="0"/>
            <a:chExt cx="6350000" cy="6350000"/>
          </a:xfrm>
        </p:grpSpPr>
        <p:sp>
          <p:nvSpPr>
            <p:cNvPr id="36" name="Freeform 3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pic>
        <p:nvPicPr>
          <p:cNvPr id="24" name="Picture 23" descr="A computer screen with a key and a key in it&#10;&#10;AI-generated content may be incorrect.">
            <a:extLst>
              <a:ext uri="{FF2B5EF4-FFF2-40B4-BE49-F238E27FC236}">
                <a16:creationId xmlns:a16="http://schemas.microsoft.com/office/drawing/2014/main" id="{C26C07F5-883B-5D3B-D6DA-2FB0532BCDC5}"/>
              </a:ext>
            </a:extLst>
          </p:cNvPr>
          <p:cNvPicPr>
            <a:picLocks noChangeAspect="1"/>
          </p:cNvPicPr>
          <p:nvPr/>
        </p:nvPicPr>
        <p:blipFill>
          <a:blip r:embed="rId6"/>
          <a:stretch>
            <a:fillRect/>
          </a:stretch>
        </p:blipFill>
        <p:spPr>
          <a:xfrm>
            <a:off x="3062727" y="2392882"/>
            <a:ext cx="14348973" cy="7468148"/>
          </a:xfrm>
          <a:prstGeom prst="rect">
            <a:avLst/>
          </a:prstGeom>
        </p:spPr>
      </p:pic>
      <p:sp>
        <p:nvSpPr>
          <p:cNvPr id="26" name="TextBox 25">
            <a:extLst>
              <a:ext uri="{FF2B5EF4-FFF2-40B4-BE49-F238E27FC236}">
                <a16:creationId xmlns:a16="http://schemas.microsoft.com/office/drawing/2014/main" id="{DCE32D3A-0B81-0424-E613-603E0A0BF4E9}"/>
              </a:ext>
            </a:extLst>
          </p:cNvPr>
          <p:cNvSpPr txBox="1"/>
          <p:nvPr/>
        </p:nvSpPr>
        <p:spPr>
          <a:xfrm>
            <a:off x="3138927" y="1714500"/>
            <a:ext cx="5928873" cy="707886"/>
          </a:xfrm>
          <a:prstGeom prst="rect">
            <a:avLst/>
          </a:prstGeom>
          <a:noFill/>
        </p:spPr>
        <p:txBody>
          <a:bodyPr wrap="square" rtlCol="0">
            <a:spAutoFit/>
          </a:bodyPr>
          <a:lstStyle/>
          <a:p>
            <a:r>
              <a:rPr lang="en-US" sz="4000" b="1" dirty="0" err="1">
                <a:solidFill>
                  <a:srgbClr val="002060"/>
                </a:solidFill>
                <a:latin typeface="Times New Roman" panose="02020603050405020304" pitchFamily="18" charset="0"/>
                <a:cs typeface="Times New Roman" panose="02020603050405020304" pitchFamily="18" charset="0"/>
              </a:rPr>
              <a:t>JobSeeker</a:t>
            </a:r>
            <a:r>
              <a:rPr lang="en-US" sz="4000" b="1" dirty="0">
                <a:solidFill>
                  <a:srgbClr val="002060"/>
                </a:solidFill>
                <a:latin typeface="Times New Roman" panose="02020603050405020304" pitchFamily="18" charset="0"/>
                <a:cs typeface="Times New Roman" panose="02020603050405020304" pitchFamily="18" charset="0"/>
              </a:rPr>
              <a:t> - Login</a:t>
            </a:r>
            <a:endParaRPr lang="en-IN" sz="40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0111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a:extLst>
            <a:ext uri="{FF2B5EF4-FFF2-40B4-BE49-F238E27FC236}">
              <a16:creationId xmlns:a16="http://schemas.microsoft.com/office/drawing/2014/main" id="{A94DC17E-EBF6-4620-DD10-32C2DE0183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FF5064E-64EE-DE3F-4DAC-610BCB845F20}"/>
              </a:ext>
            </a:extLst>
          </p:cNvPr>
          <p:cNvSpPr/>
          <p:nvPr/>
        </p:nvSpPr>
        <p:spPr>
          <a:xfrm rot="-8898611">
            <a:off x="7791790" y="2618940"/>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36779A25-D61D-3CAF-867F-FB7CD23BC9C6}"/>
              </a:ext>
            </a:extLst>
          </p:cNvPr>
          <p:cNvSpPr/>
          <p:nvPr/>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C4D36A47-C613-6FD6-1D34-7AEA32C04816}"/>
              </a:ext>
            </a:extLst>
          </p:cNvPr>
          <p:cNvSpPr/>
          <p:nvPr/>
        </p:nvSpPr>
        <p:spPr>
          <a:xfrm rot="-7912599">
            <a:off x="283697" y="-2560035"/>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Freeform 5">
            <a:extLst>
              <a:ext uri="{FF2B5EF4-FFF2-40B4-BE49-F238E27FC236}">
                <a16:creationId xmlns:a16="http://schemas.microsoft.com/office/drawing/2014/main" id="{17D573BD-330B-D234-F883-747D38A7ACCE}"/>
              </a:ext>
            </a:extLst>
          </p:cNvPr>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60698199-E36E-AF51-C247-19D1A284B7AB}"/>
              </a:ext>
            </a:extLst>
          </p:cNvPr>
          <p:cNvGrpSpPr/>
          <p:nvPr/>
        </p:nvGrpSpPr>
        <p:grpSpPr>
          <a:xfrm>
            <a:off x="2794852" y="2166923"/>
            <a:ext cx="3448537" cy="1172984"/>
            <a:chOff x="0" y="0"/>
            <a:chExt cx="4598049" cy="1563979"/>
          </a:xfrm>
        </p:grpSpPr>
        <p:sp>
          <p:nvSpPr>
            <p:cNvPr id="7" name="TextBox 7">
              <a:extLst>
                <a:ext uri="{FF2B5EF4-FFF2-40B4-BE49-F238E27FC236}">
                  <a16:creationId xmlns:a16="http://schemas.microsoft.com/office/drawing/2014/main" id="{2CEBF14B-5A1B-2EB8-2068-11BF4C26E58A}"/>
                </a:ext>
              </a:extLst>
            </p:cNvPr>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a:extLst>
                <a:ext uri="{FF2B5EF4-FFF2-40B4-BE49-F238E27FC236}">
                  <a16:creationId xmlns:a16="http://schemas.microsoft.com/office/drawing/2014/main" id="{DCE5DD5A-9143-98C5-6AAD-F56E1D70DCFF}"/>
                </a:ext>
              </a:extLst>
            </p:cNvPr>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a:extLst>
              <a:ext uri="{FF2B5EF4-FFF2-40B4-BE49-F238E27FC236}">
                <a16:creationId xmlns:a16="http://schemas.microsoft.com/office/drawing/2014/main" id="{4233A50E-0660-436A-F0E6-14F4CCF4F2FC}"/>
              </a:ext>
            </a:extLst>
          </p:cNvPr>
          <p:cNvGrpSpPr/>
          <p:nvPr/>
        </p:nvGrpSpPr>
        <p:grpSpPr>
          <a:xfrm>
            <a:off x="17259300" y="8462486"/>
            <a:ext cx="571500" cy="571500"/>
            <a:chOff x="0" y="0"/>
            <a:chExt cx="6350000" cy="6350000"/>
          </a:xfrm>
        </p:grpSpPr>
        <p:sp>
          <p:nvSpPr>
            <p:cNvPr id="10" name="Freeform 10">
              <a:extLst>
                <a:ext uri="{FF2B5EF4-FFF2-40B4-BE49-F238E27FC236}">
                  <a16:creationId xmlns:a16="http://schemas.microsoft.com/office/drawing/2014/main" id="{15565FB0-44A3-1C35-67C7-5C85B9D92E7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a:extLst>
              <a:ext uri="{FF2B5EF4-FFF2-40B4-BE49-F238E27FC236}">
                <a16:creationId xmlns:a16="http://schemas.microsoft.com/office/drawing/2014/main" id="{8A035E50-A25D-9A13-6CEC-16A3A60A7952}"/>
              </a:ext>
            </a:extLst>
          </p:cNvPr>
          <p:cNvSpPr/>
          <p:nvPr/>
        </p:nvSpPr>
        <p:spPr>
          <a:xfrm>
            <a:off x="2756752" y="-419100"/>
            <a:ext cx="38100" cy="10706100"/>
          </a:xfrm>
          <a:prstGeom prst="rect">
            <a:avLst/>
          </a:prstGeom>
          <a:solidFill>
            <a:srgbClr val="E2EDF1"/>
          </a:solidFill>
        </p:spPr>
        <p:txBody>
          <a:bodyPr/>
          <a:lstStyle/>
          <a:p>
            <a:endParaRPr lang="en-IN"/>
          </a:p>
        </p:txBody>
      </p:sp>
      <p:grpSp>
        <p:nvGrpSpPr>
          <p:cNvPr id="12" name="Group 12">
            <a:extLst>
              <a:ext uri="{FF2B5EF4-FFF2-40B4-BE49-F238E27FC236}">
                <a16:creationId xmlns:a16="http://schemas.microsoft.com/office/drawing/2014/main" id="{C4D495F9-32B5-C377-F92B-3BC711661166}"/>
              </a:ext>
            </a:extLst>
          </p:cNvPr>
          <p:cNvGrpSpPr/>
          <p:nvPr/>
        </p:nvGrpSpPr>
        <p:grpSpPr>
          <a:xfrm>
            <a:off x="2628175" y="2407218"/>
            <a:ext cx="257154" cy="257154"/>
            <a:chOff x="0" y="0"/>
            <a:chExt cx="6350000" cy="6350000"/>
          </a:xfrm>
        </p:grpSpPr>
        <p:sp>
          <p:nvSpPr>
            <p:cNvPr id="13" name="Freeform 13">
              <a:extLst>
                <a:ext uri="{FF2B5EF4-FFF2-40B4-BE49-F238E27FC236}">
                  <a16:creationId xmlns:a16="http://schemas.microsoft.com/office/drawing/2014/main" id="{6E43E3B7-0EFB-6A5D-0F17-373146F4D4C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a:extLst>
              <a:ext uri="{FF2B5EF4-FFF2-40B4-BE49-F238E27FC236}">
                <a16:creationId xmlns:a16="http://schemas.microsoft.com/office/drawing/2014/main" id="{84AEA870-05C8-535C-1ABD-0651FF498D59}"/>
              </a:ext>
            </a:extLst>
          </p:cNvPr>
          <p:cNvGrpSpPr/>
          <p:nvPr/>
        </p:nvGrpSpPr>
        <p:grpSpPr>
          <a:xfrm>
            <a:off x="2628175" y="3609295"/>
            <a:ext cx="257154" cy="257154"/>
            <a:chOff x="0" y="0"/>
            <a:chExt cx="6350000" cy="6350000"/>
          </a:xfrm>
        </p:grpSpPr>
        <p:sp>
          <p:nvSpPr>
            <p:cNvPr id="15" name="Freeform 15">
              <a:extLst>
                <a:ext uri="{FF2B5EF4-FFF2-40B4-BE49-F238E27FC236}">
                  <a16:creationId xmlns:a16="http://schemas.microsoft.com/office/drawing/2014/main" id="{5FBEA75A-2984-A77E-039E-82498265C1B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a:extLst>
              <a:ext uri="{FF2B5EF4-FFF2-40B4-BE49-F238E27FC236}">
                <a16:creationId xmlns:a16="http://schemas.microsoft.com/office/drawing/2014/main" id="{50F9DBD1-9159-A109-5DF0-9BA3BDAB834A}"/>
              </a:ext>
            </a:extLst>
          </p:cNvPr>
          <p:cNvGrpSpPr/>
          <p:nvPr/>
        </p:nvGrpSpPr>
        <p:grpSpPr>
          <a:xfrm>
            <a:off x="2666275" y="4917213"/>
            <a:ext cx="257154" cy="257154"/>
            <a:chOff x="0" y="0"/>
            <a:chExt cx="6350000" cy="6350000"/>
          </a:xfrm>
        </p:grpSpPr>
        <p:sp>
          <p:nvSpPr>
            <p:cNvPr id="17" name="Freeform 17">
              <a:extLst>
                <a:ext uri="{FF2B5EF4-FFF2-40B4-BE49-F238E27FC236}">
                  <a16:creationId xmlns:a16="http://schemas.microsoft.com/office/drawing/2014/main" id="{9FFEA936-72DB-56F8-29D1-2D01C9614CF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a:extLst>
              <a:ext uri="{FF2B5EF4-FFF2-40B4-BE49-F238E27FC236}">
                <a16:creationId xmlns:a16="http://schemas.microsoft.com/office/drawing/2014/main" id="{636D4945-EB17-4627-DAE3-EC74B92AD2D4}"/>
              </a:ext>
            </a:extLst>
          </p:cNvPr>
          <p:cNvGrpSpPr/>
          <p:nvPr/>
        </p:nvGrpSpPr>
        <p:grpSpPr>
          <a:xfrm>
            <a:off x="2666275" y="5945040"/>
            <a:ext cx="257154" cy="257154"/>
            <a:chOff x="0" y="0"/>
            <a:chExt cx="6350000" cy="6350000"/>
          </a:xfrm>
        </p:grpSpPr>
        <p:sp>
          <p:nvSpPr>
            <p:cNvPr id="19" name="Freeform 19">
              <a:extLst>
                <a:ext uri="{FF2B5EF4-FFF2-40B4-BE49-F238E27FC236}">
                  <a16:creationId xmlns:a16="http://schemas.microsoft.com/office/drawing/2014/main" id="{90F100EB-5D8B-F89D-B253-200C752058F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0" name="Group 20">
            <a:extLst>
              <a:ext uri="{FF2B5EF4-FFF2-40B4-BE49-F238E27FC236}">
                <a16:creationId xmlns:a16="http://schemas.microsoft.com/office/drawing/2014/main" id="{5BB645D7-FE55-DF22-5991-81CDA2E59909}"/>
              </a:ext>
            </a:extLst>
          </p:cNvPr>
          <p:cNvGrpSpPr/>
          <p:nvPr/>
        </p:nvGrpSpPr>
        <p:grpSpPr>
          <a:xfrm>
            <a:off x="-320056" y="604334"/>
            <a:ext cx="1348756" cy="1348756"/>
            <a:chOff x="0" y="0"/>
            <a:chExt cx="6350000" cy="6350000"/>
          </a:xfrm>
        </p:grpSpPr>
        <p:sp>
          <p:nvSpPr>
            <p:cNvPr id="21" name="Freeform 21">
              <a:extLst>
                <a:ext uri="{FF2B5EF4-FFF2-40B4-BE49-F238E27FC236}">
                  <a16:creationId xmlns:a16="http://schemas.microsoft.com/office/drawing/2014/main" id="{C8544EB5-0148-C64F-5C3E-6AA3D491E3C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2" name="Freeform 22">
            <a:extLst>
              <a:ext uri="{FF2B5EF4-FFF2-40B4-BE49-F238E27FC236}">
                <a16:creationId xmlns:a16="http://schemas.microsoft.com/office/drawing/2014/main" id="{5D6368EE-9115-75E9-3AE9-C35CE43A9B6F}"/>
              </a:ext>
            </a:extLst>
          </p:cNvPr>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a:extLst>
              <a:ext uri="{FF2B5EF4-FFF2-40B4-BE49-F238E27FC236}">
                <a16:creationId xmlns:a16="http://schemas.microsoft.com/office/drawing/2014/main" id="{245E795B-1D51-BA59-6A4E-F1BE38119D3A}"/>
              </a:ext>
            </a:extLst>
          </p:cNvPr>
          <p:cNvSpPr txBox="1"/>
          <p:nvPr/>
        </p:nvSpPr>
        <p:spPr>
          <a:xfrm>
            <a:off x="2971054" y="848653"/>
            <a:ext cx="3121061" cy="764633"/>
          </a:xfrm>
          <a:prstGeom prst="rect">
            <a:avLst/>
          </a:prstGeom>
        </p:spPr>
        <p:txBody>
          <a:bodyPr wrap="square" lIns="0" tIns="0" rIns="0" bIns="0" rtlCol="0" anchor="t">
            <a:spAutoFit/>
          </a:bodyPr>
          <a:lstStyle/>
          <a:p>
            <a:pPr algn="ctr">
              <a:lnSpc>
                <a:spcPts val="6720"/>
              </a:lnSpc>
            </a:pPr>
            <a:r>
              <a:rPr lang="en-US" sz="4000" b="1" spc="560" dirty="0">
                <a:solidFill>
                  <a:srgbClr val="002060"/>
                </a:solidFill>
                <a:latin typeface="Times New Roman" panose="02020603050405020304" pitchFamily="18" charset="0"/>
                <a:cs typeface="Times New Roman" panose="02020603050405020304" pitchFamily="18" charset="0"/>
              </a:rPr>
              <a:t>H</a:t>
            </a:r>
            <a:r>
              <a:rPr lang="en-IN" sz="4000" b="1" spc="560" dirty="0" err="1">
                <a:solidFill>
                  <a:srgbClr val="002060"/>
                </a:solidFill>
                <a:latin typeface="Times New Roman" panose="02020603050405020304" pitchFamily="18" charset="0"/>
                <a:cs typeface="Times New Roman" panose="02020603050405020304" pitchFamily="18" charset="0"/>
              </a:rPr>
              <a:t>ome</a:t>
            </a:r>
            <a:r>
              <a:rPr lang="en-IN" sz="4000" b="1" spc="560" dirty="0">
                <a:solidFill>
                  <a:srgbClr val="002060"/>
                </a:solidFill>
                <a:latin typeface="Times New Roman" panose="02020603050405020304" pitchFamily="18" charset="0"/>
                <a:cs typeface="Times New Roman" panose="02020603050405020304" pitchFamily="18" charset="0"/>
              </a:rPr>
              <a:t> Page</a:t>
            </a:r>
            <a:endParaRPr lang="en-US" sz="4000" b="1" spc="560" dirty="0">
              <a:solidFill>
                <a:srgbClr val="002060"/>
              </a:solidFill>
              <a:latin typeface="Times New Roman" panose="02020603050405020304" pitchFamily="18" charset="0"/>
              <a:cs typeface="Times New Roman" panose="02020603050405020304" pitchFamily="18" charset="0"/>
            </a:endParaRPr>
          </a:p>
        </p:txBody>
      </p:sp>
      <p:grpSp>
        <p:nvGrpSpPr>
          <p:cNvPr id="28" name="Group 28">
            <a:extLst>
              <a:ext uri="{FF2B5EF4-FFF2-40B4-BE49-F238E27FC236}">
                <a16:creationId xmlns:a16="http://schemas.microsoft.com/office/drawing/2014/main" id="{703FF7A0-D59A-6636-A966-C37BC91B24E6}"/>
              </a:ext>
            </a:extLst>
          </p:cNvPr>
          <p:cNvGrpSpPr/>
          <p:nvPr/>
        </p:nvGrpSpPr>
        <p:grpSpPr>
          <a:xfrm>
            <a:off x="2656750" y="7007543"/>
            <a:ext cx="257154" cy="257154"/>
            <a:chOff x="0" y="0"/>
            <a:chExt cx="6350000" cy="6350000"/>
          </a:xfrm>
        </p:grpSpPr>
        <p:sp>
          <p:nvSpPr>
            <p:cNvPr id="29" name="Freeform 29">
              <a:extLst>
                <a:ext uri="{FF2B5EF4-FFF2-40B4-BE49-F238E27FC236}">
                  <a16:creationId xmlns:a16="http://schemas.microsoft.com/office/drawing/2014/main" id="{13185CB7-EEB1-1A66-FB84-1B673BACA66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2" name="Group 32">
            <a:extLst>
              <a:ext uri="{FF2B5EF4-FFF2-40B4-BE49-F238E27FC236}">
                <a16:creationId xmlns:a16="http://schemas.microsoft.com/office/drawing/2014/main" id="{E1D88371-9865-3777-9E53-3010D5C1BD65}"/>
              </a:ext>
            </a:extLst>
          </p:cNvPr>
          <p:cNvGrpSpPr/>
          <p:nvPr/>
        </p:nvGrpSpPr>
        <p:grpSpPr>
          <a:xfrm>
            <a:off x="2647225" y="7969547"/>
            <a:ext cx="257154" cy="257154"/>
            <a:chOff x="0" y="0"/>
            <a:chExt cx="6350000" cy="6350000"/>
          </a:xfrm>
        </p:grpSpPr>
        <p:sp>
          <p:nvSpPr>
            <p:cNvPr id="33" name="Freeform 33">
              <a:extLst>
                <a:ext uri="{FF2B5EF4-FFF2-40B4-BE49-F238E27FC236}">
                  <a16:creationId xmlns:a16="http://schemas.microsoft.com/office/drawing/2014/main" id="{93BFD20A-9A33-7581-D457-87C337EED5C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5" name="Group 35">
            <a:extLst>
              <a:ext uri="{FF2B5EF4-FFF2-40B4-BE49-F238E27FC236}">
                <a16:creationId xmlns:a16="http://schemas.microsoft.com/office/drawing/2014/main" id="{037F3F3F-9AC9-CDA1-0C7D-23AEF64D7024}"/>
              </a:ext>
            </a:extLst>
          </p:cNvPr>
          <p:cNvGrpSpPr/>
          <p:nvPr/>
        </p:nvGrpSpPr>
        <p:grpSpPr>
          <a:xfrm>
            <a:off x="2666275" y="8905409"/>
            <a:ext cx="257154" cy="257154"/>
            <a:chOff x="0" y="0"/>
            <a:chExt cx="6350000" cy="6350000"/>
          </a:xfrm>
        </p:grpSpPr>
        <p:sp>
          <p:nvSpPr>
            <p:cNvPr id="36" name="Freeform 36">
              <a:extLst>
                <a:ext uri="{FF2B5EF4-FFF2-40B4-BE49-F238E27FC236}">
                  <a16:creationId xmlns:a16="http://schemas.microsoft.com/office/drawing/2014/main" id="{5C13055D-1396-6497-7BEB-D49E56D3ECA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pic>
        <p:nvPicPr>
          <p:cNvPr id="24" name="Picture 23" descr="A screenshot of a website&#10;&#10;AI-generated content may be incorrect.">
            <a:extLst>
              <a:ext uri="{FF2B5EF4-FFF2-40B4-BE49-F238E27FC236}">
                <a16:creationId xmlns:a16="http://schemas.microsoft.com/office/drawing/2014/main" id="{12FF8309-1554-C9AA-F669-0FD00777C43B}"/>
              </a:ext>
            </a:extLst>
          </p:cNvPr>
          <p:cNvPicPr>
            <a:picLocks noChangeAspect="1"/>
          </p:cNvPicPr>
          <p:nvPr/>
        </p:nvPicPr>
        <p:blipFill>
          <a:blip r:embed="rId6"/>
          <a:stretch>
            <a:fillRect/>
          </a:stretch>
        </p:blipFill>
        <p:spPr>
          <a:xfrm>
            <a:off x="2825788" y="1660396"/>
            <a:ext cx="14662111" cy="8140452"/>
          </a:xfrm>
          <a:prstGeom prst="rect">
            <a:avLst/>
          </a:prstGeom>
        </p:spPr>
      </p:pic>
    </p:spTree>
    <p:extLst>
      <p:ext uri="{BB962C8B-B14F-4D97-AF65-F5344CB8AC3E}">
        <p14:creationId xmlns:p14="http://schemas.microsoft.com/office/powerpoint/2010/main" val="3008721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a:extLst>
            <a:ext uri="{FF2B5EF4-FFF2-40B4-BE49-F238E27FC236}">
              <a16:creationId xmlns:a16="http://schemas.microsoft.com/office/drawing/2014/main" id="{815939A5-9A3B-A324-3E0A-18CC71A6250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9CB28B-CBE4-CE50-F4C5-F7444091FB63}"/>
              </a:ext>
            </a:extLst>
          </p:cNvPr>
          <p:cNvSpPr/>
          <p:nvPr/>
        </p:nvSpPr>
        <p:spPr>
          <a:xfrm rot="-8898611">
            <a:off x="7791790" y="2618940"/>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869B280D-2374-9924-D586-A608F61DC7F7}"/>
              </a:ext>
            </a:extLst>
          </p:cNvPr>
          <p:cNvSpPr/>
          <p:nvPr/>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E2E4C3D5-9C5B-CB4C-71CF-47CB8DE3060A}"/>
              </a:ext>
            </a:extLst>
          </p:cNvPr>
          <p:cNvSpPr/>
          <p:nvPr/>
        </p:nvSpPr>
        <p:spPr>
          <a:xfrm rot="-7912599">
            <a:off x="-311487" y="-2564828"/>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B5C3F778-30D2-2117-8026-C872EB4A84D8}"/>
              </a:ext>
            </a:extLst>
          </p:cNvPr>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3DA3BD7F-4609-2EAA-CEF1-B2EA5B5F5933}"/>
              </a:ext>
            </a:extLst>
          </p:cNvPr>
          <p:cNvGrpSpPr/>
          <p:nvPr/>
        </p:nvGrpSpPr>
        <p:grpSpPr>
          <a:xfrm>
            <a:off x="2794852" y="2166923"/>
            <a:ext cx="3448537" cy="1172984"/>
            <a:chOff x="0" y="0"/>
            <a:chExt cx="4598049" cy="1563979"/>
          </a:xfrm>
        </p:grpSpPr>
        <p:sp>
          <p:nvSpPr>
            <p:cNvPr id="7" name="TextBox 7">
              <a:extLst>
                <a:ext uri="{FF2B5EF4-FFF2-40B4-BE49-F238E27FC236}">
                  <a16:creationId xmlns:a16="http://schemas.microsoft.com/office/drawing/2014/main" id="{EE775BF3-9778-6E84-650D-89CE21439DC9}"/>
                </a:ext>
              </a:extLst>
            </p:cNvPr>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a:extLst>
                <a:ext uri="{FF2B5EF4-FFF2-40B4-BE49-F238E27FC236}">
                  <a16:creationId xmlns:a16="http://schemas.microsoft.com/office/drawing/2014/main" id="{CE82238C-C4EC-57E9-5BED-31E443C4C8C6}"/>
                </a:ext>
              </a:extLst>
            </p:cNvPr>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a:extLst>
              <a:ext uri="{FF2B5EF4-FFF2-40B4-BE49-F238E27FC236}">
                <a16:creationId xmlns:a16="http://schemas.microsoft.com/office/drawing/2014/main" id="{70431115-B719-DC75-51CE-7D1F7BB6FE04}"/>
              </a:ext>
            </a:extLst>
          </p:cNvPr>
          <p:cNvGrpSpPr/>
          <p:nvPr/>
        </p:nvGrpSpPr>
        <p:grpSpPr>
          <a:xfrm>
            <a:off x="17259300" y="8462486"/>
            <a:ext cx="571500" cy="571500"/>
            <a:chOff x="0" y="0"/>
            <a:chExt cx="6350000" cy="6350000"/>
          </a:xfrm>
        </p:grpSpPr>
        <p:sp>
          <p:nvSpPr>
            <p:cNvPr id="10" name="Freeform 10">
              <a:extLst>
                <a:ext uri="{FF2B5EF4-FFF2-40B4-BE49-F238E27FC236}">
                  <a16:creationId xmlns:a16="http://schemas.microsoft.com/office/drawing/2014/main" id="{D3EDB092-8854-2746-F803-E6444E371EE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a:extLst>
              <a:ext uri="{FF2B5EF4-FFF2-40B4-BE49-F238E27FC236}">
                <a16:creationId xmlns:a16="http://schemas.microsoft.com/office/drawing/2014/main" id="{933E5AE5-F368-B374-3A9C-B7BAC3154920}"/>
              </a:ext>
            </a:extLst>
          </p:cNvPr>
          <p:cNvSpPr/>
          <p:nvPr/>
        </p:nvSpPr>
        <p:spPr>
          <a:xfrm>
            <a:off x="2756752" y="-419100"/>
            <a:ext cx="38100" cy="10706100"/>
          </a:xfrm>
          <a:prstGeom prst="rect">
            <a:avLst/>
          </a:prstGeom>
          <a:solidFill>
            <a:srgbClr val="E2EDF1"/>
          </a:solidFill>
        </p:spPr>
        <p:txBody>
          <a:bodyPr/>
          <a:lstStyle/>
          <a:p>
            <a:endParaRPr lang="en-IN"/>
          </a:p>
        </p:txBody>
      </p:sp>
      <p:grpSp>
        <p:nvGrpSpPr>
          <p:cNvPr id="12" name="Group 12">
            <a:extLst>
              <a:ext uri="{FF2B5EF4-FFF2-40B4-BE49-F238E27FC236}">
                <a16:creationId xmlns:a16="http://schemas.microsoft.com/office/drawing/2014/main" id="{ED2F7DB2-4F7C-F3B5-7462-589746E25F90}"/>
              </a:ext>
            </a:extLst>
          </p:cNvPr>
          <p:cNvGrpSpPr/>
          <p:nvPr/>
        </p:nvGrpSpPr>
        <p:grpSpPr>
          <a:xfrm>
            <a:off x="2628175" y="2407218"/>
            <a:ext cx="257154" cy="257154"/>
            <a:chOff x="0" y="0"/>
            <a:chExt cx="6350000" cy="6350000"/>
          </a:xfrm>
        </p:grpSpPr>
        <p:sp>
          <p:nvSpPr>
            <p:cNvPr id="13" name="Freeform 13">
              <a:extLst>
                <a:ext uri="{FF2B5EF4-FFF2-40B4-BE49-F238E27FC236}">
                  <a16:creationId xmlns:a16="http://schemas.microsoft.com/office/drawing/2014/main" id="{E4B60123-134A-A27E-9E89-FE477FFA8CD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a:extLst>
              <a:ext uri="{FF2B5EF4-FFF2-40B4-BE49-F238E27FC236}">
                <a16:creationId xmlns:a16="http://schemas.microsoft.com/office/drawing/2014/main" id="{1E5DAD1C-23CC-3DFB-575D-483C882A8EA9}"/>
              </a:ext>
            </a:extLst>
          </p:cNvPr>
          <p:cNvGrpSpPr/>
          <p:nvPr/>
        </p:nvGrpSpPr>
        <p:grpSpPr>
          <a:xfrm>
            <a:off x="2628175" y="3609295"/>
            <a:ext cx="257154" cy="257154"/>
            <a:chOff x="0" y="0"/>
            <a:chExt cx="6350000" cy="6350000"/>
          </a:xfrm>
        </p:grpSpPr>
        <p:sp>
          <p:nvSpPr>
            <p:cNvPr id="15" name="Freeform 15">
              <a:extLst>
                <a:ext uri="{FF2B5EF4-FFF2-40B4-BE49-F238E27FC236}">
                  <a16:creationId xmlns:a16="http://schemas.microsoft.com/office/drawing/2014/main" id="{1F3D1E0E-7B82-D34C-05A7-DBE888F8079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a:extLst>
              <a:ext uri="{FF2B5EF4-FFF2-40B4-BE49-F238E27FC236}">
                <a16:creationId xmlns:a16="http://schemas.microsoft.com/office/drawing/2014/main" id="{6E95BE5E-D62C-F3C4-9F9C-6A2B7A5CCB91}"/>
              </a:ext>
            </a:extLst>
          </p:cNvPr>
          <p:cNvGrpSpPr/>
          <p:nvPr/>
        </p:nvGrpSpPr>
        <p:grpSpPr>
          <a:xfrm>
            <a:off x="2666275" y="4917213"/>
            <a:ext cx="257154" cy="257154"/>
            <a:chOff x="0" y="0"/>
            <a:chExt cx="6350000" cy="6350000"/>
          </a:xfrm>
        </p:grpSpPr>
        <p:sp>
          <p:nvSpPr>
            <p:cNvPr id="17" name="Freeform 17">
              <a:extLst>
                <a:ext uri="{FF2B5EF4-FFF2-40B4-BE49-F238E27FC236}">
                  <a16:creationId xmlns:a16="http://schemas.microsoft.com/office/drawing/2014/main" id="{9A10DF05-E5C9-B828-297A-C2B124C6772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a:extLst>
              <a:ext uri="{FF2B5EF4-FFF2-40B4-BE49-F238E27FC236}">
                <a16:creationId xmlns:a16="http://schemas.microsoft.com/office/drawing/2014/main" id="{DC2183AE-3154-D78F-CE0C-9BA5C21CCCFC}"/>
              </a:ext>
            </a:extLst>
          </p:cNvPr>
          <p:cNvGrpSpPr/>
          <p:nvPr/>
        </p:nvGrpSpPr>
        <p:grpSpPr>
          <a:xfrm>
            <a:off x="2666275" y="5945040"/>
            <a:ext cx="257154" cy="257154"/>
            <a:chOff x="0" y="0"/>
            <a:chExt cx="6350000" cy="6350000"/>
          </a:xfrm>
        </p:grpSpPr>
        <p:sp>
          <p:nvSpPr>
            <p:cNvPr id="19" name="Freeform 19">
              <a:extLst>
                <a:ext uri="{FF2B5EF4-FFF2-40B4-BE49-F238E27FC236}">
                  <a16:creationId xmlns:a16="http://schemas.microsoft.com/office/drawing/2014/main" id="{7AECBDCA-1FC8-49AF-0EC8-D1BE8DFDF51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0" name="Group 20">
            <a:extLst>
              <a:ext uri="{FF2B5EF4-FFF2-40B4-BE49-F238E27FC236}">
                <a16:creationId xmlns:a16="http://schemas.microsoft.com/office/drawing/2014/main" id="{2FB40AB2-CE6B-045B-E3E1-38A9070FAEA1}"/>
              </a:ext>
            </a:extLst>
          </p:cNvPr>
          <p:cNvGrpSpPr/>
          <p:nvPr/>
        </p:nvGrpSpPr>
        <p:grpSpPr>
          <a:xfrm>
            <a:off x="-320056" y="604334"/>
            <a:ext cx="1348756" cy="1348756"/>
            <a:chOff x="0" y="0"/>
            <a:chExt cx="6350000" cy="6350000"/>
          </a:xfrm>
        </p:grpSpPr>
        <p:sp>
          <p:nvSpPr>
            <p:cNvPr id="21" name="Freeform 21">
              <a:extLst>
                <a:ext uri="{FF2B5EF4-FFF2-40B4-BE49-F238E27FC236}">
                  <a16:creationId xmlns:a16="http://schemas.microsoft.com/office/drawing/2014/main" id="{AAB87E3C-D00B-5AB4-B7A1-E358D02B6C7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2" name="Freeform 22">
            <a:extLst>
              <a:ext uri="{FF2B5EF4-FFF2-40B4-BE49-F238E27FC236}">
                <a16:creationId xmlns:a16="http://schemas.microsoft.com/office/drawing/2014/main" id="{A79B516E-BE61-B83D-505B-B38AE79B2FC0}"/>
              </a:ext>
            </a:extLst>
          </p:cNvPr>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a:extLst>
              <a:ext uri="{FF2B5EF4-FFF2-40B4-BE49-F238E27FC236}">
                <a16:creationId xmlns:a16="http://schemas.microsoft.com/office/drawing/2014/main" id="{4BA077E8-E3FD-3F85-F7A0-1DDC56251BAE}"/>
              </a:ext>
            </a:extLst>
          </p:cNvPr>
          <p:cNvSpPr txBox="1"/>
          <p:nvPr/>
        </p:nvSpPr>
        <p:spPr>
          <a:xfrm>
            <a:off x="2628175" y="848653"/>
            <a:ext cx="2774658" cy="788677"/>
          </a:xfrm>
          <a:prstGeom prst="rect">
            <a:avLst/>
          </a:prstGeom>
        </p:spPr>
        <p:txBody>
          <a:bodyPr wrap="square" lIns="0" tIns="0" rIns="0" bIns="0" rtlCol="0" anchor="t">
            <a:spAutoFit/>
          </a:bodyPr>
          <a:lstStyle/>
          <a:p>
            <a:pPr algn="ctr">
              <a:lnSpc>
                <a:spcPts val="6720"/>
              </a:lnSpc>
            </a:pPr>
            <a:r>
              <a:rPr lang="en-IN" sz="4800" b="1" dirty="0">
                <a:solidFill>
                  <a:srgbClr val="002060"/>
                </a:solidFill>
                <a:latin typeface="Times New Roman" panose="02020603050405020304" pitchFamily="18" charset="0"/>
                <a:cs typeface="Times New Roman" panose="02020603050405020304" pitchFamily="18" charset="0"/>
              </a:rPr>
              <a:t>All Jobs</a:t>
            </a:r>
            <a:endParaRPr lang="en-US" sz="4800" b="1" spc="560" dirty="0">
              <a:solidFill>
                <a:srgbClr val="002060"/>
              </a:solidFill>
              <a:latin typeface="Times New Roman" panose="02020603050405020304" pitchFamily="18" charset="0"/>
              <a:cs typeface="Times New Roman" panose="02020603050405020304" pitchFamily="18" charset="0"/>
            </a:endParaRPr>
          </a:p>
        </p:txBody>
      </p:sp>
      <p:grpSp>
        <p:nvGrpSpPr>
          <p:cNvPr id="28" name="Group 28">
            <a:extLst>
              <a:ext uri="{FF2B5EF4-FFF2-40B4-BE49-F238E27FC236}">
                <a16:creationId xmlns:a16="http://schemas.microsoft.com/office/drawing/2014/main" id="{C6273A5C-A055-59A2-B1C6-F24E8303CBC5}"/>
              </a:ext>
            </a:extLst>
          </p:cNvPr>
          <p:cNvGrpSpPr/>
          <p:nvPr/>
        </p:nvGrpSpPr>
        <p:grpSpPr>
          <a:xfrm>
            <a:off x="2656750" y="7007543"/>
            <a:ext cx="257154" cy="257154"/>
            <a:chOff x="0" y="0"/>
            <a:chExt cx="6350000" cy="6350000"/>
          </a:xfrm>
        </p:grpSpPr>
        <p:sp>
          <p:nvSpPr>
            <p:cNvPr id="29" name="Freeform 29">
              <a:extLst>
                <a:ext uri="{FF2B5EF4-FFF2-40B4-BE49-F238E27FC236}">
                  <a16:creationId xmlns:a16="http://schemas.microsoft.com/office/drawing/2014/main" id="{EA3407F0-0494-9711-849E-54EA4FAF541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2" name="Group 32">
            <a:extLst>
              <a:ext uri="{FF2B5EF4-FFF2-40B4-BE49-F238E27FC236}">
                <a16:creationId xmlns:a16="http://schemas.microsoft.com/office/drawing/2014/main" id="{4C53440C-F578-1D56-45BD-33E656E33476}"/>
              </a:ext>
            </a:extLst>
          </p:cNvPr>
          <p:cNvGrpSpPr/>
          <p:nvPr/>
        </p:nvGrpSpPr>
        <p:grpSpPr>
          <a:xfrm>
            <a:off x="2647225" y="7969547"/>
            <a:ext cx="257154" cy="257154"/>
            <a:chOff x="0" y="0"/>
            <a:chExt cx="6350000" cy="6350000"/>
          </a:xfrm>
        </p:grpSpPr>
        <p:sp>
          <p:nvSpPr>
            <p:cNvPr id="33" name="Freeform 33">
              <a:extLst>
                <a:ext uri="{FF2B5EF4-FFF2-40B4-BE49-F238E27FC236}">
                  <a16:creationId xmlns:a16="http://schemas.microsoft.com/office/drawing/2014/main" id="{54E3C678-4D8A-6F70-02CC-B68ACE0A923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5" name="Group 35">
            <a:extLst>
              <a:ext uri="{FF2B5EF4-FFF2-40B4-BE49-F238E27FC236}">
                <a16:creationId xmlns:a16="http://schemas.microsoft.com/office/drawing/2014/main" id="{DFA39FA5-F5FA-6724-0F8A-D825B33071A1}"/>
              </a:ext>
            </a:extLst>
          </p:cNvPr>
          <p:cNvGrpSpPr/>
          <p:nvPr/>
        </p:nvGrpSpPr>
        <p:grpSpPr>
          <a:xfrm>
            <a:off x="2666275" y="8905409"/>
            <a:ext cx="257154" cy="257154"/>
            <a:chOff x="0" y="0"/>
            <a:chExt cx="6350000" cy="6350000"/>
          </a:xfrm>
        </p:grpSpPr>
        <p:sp>
          <p:nvSpPr>
            <p:cNvPr id="36" name="Freeform 36">
              <a:extLst>
                <a:ext uri="{FF2B5EF4-FFF2-40B4-BE49-F238E27FC236}">
                  <a16:creationId xmlns:a16="http://schemas.microsoft.com/office/drawing/2014/main" id="{56FDE56C-57AD-32B1-5DFD-EE9D0FA9396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pic>
        <p:nvPicPr>
          <p:cNvPr id="24" name="Picture 23" descr="A screenshot of a computer&#10;&#10;AI-generated content may be incorrect.">
            <a:extLst>
              <a:ext uri="{FF2B5EF4-FFF2-40B4-BE49-F238E27FC236}">
                <a16:creationId xmlns:a16="http://schemas.microsoft.com/office/drawing/2014/main" id="{ABFBA6AB-214E-1542-9B1C-0B6323502D82}"/>
              </a:ext>
            </a:extLst>
          </p:cNvPr>
          <p:cNvPicPr>
            <a:picLocks noChangeAspect="1"/>
          </p:cNvPicPr>
          <p:nvPr/>
        </p:nvPicPr>
        <p:blipFill>
          <a:blip r:embed="rId6"/>
          <a:stretch>
            <a:fillRect/>
          </a:stretch>
        </p:blipFill>
        <p:spPr>
          <a:xfrm>
            <a:off x="2871053" y="1578512"/>
            <a:ext cx="14502547" cy="8485308"/>
          </a:xfrm>
          <a:prstGeom prst="rect">
            <a:avLst/>
          </a:prstGeom>
        </p:spPr>
      </p:pic>
    </p:spTree>
    <p:extLst>
      <p:ext uri="{BB962C8B-B14F-4D97-AF65-F5344CB8AC3E}">
        <p14:creationId xmlns:p14="http://schemas.microsoft.com/office/powerpoint/2010/main" val="3184553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352402">
            <a:off x="11144397" y="2044998"/>
            <a:ext cx="9412281" cy="9753659"/>
          </a:xfrm>
          <a:custGeom>
            <a:avLst/>
            <a:gdLst/>
            <a:ahLst/>
            <a:cxnLst/>
            <a:rect l="l" t="t" r="r" b="b"/>
            <a:pathLst>
              <a:path w="9412281" h="9753659">
                <a:moveTo>
                  <a:pt x="0" y="0"/>
                </a:moveTo>
                <a:lnTo>
                  <a:pt x="9412281" y="0"/>
                </a:lnTo>
                <a:lnTo>
                  <a:pt x="9412281" y="9753660"/>
                </a:lnTo>
                <a:lnTo>
                  <a:pt x="0" y="975366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4690237">
            <a:off x="13587917" y="-1624564"/>
            <a:ext cx="5363442" cy="5557971"/>
          </a:xfrm>
          <a:custGeom>
            <a:avLst/>
            <a:gdLst/>
            <a:ahLst/>
            <a:cxnLst/>
            <a:rect l="l" t="t" r="r" b="b"/>
            <a:pathLst>
              <a:path w="5363442" h="5557971">
                <a:moveTo>
                  <a:pt x="0" y="0"/>
                </a:moveTo>
                <a:lnTo>
                  <a:pt x="5363442" y="0"/>
                </a:lnTo>
                <a:lnTo>
                  <a:pt x="5363442" y="5557971"/>
                </a:lnTo>
                <a:lnTo>
                  <a:pt x="0" y="555797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7132476">
            <a:off x="-2496200" y="6910817"/>
            <a:ext cx="5850340" cy="6062529"/>
          </a:xfrm>
          <a:custGeom>
            <a:avLst/>
            <a:gdLst/>
            <a:ahLst/>
            <a:cxnLst/>
            <a:rect l="l" t="t" r="r" b="b"/>
            <a:pathLst>
              <a:path w="5850340" h="6062529">
                <a:moveTo>
                  <a:pt x="0" y="0"/>
                </a:moveTo>
                <a:lnTo>
                  <a:pt x="5850340" y="0"/>
                </a:lnTo>
                <a:lnTo>
                  <a:pt x="5850340" y="6062528"/>
                </a:lnTo>
                <a:lnTo>
                  <a:pt x="0" y="6062528"/>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9638777">
            <a:off x="-2446319" y="-1515701"/>
            <a:ext cx="9437477" cy="9779769"/>
          </a:xfrm>
          <a:custGeom>
            <a:avLst/>
            <a:gdLst/>
            <a:ahLst/>
            <a:cxnLst/>
            <a:rect l="l" t="t" r="r" b="b"/>
            <a:pathLst>
              <a:path w="9437477" h="9779769">
                <a:moveTo>
                  <a:pt x="0" y="0"/>
                </a:moveTo>
                <a:lnTo>
                  <a:pt x="9437477" y="0"/>
                </a:lnTo>
                <a:lnTo>
                  <a:pt x="9437477" y="9779769"/>
                </a:lnTo>
                <a:lnTo>
                  <a:pt x="0" y="9779769"/>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17259300" y="480044"/>
            <a:ext cx="1348756" cy="1348756"/>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p:cNvGrpSpPr/>
          <p:nvPr/>
        </p:nvGrpSpPr>
        <p:grpSpPr>
          <a:xfrm>
            <a:off x="457200" y="9281903"/>
            <a:ext cx="571500" cy="5715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p:cNvSpPr/>
          <p:nvPr/>
        </p:nvSpPr>
        <p:spPr>
          <a:xfrm rot="2938422">
            <a:off x="1225129" y="9321739"/>
            <a:ext cx="1862954" cy="1930523"/>
          </a:xfrm>
          <a:custGeom>
            <a:avLst/>
            <a:gdLst/>
            <a:ahLst/>
            <a:cxnLst/>
            <a:rect l="l" t="t" r="r" b="b"/>
            <a:pathLst>
              <a:path w="1862954" h="1930523">
                <a:moveTo>
                  <a:pt x="0" y="0"/>
                </a:moveTo>
                <a:lnTo>
                  <a:pt x="1862955" y="0"/>
                </a:lnTo>
                <a:lnTo>
                  <a:pt x="1862955" y="1930522"/>
                </a:lnTo>
                <a:lnTo>
                  <a:pt x="0" y="19305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TextBox 12"/>
          <p:cNvSpPr txBox="1"/>
          <p:nvPr/>
        </p:nvSpPr>
        <p:spPr>
          <a:xfrm>
            <a:off x="1028700" y="121000"/>
            <a:ext cx="4076700" cy="932948"/>
          </a:xfrm>
          <a:prstGeom prst="rect">
            <a:avLst/>
          </a:prstGeom>
        </p:spPr>
        <p:txBody>
          <a:bodyPr wrap="square" lIns="0" tIns="0" rIns="0" bIns="0" rtlCol="0" anchor="t">
            <a:spAutoFit/>
          </a:bodyPr>
          <a:lstStyle/>
          <a:p>
            <a:pPr algn="ctr">
              <a:lnSpc>
                <a:spcPts val="8229"/>
              </a:lnSpc>
            </a:pPr>
            <a:r>
              <a:rPr lang="en-US" sz="4800" b="1" dirty="0">
                <a:solidFill>
                  <a:srgbClr val="6BD4CD"/>
                </a:solidFill>
                <a:latin typeface="Times New Roman" panose="02020603050405020304" pitchFamily="18" charset="0"/>
                <a:cs typeface="Times New Roman" panose="02020603050405020304" pitchFamily="18" charset="0"/>
              </a:rPr>
              <a:t>Job Applied</a:t>
            </a:r>
          </a:p>
        </p:txBody>
      </p:sp>
      <p:pic>
        <p:nvPicPr>
          <p:cNvPr id="11" name="Picture 10" descr="A screenshot of a computer&#10;&#10;AI-generated content may be incorrect.">
            <a:extLst>
              <a:ext uri="{FF2B5EF4-FFF2-40B4-BE49-F238E27FC236}">
                <a16:creationId xmlns:a16="http://schemas.microsoft.com/office/drawing/2014/main" id="{3DD6D10D-57A1-B3E9-D27C-1041CAE8B665}"/>
              </a:ext>
            </a:extLst>
          </p:cNvPr>
          <p:cNvPicPr>
            <a:picLocks noChangeAspect="1"/>
          </p:cNvPicPr>
          <p:nvPr/>
        </p:nvPicPr>
        <p:blipFill>
          <a:blip r:embed="rId4"/>
          <a:stretch>
            <a:fillRect/>
          </a:stretch>
        </p:blipFill>
        <p:spPr>
          <a:xfrm>
            <a:off x="1524000" y="1053948"/>
            <a:ext cx="14554200" cy="87199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3737344">
            <a:off x="8416210" y="-3200493"/>
            <a:ext cx="11223440" cy="11630507"/>
          </a:xfrm>
          <a:custGeom>
            <a:avLst/>
            <a:gdLst/>
            <a:ahLst/>
            <a:cxnLst/>
            <a:rect l="l" t="t" r="r" b="b"/>
            <a:pathLst>
              <a:path w="11223440" h="11630507">
                <a:moveTo>
                  <a:pt x="0" y="0"/>
                </a:moveTo>
                <a:lnTo>
                  <a:pt x="11223440" y="0"/>
                </a:lnTo>
                <a:lnTo>
                  <a:pt x="11223440" y="11630507"/>
                </a:lnTo>
                <a:lnTo>
                  <a:pt x="0" y="11630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1769280">
            <a:off x="12822143" y="5527205"/>
            <a:ext cx="7703445" cy="7982845"/>
          </a:xfrm>
          <a:custGeom>
            <a:avLst/>
            <a:gdLst/>
            <a:ahLst/>
            <a:cxnLst/>
            <a:rect l="l" t="t" r="r" b="b"/>
            <a:pathLst>
              <a:path w="7703445" h="7982845">
                <a:moveTo>
                  <a:pt x="0" y="0"/>
                </a:moveTo>
                <a:lnTo>
                  <a:pt x="7703445" y="0"/>
                </a:lnTo>
                <a:lnTo>
                  <a:pt x="7703445" y="7982845"/>
                </a:lnTo>
                <a:lnTo>
                  <a:pt x="0" y="79828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249909">
            <a:off x="-1445661" y="-889124"/>
            <a:ext cx="5359726" cy="5554120"/>
          </a:xfrm>
          <a:custGeom>
            <a:avLst/>
            <a:gdLst/>
            <a:ahLst/>
            <a:cxnLst/>
            <a:rect l="l" t="t" r="r" b="b"/>
            <a:pathLst>
              <a:path w="5359726" h="5554120">
                <a:moveTo>
                  <a:pt x="0" y="0"/>
                </a:moveTo>
                <a:lnTo>
                  <a:pt x="5359725" y="0"/>
                </a:lnTo>
                <a:lnTo>
                  <a:pt x="5359725" y="5554120"/>
                </a:lnTo>
                <a:lnTo>
                  <a:pt x="0" y="5554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7381687">
            <a:off x="-1334989" y="2059022"/>
            <a:ext cx="11649703" cy="12072231"/>
          </a:xfrm>
          <a:custGeom>
            <a:avLst/>
            <a:gdLst/>
            <a:ahLst/>
            <a:cxnLst/>
            <a:rect l="l" t="t" r="r" b="b"/>
            <a:pathLst>
              <a:path w="11649703" h="12072231">
                <a:moveTo>
                  <a:pt x="0" y="0"/>
                </a:moveTo>
                <a:lnTo>
                  <a:pt x="11649703" y="0"/>
                </a:lnTo>
                <a:lnTo>
                  <a:pt x="11649703" y="12072231"/>
                </a:lnTo>
                <a:lnTo>
                  <a:pt x="0" y="1207223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6" name="Group 6"/>
          <p:cNvGrpSpPr/>
          <p:nvPr/>
        </p:nvGrpSpPr>
        <p:grpSpPr>
          <a:xfrm>
            <a:off x="-320056" y="8324850"/>
            <a:ext cx="1348756" cy="1348756"/>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p:cNvGrpSpPr/>
          <p:nvPr/>
        </p:nvGrpSpPr>
        <p:grpSpPr>
          <a:xfrm>
            <a:off x="16687800" y="457200"/>
            <a:ext cx="571500" cy="5715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p:cNvSpPr/>
          <p:nvPr/>
        </p:nvSpPr>
        <p:spPr>
          <a:xfrm rot="-152128">
            <a:off x="17306081" y="4085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TextBox 12"/>
          <p:cNvSpPr txBox="1"/>
          <p:nvPr/>
        </p:nvSpPr>
        <p:spPr>
          <a:xfrm>
            <a:off x="1028700" y="421805"/>
            <a:ext cx="3467100" cy="575863"/>
          </a:xfrm>
          <a:prstGeom prst="rect">
            <a:avLst/>
          </a:prstGeom>
        </p:spPr>
        <p:txBody>
          <a:bodyPr wrap="square" lIns="0" tIns="0" rIns="0" bIns="0" rtlCol="0" anchor="t">
            <a:spAutoFit/>
          </a:bodyPr>
          <a:lstStyle/>
          <a:p>
            <a:pPr algn="r">
              <a:lnSpc>
                <a:spcPts val="4320"/>
              </a:lnSpc>
            </a:pPr>
            <a:r>
              <a:rPr lang="en-US" sz="5400" spc="480" dirty="0">
                <a:solidFill>
                  <a:srgbClr val="6BD4CD"/>
                </a:solidFill>
                <a:latin typeface="Times New Roman" panose="02020603050405020304" pitchFamily="18" charset="0"/>
                <a:cs typeface="Times New Roman" panose="02020603050405020304" pitchFamily="18" charset="0"/>
              </a:rPr>
              <a:t> </a:t>
            </a:r>
            <a:endParaRPr lang="en-US" sz="5400" spc="359" dirty="0">
              <a:solidFill>
                <a:srgbClr val="6BD4CD"/>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DA28FB9-832A-4278-DF66-BC8D3596ED99}"/>
              </a:ext>
            </a:extLst>
          </p:cNvPr>
          <p:cNvSpPr txBox="1"/>
          <p:nvPr/>
        </p:nvSpPr>
        <p:spPr>
          <a:xfrm>
            <a:off x="726989" y="800100"/>
            <a:ext cx="15656012" cy="3200876"/>
          </a:xfrm>
          <a:prstGeom prst="rect">
            <a:avLst/>
          </a:prstGeom>
          <a:noFill/>
        </p:spPr>
        <p:txBody>
          <a:bodyPr wrap="square" rtlCol="0">
            <a:spAutoFit/>
          </a:bodyPr>
          <a:lstStyle/>
          <a:p>
            <a:r>
              <a:rPr lang="en-US" sz="4000" b="1" spc="480" dirty="0">
                <a:solidFill>
                  <a:srgbClr val="6BD4CD"/>
                </a:solidFill>
                <a:latin typeface="Times New Roman" panose="02020603050405020304" pitchFamily="18" charset="0"/>
                <a:cs typeface="Times New Roman" panose="02020603050405020304" pitchFamily="18" charset="0"/>
              </a:rPr>
              <a:t>Recruiter - </a:t>
            </a:r>
            <a:r>
              <a:rPr lang="en-US" altLang="en-US" sz="4000" b="1" dirty="0">
                <a:solidFill>
                  <a:srgbClr val="6BD4CD"/>
                </a:solidFill>
                <a:latin typeface="Times New Roman" panose="02020603050405020304" pitchFamily="18" charset="0"/>
                <a:cs typeface="Times New Roman" panose="02020603050405020304" pitchFamily="18" charset="0"/>
              </a:rPr>
              <a:t>Sign Up</a:t>
            </a:r>
          </a:p>
          <a:p>
            <a:endParaRPr lang="en-US" altLang="en-US" sz="3600" b="1" dirty="0">
              <a:solidFill>
                <a:schemeClr val="bg1"/>
              </a:solidFill>
              <a:latin typeface="Times New Roman" panose="02020603050405020304" pitchFamily="18" charset="0"/>
              <a:cs typeface="Times New Roman" panose="02020603050405020304" pitchFamily="18" charset="0"/>
            </a:endParaRPr>
          </a:p>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IN" dirty="0"/>
          </a:p>
        </p:txBody>
      </p:sp>
      <p:pic>
        <p:nvPicPr>
          <p:cNvPr id="11" name="Picture 10" descr="A screenshot of a computer&#10;&#10;AI-generated content may be incorrect.">
            <a:extLst>
              <a:ext uri="{FF2B5EF4-FFF2-40B4-BE49-F238E27FC236}">
                <a16:creationId xmlns:a16="http://schemas.microsoft.com/office/drawing/2014/main" id="{C21574B6-F500-D6C8-83AF-A6262BE1CF4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6988" y="1638301"/>
            <a:ext cx="15515569" cy="8035306"/>
          </a:xfrm>
          <a:prstGeom prst="rect">
            <a:avLst/>
          </a:prstGeom>
          <a:noFill/>
        </p:spPr>
      </p:pic>
    </p:spTree>
    <p:extLst>
      <p:ext uri="{BB962C8B-B14F-4D97-AF65-F5344CB8AC3E}">
        <p14:creationId xmlns:p14="http://schemas.microsoft.com/office/powerpoint/2010/main" val="3072088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a:extLst>
            <a:ext uri="{FF2B5EF4-FFF2-40B4-BE49-F238E27FC236}">
              <a16:creationId xmlns:a16="http://schemas.microsoft.com/office/drawing/2014/main" id="{0667309B-1FF9-6DA2-A14C-BCA0520165E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44FA578-C993-EBCE-D1C8-02C3C2B82346}"/>
              </a:ext>
            </a:extLst>
          </p:cNvPr>
          <p:cNvSpPr/>
          <p:nvPr/>
        </p:nvSpPr>
        <p:spPr>
          <a:xfrm rot="-3737344">
            <a:off x="8416210" y="-3200493"/>
            <a:ext cx="11223440" cy="11630507"/>
          </a:xfrm>
          <a:custGeom>
            <a:avLst/>
            <a:gdLst/>
            <a:ahLst/>
            <a:cxnLst/>
            <a:rect l="l" t="t" r="r" b="b"/>
            <a:pathLst>
              <a:path w="11223440" h="11630507">
                <a:moveTo>
                  <a:pt x="0" y="0"/>
                </a:moveTo>
                <a:lnTo>
                  <a:pt x="11223440" y="0"/>
                </a:lnTo>
                <a:lnTo>
                  <a:pt x="11223440" y="11630507"/>
                </a:lnTo>
                <a:lnTo>
                  <a:pt x="0" y="11630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3555635E-D3DC-5743-B31D-B7F70CD3F3A2}"/>
              </a:ext>
            </a:extLst>
          </p:cNvPr>
          <p:cNvSpPr/>
          <p:nvPr/>
        </p:nvSpPr>
        <p:spPr>
          <a:xfrm rot="1769280">
            <a:off x="12822143" y="5527205"/>
            <a:ext cx="7703445" cy="7982845"/>
          </a:xfrm>
          <a:custGeom>
            <a:avLst/>
            <a:gdLst/>
            <a:ahLst/>
            <a:cxnLst/>
            <a:rect l="l" t="t" r="r" b="b"/>
            <a:pathLst>
              <a:path w="7703445" h="7982845">
                <a:moveTo>
                  <a:pt x="0" y="0"/>
                </a:moveTo>
                <a:lnTo>
                  <a:pt x="7703445" y="0"/>
                </a:lnTo>
                <a:lnTo>
                  <a:pt x="7703445" y="7982845"/>
                </a:lnTo>
                <a:lnTo>
                  <a:pt x="0" y="79828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9252E8F6-E1E0-A91F-18A1-AE61FC10C491}"/>
              </a:ext>
            </a:extLst>
          </p:cNvPr>
          <p:cNvSpPr/>
          <p:nvPr/>
        </p:nvSpPr>
        <p:spPr>
          <a:xfrm rot="-249909">
            <a:off x="-1445661" y="-889124"/>
            <a:ext cx="5359726" cy="5554120"/>
          </a:xfrm>
          <a:custGeom>
            <a:avLst/>
            <a:gdLst/>
            <a:ahLst/>
            <a:cxnLst/>
            <a:rect l="l" t="t" r="r" b="b"/>
            <a:pathLst>
              <a:path w="5359726" h="5554120">
                <a:moveTo>
                  <a:pt x="0" y="0"/>
                </a:moveTo>
                <a:lnTo>
                  <a:pt x="5359725" y="0"/>
                </a:lnTo>
                <a:lnTo>
                  <a:pt x="5359725" y="5554120"/>
                </a:lnTo>
                <a:lnTo>
                  <a:pt x="0" y="5554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5671C8F2-ADB2-665B-0FDA-5B8D4AB27506}"/>
              </a:ext>
            </a:extLst>
          </p:cNvPr>
          <p:cNvSpPr/>
          <p:nvPr/>
        </p:nvSpPr>
        <p:spPr>
          <a:xfrm rot="7381687">
            <a:off x="-1334989" y="2059022"/>
            <a:ext cx="11649703" cy="12072231"/>
          </a:xfrm>
          <a:custGeom>
            <a:avLst/>
            <a:gdLst/>
            <a:ahLst/>
            <a:cxnLst/>
            <a:rect l="l" t="t" r="r" b="b"/>
            <a:pathLst>
              <a:path w="11649703" h="12072231">
                <a:moveTo>
                  <a:pt x="0" y="0"/>
                </a:moveTo>
                <a:lnTo>
                  <a:pt x="11649703" y="0"/>
                </a:lnTo>
                <a:lnTo>
                  <a:pt x="11649703" y="12072231"/>
                </a:lnTo>
                <a:lnTo>
                  <a:pt x="0" y="1207223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6" name="Group 6">
            <a:extLst>
              <a:ext uri="{FF2B5EF4-FFF2-40B4-BE49-F238E27FC236}">
                <a16:creationId xmlns:a16="http://schemas.microsoft.com/office/drawing/2014/main" id="{517D0120-EDF8-C079-3E23-3C2773AD8CA5}"/>
              </a:ext>
            </a:extLst>
          </p:cNvPr>
          <p:cNvGrpSpPr/>
          <p:nvPr/>
        </p:nvGrpSpPr>
        <p:grpSpPr>
          <a:xfrm>
            <a:off x="-320056" y="8324850"/>
            <a:ext cx="1348756" cy="1348756"/>
            <a:chOff x="0" y="0"/>
            <a:chExt cx="6350000" cy="6350000"/>
          </a:xfrm>
        </p:grpSpPr>
        <p:sp>
          <p:nvSpPr>
            <p:cNvPr id="7" name="Freeform 7">
              <a:extLst>
                <a:ext uri="{FF2B5EF4-FFF2-40B4-BE49-F238E27FC236}">
                  <a16:creationId xmlns:a16="http://schemas.microsoft.com/office/drawing/2014/main" id="{9778AB7E-8E98-A537-0560-4A324BD1374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a:extLst>
              <a:ext uri="{FF2B5EF4-FFF2-40B4-BE49-F238E27FC236}">
                <a16:creationId xmlns:a16="http://schemas.microsoft.com/office/drawing/2014/main" id="{1C374062-F9D6-5E63-2921-0D4B63D3CA4D}"/>
              </a:ext>
            </a:extLst>
          </p:cNvPr>
          <p:cNvGrpSpPr/>
          <p:nvPr/>
        </p:nvGrpSpPr>
        <p:grpSpPr>
          <a:xfrm>
            <a:off x="16687800" y="457200"/>
            <a:ext cx="571500" cy="571500"/>
            <a:chOff x="0" y="0"/>
            <a:chExt cx="6350000" cy="6350000"/>
          </a:xfrm>
        </p:grpSpPr>
        <p:sp>
          <p:nvSpPr>
            <p:cNvPr id="9" name="Freeform 9">
              <a:extLst>
                <a:ext uri="{FF2B5EF4-FFF2-40B4-BE49-F238E27FC236}">
                  <a16:creationId xmlns:a16="http://schemas.microsoft.com/office/drawing/2014/main" id="{2293296A-DC99-B34E-20EC-57F48A34E6A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a:extLst>
              <a:ext uri="{FF2B5EF4-FFF2-40B4-BE49-F238E27FC236}">
                <a16:creationId xmlns:a16="http://schemas.microsoft.com/office/drawing/2014/main" id="{9C8A118E-FA9C-FABF-0FA0-639DDBEC6E82}"/>
              </a:ext>
            </a:extLst>
          </p:cNvPr>
          <p:cNvSpPr/>
          <p:nvPr/>
        </p:nvSpPr>
        <p:spPr>
          <a:xfrm rot="-152128">
            <a:off x="17306081" y="4085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TextBox 12">
            <a:extLst>
              <a:ext uri="{FF2B5EF4-FFF2-40B4-BE49-F238E27FC236}">
                <a16:creationId xmlns:a16="http://schemas.microsoft.com/office/drawing/2014/main" id="{B6041BCA-006E-6B26-9B98-B3782E2B3C8D}"/>
              </a:ext>
            </a:extLst>
          </p:cNvPr>
          <p:cNvSpPr txBox="1"/>
          <p:nvPr/>
        </p:nvSpPr>
        <p:spPr>
          <a:xfrm>
            <a:off x="914400" y="421805"/>
            <a:ext cx="5748976" cy="605935"/>
          </a:xfrm>
          <a:prstGeom prst="rect">
            <a:avLst/>
          </a:prstGeom>
        </p:spPr>
        <p:txBody>
          <a:bodyPr wrap="square" lIns="0" tIns="0" rIns="0" bIns="0" rtlCol="0" anchor="t">
            <a:spAutoFit/>
          </a:bodyPr>
          <a:lstStyle/>
          <a:p>
            <a:pPr algn="r">
              <a:lnSpc>
                <a:spcPts val="4320"/>
              </a:lnSpc>
            </a:pPr>
            <a:r>
              <a:rPr lang="en-US" sz="6000" spc="480" dirty="0">
                <a:solidFill>
                  <a:srgbClr val="6BD4CD"/>
                </a:solidFill>
                <a:latin typeface="Glacial Indifference Bold"/>
              </a:rPr>
              <a:t>  </a:t>
            </a:r>
            <a:r>
              <a:rPr lang="en-IN" sz="4400" b="1" dirty="0">
                <a:solidFill>
                  <a:srgbClr val="6BD4CD"/>
                </a:solidFill>
                <a:latin typeface="Times New Roman" panose="02020603050405020304" pitchFamily="18" charset="0"/>
                <a:cs typeface="Times New Roman" panose="02020603050405020304" pitchFamily="18" charset="0"/>
              </a:rPr>
              <a:t>Recruiter Job Posting</a:t>
            </a:r>
            <a:endParaRPr lang="en-US" sz="4400" spc="359" dirty="0">
              <a:solidFill>
                <a:srgbClr val="6BD4CD"/>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B037155-A105-D450-2185-38C9C0269038}"/>
              </a:ext>
            </a:extLst>
          </p:cNvPr>
          <p:cNvSpPr txBox="1"/>
          <p:nvPr/>
        </p:nvSpPr>
        <p:spPr>
          <a:xfrm>
            <a:off x="1447800" y="1770820"/>
            <a:ext cx="14935200" cy="1477328"/>
          </a:xfrm>
          <a:prstGeom prst="rect">
            <a:avLst/>
          </a:prstGeom>
          <a:noFill/>
        </p:spPr>
        <p:txBody>
          <a:bodyPr wrap="square" rtlCol="0">
            <a:spAutoFit/>
          </a:bodyPr>
          <a:lstStyle/>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IN" dirty="0"/>
          </a:p>
        </p:txBody>
      </p:sp>
      <p:pic>
        <p:nvPicPr>
          <p:cNvPr id="11" name="Picture 10" descr="A screenshot of a computer&#10;&#10;AI-generated content may be incorrect.">
            <a:extLst>
              <a:ext uri="{FF2B5EF4-FFF2-40B4-BE49-F238E27FC236}">
                <a16:creationId xmlns:a16="http://schemas.microsoft.com/office/drawing/2014/main" id="{2686A9C1-7FD9-087C-1A29-36A7C6DEB9A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1346" y="1027740"/>
            <a:ext cx="15408853" cy="8382960"/>
          </a:xfrm>
          <a:prstGeom prst="rect">
            <a:avLst/>
          </a:prstGeom>
          <a:noFill/>
        </p:spPr>
      </p:pic>
    </p:spTree>
    <p:extLst>
      <p:ext uri="{BB962C8B-B14F-4D97-AF65-F5344CB8AC3E}">
        <p14:creationId xmlns:p14="http://schemas.microsoft.com/office/powerpoint/2010/main" val="2464979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a:extLst>
            <a:ext uri="{FF2B5EF4-FFF2-40B4-BE49-F238E27FC236}">
              <a16:creationId xmlns:a16="http://schemas.microsoft.com/office/drawing/2014/main" id="{6B2448E8-2589-4DE1-2BEA-5C53738CBAE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B6A02D4-9DCE-7E7B-374C-DD7D97E7896D}"/>
              </a:ext>
            </a:extLst>
          </p:cNvPr>
          <p:cNvSpPr/>
          <p:nvPr/>
        </p:nvSpPr>
        <p:spPr>
          <a:xfrm rot="-3737344">
            <a:off x="8416210" y="-3200493"/>
            <a:ext cx="11223440" cy="11630507"/>
          </a:xfrm>
          <a:custGeom>
            <a:avLst/>
            <a:gdLst/>
            <a:ahLst/>
            <a:cxnLst/>
            <a:rect l="l" t="t" r="r" b="b"/>
            <a:pathLst>
              <a:path w="11223440" h="11630507">
                <a:moveTo>
                  <a:pt x="0" y="0"/>
                </a:moveTo>
                <a:lnTo>
                  <a:pt x="11223440" y="0"/>
                </a:lnTo>
                <a:lnTo>
                  <a:pt x="11223440" y="11630507"/>
                </a:lnTo>
                <a:lnTo>
                  <a:pt x="0" y="11630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0BD424BB-3F22-F65B-996F-58178EEDBEE7}"/>
              </a:ext>
            </a:extLst>
          </p:cNvPr>
          <p:cNvSpPr/>
          <p:nvPr/>
        </p:nvSpPr>
        <p:spPr>
          <a:xfrm rot="1769280">
            <a:off x="12822143" y="5527205"/>
            <a:ext cx="7703445" cy="7982845"/>
          </a:xfrm>
          <a:custGeom>
            <a:avLst/>
            <a:gdLst/>
            <a:ahLst/>
            <a:cxnLst/>
            <a:rect l="l" t="t" r="r" b="b"/>
            <a:pathLst>
              <a:path w="7703445" h="7982845">
                <a:moveTo>
                  <a:pt x="0" y="0"/>
                </a:moveTo>
                <a:lnTo>
                  <a:pt x="7703445" y="0"/>
                </a:lnTo>
                <a:lnTo>
                  <a:pt x="7703445" y="7982845"/>
                </a:lnTo>
                <a:lnTo>
                  <a:pt x="0" y="79828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5FCFD9B8-E8D8-CD4F-7D93-12A2F391CD1E}"/>
              </a:ext>
            </a:extLst>
          </p:cNvPr>
          <p:cNvSpPr/>
          <p:nvPr/>
        </p:nvSpPr>
        <p:spPr>
          <a:xfrm rot="-249909">
            <a:off x="-1445661" y="-889124"/>
            <a:ext cx="5359726" cy="5554120"/>
          </a:xfrm>
          <a:custGeom>
            <a:avLst/>
            <a:gdLst/>
            <a:ahLst/>
            <a:cxnLst/>
            <a:rect l="l" t="t" r="r" b="b"/>
            <a:pathLst>
              <a:path w="5359726" h="5554120">
                <a:moveTo>
                  <a:pt x="0" y="0"/>
                </a:moveTo>
                <a:lnTo>
                  <a:pt x="5359725" y="0"/>
                </a:lnTo>
                <a:lnTo>
                  <a:pt x="5359725" y="5554120"/>
                </a:lnTo>
                <a:lnTo>
                  <a:pt x="0" y="5554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66506C8C-43F6-4611-7C8E-EF79942744AA}"/>
              </a:ext>
            </a:extLst>
          </p:cNvPr>
          <p:cNvSpPr/>
          <p:nvPr/>
        </p:nvSpPr>
        <p:spPr>
          <a:xfrm rot="7381687">
            <a:off x="-1334989" y="2059022"/>
            <a:ext cx="11649703" cy="12072231"/>
          </a:xfrm>
          <a:custGeom>
            <a:avLst/>
            <a:gdLst/>
            <a:ahLst/>
            <a:cxnLst/>
            <a:rect l="l" t="t" r="r" b="b"/>
            <a:pathLst>
              <a:path w="11649703" h="12072231">
                <a:moveTo>
                  <a:pt x="0" y="0"/>
                </a:moveTo>
                <a:lnTo>
                  <a:pt x="11649703" y="0"/>
                </a:lnTo>
                <a:lnTo>
                  <a:pt x="11649703" y="12072231"/>
                </a:lnTo>
                <a:lnTo>
                  <a:pt x="0" y="1207223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6" name="Group 6">
            <a:extLst>
              <a:ext uri="{FF2B5EF4-FFF2-40B4-BE49-F238E27FC236}">
                <a16:creationId xmlns:a16="http://schemas.microsoft.com/office/drawing/2014/main" id="{F644E249-88E8-3B93-B03D-220D94C130AE}"/>
              </a:ext>
            </a:extLst>
          </p:cNvPr>
          <p:cNvGrpSpPr/>
          <p:nvPr/>
        </p:nvGrpSpPr>
        <p:grpSpPr>
          <a:xfrm>
            <a:off x="-320056" y="8324850"/>
            <a:ext cx="1348756" cy="1348756"/>
            <a:chOff x="0" y="0"/>
            <a:chExt cx="6350000" cy="6350000"/>
          </a:xfrm>
        </p:grpSpPr>
        <p:sp>
          <p:nvSpPr>
            <p:cNvPr id="7" name="Freeform 7">
              <a:extLst>
                <a:ext uri="{FF2B5EF4-FFF2-40B4-BE49-F238E27FC236}">
                  <a16:creationId xmlns:a16="http://schemas.microsoft.com/office/drawing/2014/main" id="{F3D88189-AA40-D0B6-B724-63EF5EC3552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a:extLst>
              <a:ext uri="{FF2B5EF4-FFF2-40B4-BE49-F238E27FC236}">
                <a16:creationId xmlns:a16="http://schemas.microsoft.com/office/drawing/2014/main" id="{981D0BD0-79B3-8722-3D50-A54AD5596271}"/>
              </a:ext>
            </a:extLst>
          </p:cNvPr>
          <p:cNvGrpSpPr/>
          <p:nvPr/>
        </p:nvGrpSpPr>
        <p:grpSpPr>
          <a:xfrm>
            <a:off x="16687800" y="457200"/>
            <a:ext cx="571500" cy="571500"/>
            <a:chOff x="0" y="0"/>
            <a:chExt cx="6350000" cy="6350000"/>
          </a:xfrm>
        </p:grpSpPr>
        <p:sp>
          <p:nvSpPr>
            <p:cNvPr id="9" name="Freeform 9">
              <a:extLst>
                <a:ext uri="{FF2B5EF4-FFF2-40B4-BE49-F238E27FC236}">
                  <a16:creationId xmlns:a16="http://schemas.microsoft.com/office/drawing/2014/main" id="{7774C8ED-54AE-428D-732E-CA82F9DB70B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a:extLst>
              <a:ext uri="{FF2B5EF4-FFF2-40B4-BE49-F238E27FC236}">
                <a16:creationId xmlns:a16="http://schemas.microsoft.com/office/drawing/2014/main" id="{2D9C0902-C566-17A5-4DA1-D3F3F485D3F2}"/>
              </a:ext>
            </a:extLst>
          </p:cNvPr>
          <p:cNvSpPr/>
          <p:nvPr/>
        </p:nvSpPr>
        <p:spPr>
          <a:xfrm rot="-152128">
            <a:off x="17306081" y="4085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TextBox 12">
            <a:extLst>
              <a:ext uri="{FF2B5EF4-FFF2-40B4-BE49-F238E27FC236}">
                <a16:creationId xmlns:a16="http://schemas.microsoft.com/office/drawing/2014/main" id="{29CAF925-FE2B-E85E-F44E-392DCA73ED87}"/>
              </a:ext>
            </a:extLst>
          </p:cNvPr>
          <p:cNvSpPr txBox="1"/>
          <p:nvPr/>
        </p:nvSpPr>
        <p:spPr>
          <a:xfrm>
            <a:off x="381000" y="457200"/>
            <a:ext cx="8261590" cy="605935"/>
          </a:xfrm>
          <a:prstGeom prst="rect">
            <a:avLst/>
          </a:prstGeom>
        </p:spPr>
        <p:txBody>
          <a:bodyPr wrap="square" lIns="0" tIns="0" rIns="0" bIns="0" rtlCol="0" anchor="t">
            <a:spAutoFit/>
          </a:bodyPr>
          <a:lstStyle/>
          <a:p>
            <a:pPr algn="r">
              <a:lnSpc>
                <a:spcPts val="4320"/>
              </a:lnSpc>
            </a:pPr>
            <a:r>
              <a:rPr lang="en-US" sz="6000" spc="480" dirty="0">
                <a:solidFill>
                  <a:srgbClr val="6BD4CD"/>
                </a:solidFill>
                <a:latin typeface="Glacial Indifference Bold"/>
              </a:rPr>
              <a:t>   </a:t>
            </a:r>
            <a:r>
              <a:rPr lang="en-US" sz="4800" b="1" spc="480" dirty="0">
                <a:solidFill>
                  <a:srgbClr val="6BD4CD"/>
                </a:solidFill>
                <a:latin typeface="Times New Roman" panose="02020603050405020304" pitchFamily="18" charset="0"/>
                <a:cs typeface="Times New Roman" panose="02020603050405020304" pitchFamily="18" charset="0"/>
              </a:rPr>
              <a:t>Recruiter – Home Page</a:t>
            </a:r>
            <a:endParaRPr lang="en-US" sz="4800" b="1" spc="359" dirty="0">
              <a:solidFill>
                <a:srgbClr val="6BD4CD"/>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C9D4433A-E6DC-32EC-B477-A49038A713F3}"/>
              </a:ext>
            </a:extLst>
          </p:cNvPr>
          <p:cNvSpPr txBox="1"/>
          <p:nvPr/>
        </p:nvSpPr>
        <p:spPr>
          <a:xfrm>
            <a:off x="2209800" y="1770820"/>
            <a:ext cx="14173200" cy="1477328"/>
          </a:xfrm>
          <a:prstGeom prst="rect">
            <a:avLst/>
          </a:prstGeom>
          <a:noFill/>
        </p:spPr>
        <p:txBody>
          <a:bodyPr wrap="square" rtlCol="0">
            <a:spAutoFit/>
          </a:bodyPr>
          <a:lstStyle/>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IN" dirty="0"/>
          </a:p>
        </p:txBody>
      </p:sp>
      <p:pic>
        <p:nvPicPr>
          <p:cNvPr id="11" name="Picture 10" descr="A group of people standing in front of a large number&#10;&#10;AI-generated content may be incorrect.">
            <a:extLst>
              <a:ext uri="{FF2B5EF4-FFF2-40B4-BE49-F238E27FC236}">
                <a16:creationId xmlns:a16="http://schemas.microsoft.com/office/drawing/2014/main" id="{557D00F7-3FA3-CC0F-61B3-D6D63A5B149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95400" y="1153890"/>
            <a:ext cx="16078200" cy="8028210"/>
          </a:xfrm>
          <a:prstGeom prst="rect">
            <a:avLst/>
          </a:prstGeom>
          <a:noFill/>
        </p:spPr>
      </p:pic>
    </p:spTree>
    <p:extLst>
      <p:ext uri="{BB962C8B-B14F-4D97-AF65-F5344CB8AC3E}">
        <p14:creationId xmlns:p14="http://schemas.microsoft.com/office/powerpoint/2010/main" val="1876095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a:extLst>
            <a:ext uri="{FF2B5EF4-FFF2-40B4-BE49-F238E27FC236}">
              <a16:creationId xmlns:a16="http://schemas.microsoft.com/office/drawing/2014/main" id="{CDC80251-E92D-741B-11EF-E9CC003D99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35D3BA-E93F-3A49-AB0D-CFDB161E9156}"/>
              </a:ext>
            </a:extLst>
          </p:cNvPr>
          <p:cNvSpPr/>
          <p:nvPr/>
        </p:nvSpPr>
        <p:spPr>
          <a:xfrm rot="-3737344">
            <a:off x="8416210" y="-3200493"/>
            <a:ext cx="11223440" cy="11630507"/>
          </a:xfrm>
          <a:custGeom>
            <a:avLst/>
            <a:gdLst/>
            <a:ahLst/>
            <a:cxnLst/>
            <a:rect l="l" t="t" r="r" b="b"/>
            <a:pathLst>
              <a:path w="11223440" h="11630507">
                <a:moveTo>
                  <a:pt x="0" y="0"/>
                </a:moveTo>
                <a:lnTo>
                  <a:pt x="11223440" y="0"/>
                </a:lnTo>
                <a:lnTo>
                  <a:pt x="11223440" y="11630507"/>
                </a:lnTo>
                <a:lnTo>
                  <a:pt x="0" y="11630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2C7D8115-FAF7-B64B-557B-8D13C87961DE}"/>
              </a:ext>
            </a:extLst>
          </p:cNvPr>
          <p:cNvSpPr/>
          <p:nvPr/>
        </p:nvSpPr>
        <p:spPr>
          <a:xfrm rot="1769280">
            <a:off x="12822143" y="5527205"/>
            <a:ext cx="7703445" cy="7982845"/>
          </a:xfrm>
          <a:custGeom>
            <a:avLst/>
            <a:gdLst/>
            <a:ahLst/>
            <a:cxnLst/>
            <a:rect l="l" t="t" r="r" b="b"/>
            <a:pathLst>
              <a:path w="7703445" h="7982845">
                <a:moveTo>
                  <a:pt x="0" y="0"/>
                </a:moveTo>
                <a:lnTo>
                  <a:pt x="7703445" y="0"/>
                </a:lnTo>
                <a:lnTo>
                  <a:pt x="7703445" y="7982845"/>
                </a:lnTo>
                <a:lnTo>
                  <a:pt x="0" y="79828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DB0B43B8-4447-41AA-8C87-C8FB1FFA3BBF}"/>
              </a:ext>
            </a:extLst>
          </p:cNvPr>
          <p:cNvSpPr/>
          <p:nvPr/>
        </p:nvSpPr>
        <p:spPr>
          <a:xfrm rot="-249909">
            <a:off x="-1445661" y="-889124"/>
            <a:ext cx="5359726" cy="5554120"/>
          </a:xfrm>
          <a:custGeom>
            <a:avLst/>
            <a:gdLst/>
            <a:ahLst/>
            <a:cxnLst/>
            <a:rect l="l" t="t" r="r" b="b"/>
            <a:pathLst>
              <a:path w="5359726" h="5554120">
                <a:moveTo>
                  <a:pt x="0" y="0"/>
                </a:moveTo>
                <a:lnTo>
                  <a:pt x="5359725" y="0"/>
                </a:lnTo>
                <a:lnTo>
                  <a:pt x="5359725" y="5554120"/>
                </a:lnTo>
                <a:lnTo>
                  <a:pt x="0" y="5554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F32E58F5-D300-CCB5-AC41-19F66A3D547E}"/>
              </a:ext>
            </a:extLst>
          </p:cNvPr>
          <p:cNvSpPr/>
          <p:nvPr/>
        </p:nvSpPr>
        <p:spPr>
          <a:xfrm rot="7381687">
            <a:off x="-1334989" y="2059022"/>
            <a:ext cx="11649703" cy="12072231"/>
          </a:xfrm>
          <a:custGeom>
            <a:avLst/>
            <a:gdLst/>
            <a:ahLst/>
            <a:cxnLst/>
            <a:rect l="l" t="t" r="r" b="b"/>
            <a:pathLst>
              <a:path w="11649703" h="12072231">
                <a:moveTo>
                  <a:pt x="0" y="0"/>
                </a:moveTo>
                <a:lnTo>
                  <a:pt x="11649703" y="0"/>
                </a:lnTo>
                <a:lnTo>
                  <a:pt x="11649703" y="12072231"/>
                </a:lnTo>
                <a:lnTo>
                  <a:pt x="0" y="1207223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6" name="Group 6">
            <a:extLst>
              <a:ext uri="{FF2B5EF4-FFF2-40B4-BE49-F238E27FC236}">
                <a16:creationId xmlns:a16="http://schemas.microsoft.com/office/drawing/2014/main" id="{7463B022-AE01-DA44-D85E-41BF8B241C3A}"/>
              </a:ext>
            </a:extLst>
          </p:cNvPr>
          <p:cNvGrpSpPr/>
          <p:nvPr/>
        </p:nvGrpSpPr>
        <p:grpSpPr>
          <a:xfrm>
            <a:off x="-320056" y="8324850"/>
            <a:ext cx="1348756" cy="1348756"/>
            <a:chOff x="0" y="0"/>
            <a:chExt cx="6350000" cy="6350000"/>
          </a:xfrm>
        </p:grpSpPr>
        <p:sp>
          <p:nvSpPr>
            <p:cNvPr id="7" name="Freeform 7">
              <a:extLst>
                <a:ext uri="{FF2B5EF4-FFF2-40B4-BE49-F238E27FC236}">
                  <a16:creationId xmlns:a16="http://schemas.microsoft.com/office/drawing/2014/main" id="{42AD87B8-3E5B-07A2-2FED-8C82378DFB7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a:extLst>
              <a:ext uri="{FF2B5EF4-FFF2-40B4-BE49-F238E27FC236}">
                <a16:creationId xmlns:a16="http://schemas.microsoft.com/office/drawing/2014/main" id="{EABCAAF5-B083-A016-43C8-B456DE3757C9}"/>
              </a:ext>
            </a:extLst>
          </p:cNvPr>
          <p:cNvGrpSpPr/>
          <p:nvPr/>
        </p:nvGrpSpPr>
        <p:grpSpPr>
          <a:xfrm>
            <a:off x="16687800" y="457200"/>
            <a:ext cx="571500" cy="571500"/>
            <a:chOff x="0" y="0"/>
            <a:chExt cx="6350000" cy="6350000"/>
          </a:xfrm>
        </p:grpSpPr>
        <p:sp>
          <p:nvSpPr>
            <p:cNvPr id="9" name="Freeform 9">
              <a:extLst>
                <a:ext uri="{FF2B5EF4-FFF2-40B4-BE49-F238E27FC236}">
                  <a16:creationId xmlns:a16="http://schemas.microsoft.com/office/drawing/2014/main" id="{C00D1AC6-9F68-E2CA-5F00-B1F50E1211B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a:extLst>
              <a:ext uri="{FF2B5EF4-FFF2-40B4-BE49-F238E27FC236}">
                <a16:creationId xmlns:a16="http://schemas.microsoft.com/office/drawing/2014/main" id="{47CF58B6-64BD-1DC1-77BE-CB2C6F392716}"/>
              </a:ext>
            </a:extLst>
          </p:cNvPr>
          <p:cNvSpPr/>
          <p:nvPr/>
        </p:nvSpPr>
        <p:spPr>
          <a:xfrm rot="-152128">
            <a:off x="17306081" y="4085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TextBox 12">
            <a:extLst>
              <a:ext uri="{FF2B5EF4-FFF2-40B4-BE49-F238E27FC236}">
                <a16:creationId xmlns:a16="http://schemas.microsoft.com/office/drawing/2014/main" id="{E55D4EEA-9886-3394-D37E-F081067EC384}"/>
              </a:ext>
            </a:extLst>
          </p:cNvPr>
          <p:cNvSpPr txBox="1"/>
          <p:nvPr/>
        </p:nvSpPr>
        <p:spPr>
          <a:xfrm>
            <a:off x="4267200" y="421805"/>
            <a:ext cx="7089156" cy="603499"/>
          </a:xfrm>
          <a:prstGeom prst="rect">
            <a:avLst/>
          </a:prstGeom>
        </p:spPr>
        <p:txBody>
          <a:bodyPr wrap="square" lIns="0" tIns="0" rIns="0" bIns="0" rtlCol="0" anchor="t">
            <a:spAutoFit/>
          </a:bodyPr>
          <a:lstStyle/>
          <a:p>
            <a:pPr algn="r">
              <a:lnSpc>
                <a:spcPts val="4320"/>
              </a:lnSpc>
            </a:pPr>
            <a:r>
              <a:rPr lang="en-US" sz="6000" spc="480" dirty="0">
                <a:solidFill>
                  <a:srgbClr val="6BD4CD"/>
                </a:solidFill>
                <a:latin typeface="Glacial Indifference Bold"/>
              </a:rPr>
              <a:t>   CONCLUSION</a:t>
            </a:r>
            <a:endParaRPr lang="en-US" sz="6000" spc="359" dirty="0">
              <a:solidFill>
                <a:srgbClr val="6BD4CD"/>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D8A7D15-3DF6-FD8B-782B-907F3E776BCD}"/>
              </a:ext>
            </a:extLst>
          </p:cNvPr>
          <p:cNvSpPr txBox="1"/>
          <p:nvPr/>
        </p:nvSpPr>
        <p:spPr>
          <a:xfrm>
            <a:off x="867432" y="1770820"/>
            <a:ext cx="15515568" cy="6524863"/>
          </a:xfrm>
          <a:prstGeom prst="rect">
            <a:avLst/>
          </a:prstGeom>
          <a:noFill/>
        </p:spPr>
        <p:txBody>
          <a:bodyPr wrap="square" rtlCol="0">
            <a:spAutoFit/>
          </a:bodyPr>
          <a:lstStyle/>
          <a:p>
            <a:pPr>
              <a:lnSpc>
                <a:spcPct val="150000"/>
              </a:lnSpc>
            </a:pPr>
            <a:r>
              <a:rPr lang="en-IN" sz="2800" dirty="0">
                <a:solidFill>
                  <a:srgbClr val="6BD4CD"/>
                </a:solidFill>
                <a:latin typeface="Times New Roman" panose="02020603050405020304" pitchFamily="18" charset="0"/>
                <a:cs typeface="Times New Roman" panose="02020603050405020304" pitchFamily="18" charset="0"/>
              </a:rPr>
              <a:t>The Job Portal (Web Application) project provides an efficient and user-friendly platform that bridges the gap between job seekers and employers. It eliminates the limitations of traditional recruitment methods by digitizing the entire hiring process. Job seekers can easily search and apply for jobs, while employers can post vacancies and manage recruitment activities in a structured way.</a:t>
            </a:r>
            <a:br>
              <a:rPr lang="en-IN" sz="2800" dirty="0">
                <a:solidFill>
                  <a:srgbClr val="6BD4CD"/>
                </a:solidFill>
                <a:latin typeface="Times New Roman" panose="02020603050405020304" pitchFamily="18" charset="0"/>
                <a:cs typeface="Times New Roman" panose="02020603050405020304" pitchFamily="18" charset="0"/>
              </a:rPr>
            </a:br>
            <a:br>
              <a:rPr lang="en-IN" sz="2800" dirty="0">
                <a:solidFill>
                  <a:srgbClr val="6BD4CD"/>
                </a:solidFill>
                <a:latin typeface="Times New Roman" panose="02020603050405020304" pitchFamily="18" charset="0"/>
                <a:cs typeface="Times New Roman" panose="02020603050405020304" pitchFamily="18" charset="0"/>
              </a:rPr>
            </a:br>
            <a:r>
              <a:rPr lang="en-IN" sz="2800" dirty="0">
                <a:solidFill>
                  <a:srgbClr val="6BD4CD"/>
                </a:solidFill>
                <a:latin typeface="Times New Roman" panose="02020603050405020304" pitchFamily="18" charset="0"/>
                <a:cs typeface="Times New Roman" panose="02020603050405020304" pitchFamily="18" charset="0"/>
              </a:rPr>
              <a:t>The system leverages modern web technologies to ensure scalability, security, and accessibility. Overall, the Job Portal project successfully demonstrates how technology can simplify and enhance the recruitment process, making it faster, transparent, and more effective for both parties.</a:t>
            </a:r>
          </a:p>
          <a:p>
            <a:endParaRPr lang="en-US" altLang="en-US" sz="2800" dirty="0">
              <a:solidFill>
                <a:srgbClr val="6BD4CD"/>
              </a:solidFill>
              <a:latin typeface="Times New Roman" panose="02020603050405020304" pitchFamily="18" charset="0"/>
              <a:cs typeface="Times New Roman" panose="02020603050405020304" pitchFamily="18" charset="0"/>
            </a:endParaRPr>
          </a:p>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29113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a:extLst>
            <a:ext uri="{FF2B5EF4-FFF2-40B4-BE49-F238E27FC236}">
              <a16:creationId xmlns:a16="http://schemas.microsoft.com/office/drawing/2014/main" id="{4E099633-5EB7-1D6B-1910-5A7159434B0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058EE4C-309F-95D0-3211-2BD6E491FEDC}"/>
              </a:ext>
            </a:extLst>
          </p:cNvPr>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C1B18A1B-8682-3E4F-E6DF-A8E84DAA15D1}"/>
              </a:ext>
            </a:extLst>
          </p:cNvPr>
          <p:cNvSpPr/>
          <p:nvPr/>
        </p:nvSpPr>
        <p:spPr>
          <a:xfrm rot="-5688114">
            <a:off x="8410395" y="-1971930"/>
            <a:ext cx="9491370" cy="9835617"/>
          </a:xfrm>
          <a:custGeom>
            <a:avLst/>
            <a:gdLst/>
            <a:ahLst/>
            <a:cxnLst/>
            <a:rect l="l" t="t" r="r" b="b"/>
            <a:pathLst>
              <a:path w="9491370" h="9835617">
                <a:moveTo>
                  <a:pt x="0" y="0"/>
                </a:moveTo>
                <a:lnTo>
                  <a:pt x="9491370" y="0"/>
                </a:lnTo>
                <a:lnTo>
                  <a:pt x="9491370" y="9835616"/>
                </a:lnTo>
                <a:lnTo>
                  <a:pt x="0" y="983561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ED789EA8-FD11-518E-32CC-CBA2AA34D498}"/>
              </a:ext>
            </a:extLst>
          </p:cNvPr>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6B0913E0-6A9B-1E7C-83BF-AE0A5D948B61}"/>
              </a:ext>
            </a:extLst>
          </p:cNvPr>
          <p:cNvGrpSpPr/>
          <p:nvPr/>
        </p:nvGrpSpPr>
        <p:grpSpPr>
          <a:xfrm>
            <a:off x="3013906" y="2200419"/>
            <a:ext cx="13854268" cy="6262067"/>
            <a:chOff x="0" y="0"/>
            <a:chExt cx="4598049" cy="1563979"/>
          </a:xfrm>
        </p:grpSpPr>
        <p:sp>
          <p:nvSpPr>
            <p:cNvPr id="7" name="TextBox 7">
              <a:extLst>
                <a:ext uri="{FF2B5EF4-FFF2-40B4-BE49-F238E27FC236}">
                  <a16:creationId xmlns:a16="http://schemas.microsoft.com/office/drawing/2014/main" id="{212514D5-D013-A1EF-5CAA-F1CF1F4B49C8}"/>
                </a:ext>
              </a:extLst>
            </p:cNvPr>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a:extLst>
                <a:ext uri="{FF2B5EF4-FFF2-40B4-BE49-F238E27FC236}">
                  <a16:creationId xmlns:a16="http://schemas.microsoft.com/office/drawing/2014/main" id="{11A6746C-3D39-BF7D-0D77-527141158201}"/>
                </a:ext>
              </a:extLst>
            </p:cNvPr>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a:extLst>
              <a:ext uri="{FF2B5EF4-FFF2-40B4-BE49-F238E27FC236}">
                <a16:creationId xmlns:a16="http://schemas.microsoft.com/office/drawing/2014/main" id="{1CB30CDE-0936-67B9-A3FF-BE62DD0F7E99}"/>
              </a:ext>
            </a:extLst>
          </p:cNvPr>
          <p:cNvGrpSpPr/>
          <p:nvPr/>
        </p:nvGrpSpPr>
        <p:grpSpPr>
          <a:xfrm>
            <a:off x="17259300" y="8462486"/>
            <a:ext cx="571500" cy="571500"/>
            <a:chOff x="0" y="0"/>
            <a:chExt cx="6350000" cy="6350000"/>
          </a:xfrm>
        </p:grpSpPr>
        <p:sp>
          <p:nvSpPr>
            <p:cNvPr id="10" name="Freeform 10">
              <a:extLst>
                <a:ext uri="{FF2B5EF4-FFF2-40B4-BE49-F238E27FC236}">
                  <a16:creationId xmlns:a16="http://schemas.microsoft.com/office/drawing/2014/main" id="{DD733217-3BBB-1E91-751A-90D0FAAE543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a:extLst>
              <a:ext uri="{FF2B5EF4-FFF2-40B4-BE49-F238E27FC236}">
                <a16:creationId xmlns:a16="http://schemas.microsoft.com/office/drawing/2014/main" id="{806C90EB-FFC4-31B3-0094-C471964FBA67}"/>
              </a:ext>
            </a:extLst>
          </p:cNvPr>
          <p:cNvSpPr/>
          <p:nvPr/>
        </p:nvSpPr>
        <p:spPr>
          <a:xfrm>
            <a:off x="2756752" y="-419100"/>
            <a:ext cx="38100" cy="10706100"/>
          </a:xfrm>
          <a:prstGeom prst="rect">
            <a:avLst/>
          </a:prstGeom>
          <a:solidFill>
            <a:srgbClr val="E2EDF1"/>
          </a:solidFill>
        </p:spPr>
        <p:txBody>
          <a:bodyPr/>
          <a:lstStyle/>
          <a:p>
            <a:endParaRPr lang="en-IN"/>
          </a:p>
        </p:txBody>
      </p:sp>
      <p:grpSp>
        <p:nvGrpSpPr>
          <p:cNvPr id="12" name="Group 12">
            <a:extLst>
              <a:ext uri="{FF2B5EF4-FFF2-40B4-BE49-F238E27FC236}">
                <a16:creationId xmlns:a16="http://schemas.microsoft.com/office/drawing/2014/main" id="{293293F5-E236-B560-D9B7-F7CD25AC0E39}"/>
              </a:ext>
            </a:extLst>
          </p:cNvPr>
          <p:cNvGrpSpPr/>
          <p:nvPr/>
        </p:nvGrpSpPr>
        <p:grpSpPr>
          <a:xfrm>
            <a:off x="2628175" y="2407218"/>
            <a:ext cx="257154" cy="257154"/>
            <a:chOff x="0" y="0"/>
            <a:chExt cx="6350000" cy="6350000"/>
          </a:xfrm>
        </p:grpSpPr>
        <p:sp>
          <p:nvSpPr>
            <p:cNvPr id="13" name="Freeform 13">
              <a:extLst>
                <a:ext uri="{FF2B5EF4-FFF2-40B4-BE49-F238E27FC236}">
                  <a16:creationId xmlns:a16="http://schemas.microsoft.com/office/drawing/2014/main" id="{A1771E17-F61A-1907-155B-08065FA18E0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a:extLst>
              <a:ext uri="{FF2B5EF4-FFF2-40B4-BE49-F238E27FC236}">
                <a16:creationId xmlns:a16="http://schemas.microsoft.com/office/drawing/2014/main" id="{30C11EAF-C4F9-88DB-4DC9-110FDB381DF3}"/>
              </a:ext>
            </a:extLst>
          </p:cNvPr>
          <p:cNvGrpSpPr/>
          <p:nvPr/>
        </p:nvGrpSpPr>
        <p:grpSpPr>
          <a:xfrm>
            <a:off x="2666275" y="4848246"/>
            <a:ext cx="257154" cy="257154"/>
            <a:chOff x="0" y="0"/>
            <a:chExt cx="6350000" cy="6350000"/>
          </a:xfrm>
        </p:grpSpPr>
        <p:sp>
          <p:nvSpPr>
            <p:cNvPr id="15" name="Freeform 15">
              <a:extLst>
                <a:ext uri="{FF2B5EF4-FFF2-40B4-BE49-F238E27FC236}">
                  <a16:creationId xmlns:a16="http://schemas.microsoft.com/office/drawing/2014/main" id="{05D2EF85-09F9-D6D9-603A-BFAA8188AAF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a:extLst>
              <a:ext uri="{FF2B5EF4-FFF2-40B4-BE49-F238E27FC236}">
                <a16:creationId xmlns:a16="http://schemas.microsoft.com/office/drawing/2014/main" id="{0673AA1E-B928-5759-46CB-C4B0E42F96D6}"/>
              </a:ext>
            </a:extLst>
          </p:cNvPr>
          <p:cNvGrpSpPr/>
          <p:nvPr/>
        </p:nvGrpSpPr>
        <p:grpSpPr>
          <a:xfrm>
            <a:off x="2666275" y="6556353"/>
            <a:ext cx="257154" cy="257154"/>
            <a:chOff x="0" y="0"/>
            <a:chExt cx="6350000" cy="6350000"/>
          </a:xfrm>
        </p:grpSpPr>
        <p:sp>
          <p:nvSpPr>
            <p:cNvPr id="17" name="Freeform 17">
              <a:extLst>
                <a:ext uri="{FF2B5EF4-FFF2-40B4-BE49-F238E27FC236}">
                  <a16:creationId xmlns:a16="http://schemas.microsoft.com/office/drawing/2014/main" id="{D9AB1288-B25F-2C54-0E34-3F365167929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a:extLst>
              <a:ext uri="{FF2B5EF4-FFF2-40B4-BE49-F238E27FC236}">
                <a16:creationId xmlns:a16="http://schemas.microsoft.com/office/drawing/2014/main" id="{51662060-0362-6F9F-704E-314F3D95F358}"/>
              </a:ext>
            </a:extLst>
          </p:cNvPr>
          <p:cNvGrpSpPr/>
          <p:nvPr/>
        </p:nvGrpSpPr>
        <p:grpSpPr>
          <a:xfrm>
            <a:off x="-320056" y="604334"/>
            <a:ext cx="1348756" cy="1348756"/>
            <a:chOff x="0" y="0"/>
            <a:chExt cx="6350000" cy="6350000"/>
          </a:xfrm>
        </p:grpSpPr>
        <p:sp>
          <p:nvSpPr>
            <p:cNvPr id="19" name="Freeform 19">
              <a:extLst>
                <a:ext uri="{FF2B5EF4-FFF2-40B4-BE49-F238E27FC236}">
                  <a16:creationId xmlns:a16="http://schemas.microsoft.com/office/drawing/2014/main" id="{1A5376D6-F0FE-BD9D-9B7C-120445AB164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0" name="Freeform 20">
            <a:extLst>
              <a:ext uri="{FF2B5EF4-FFF2-40B4-BE49-F238E27FC236}">
                <a16:creationId xmlns:a16="http://schemas.microsoft.com/office/drawing/2014/main" id="{6661C77B-B6D0-63FD-F34D-A4772BFA4CD5}"/>
              </a:ext>
            </a:extLst>
          </p:cNvPr>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a:extLst>
              <a:ext uri="{FF2B5EF4-FFF2-40B4-BE49-F238E27FC236}">
                <a16:creationId xmlns:a16="http://schemas.microsoft.com/office/drawing/2014/main" id="{78B71569-3AD1-157A-3564-901A34B4340F}"/>
              </a:ext>
            </a:extLst>
          </p:cNvPr>
          <p:cNvSpPr txBox="1"/>
          <p:nvPr/>
        </p:nvSpPr>
        <p:spPr>
          <a:xfrm>
            <a:off x="3733801" y="322034"/>
            <a:ext cx="10403838" cy="699743"/>
          </a:xfrm>
          <a:prstGeom prst="rect">
            <a:avLst/>
          </a:prstGeom>
        </p:spPr>
        <p:txBody>
          <a:bodyPr wrap="square" lIns="0" tIns="0" rIns="0" bIns="0" rtlCol="0" anchor="t">
            <a:spAutoFit/>
          </a:bodyPr>
          <a:lstStyle/>
          <a:p>
            <a:pPr algn="ctr">
              <a:lnSpc>
                <a:spcPts val="5363"/>
              </a:lnSpc>
            </a:pPr>
            <a:r>
              <a:rPr lang="en-IN" sz="6000" b="1" dirty="0">
                <a:solidFill>
                  <a:srgbClr val="002060"/>
                </a:solidFill>
                <a:latin typeface="Times New Roman" panose="02020603050405020304" pitchFamily="18" charset="0"/>
                <a:cs typeface="Times New Roman" panose="02020603050405020304" pitchFamily="18" charset="0"/>
              </a:rPr>
              <a:t>References</a:t>
            </a:r>
            <a:endParaRPr lang="en-US" sz="6000" b="1" spc="446" dirty="0">
              <a:solidFill>
                <a:srgbClr val="002060"/>
              </a:solidFill>
              <a:latin typeface="Times New Roman" panose="02020603050405020304" pitchFamily="18" charset="0"/>
              <a:cs typeface="Times New Roman" panose="02020603050405020304" pitchFamily="18" charset="0"/>
            </a:endParaRPr>
          </a:p>
        </p:txBody>
      </p:sp>
      <p:grpSp>
        <p:nvGrpSpPr>
          <p:cNvPr id="25" name="Group 25">
            <a:extLst>
              <a:ext uri="{FF2B5EF4-FFF2-40B4-BE49-F238E27FC236}">
                <a16:creationId xmlns:a16="http://schemas.microsoft.com/office/drawing/2014/main" id="{75D232FF-332C-C582-027D-BACFDF412012}"/>
              </a:ext>
            </a:extLst>
          </p:cNvPr>
          <p:cNvGrpSpPr/>
          <p:nvPr/>
        </p:nvGrpSpPr>
        <p:grpSpPr>
          <a:xfrm>
            <a:off x="2666275" y="8037930"/>
            <a:ext cx="257154" cy="257154"/>
            <a:chOff x="0" y="0"/>
            <a:chExt cx="6350000" cy="6350000"/>
          </a:xfrm>
        </p:grpSpPr>
        <p:sp>
          <p:nvSpPr>
            <p:cNvPr id="26" name="Freeform 26">
              <a:extLst>
                <a:ext uri="{FF2B5EF4-FFF2-40B4-BE49-F238E27FC236}">
                  <a16:creationId xmlns:a16="http://schemas.microsoft.com/office/drawing/2014/main" id="{FA0AF8CD-3E88-C072-F4FD-119E9432E4E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1" name="TextBox 20">
            <a:extLst>
              <a:ext uri="{FF2B5EF4-FFF2-40B4-BE49-F238E27FC236}">
                <a16:creationId xmlns:a16="http://schemas.microsoft.com/office/drawing/2014/main" id="{03FD2D01-3AC2-39B4-0829-B9284348FA21}"/>
              </a:ext>
            </a:extLst>
          </p:cNvPr>
          <p:cNvSpPr txBox="1"/>
          <p:nvPr/>
        </p:nvSpPr>
        <p:spPr>
          <a:xfrm>
            <a:off x="3405032" y="1281661"/>
            <a:ext cx="13854268" cy="8925520"/>
          </a:xfrm>
          <a:prstGeom prst="rect">
            <a:avLst/>
          </a:prstGeom>
          <a:noFill/>
        </p:spPr>
        <p:txBody>
          <a:bodyPr wrap="square" rtlCol="0">
            <a:spAutoFit/>
          </a:bodyPr>
          <a:lstStyle/>
          <a:p>
            <a:pPr lvl="0"/>
            <a:r>
              <a:rPr lang="en-IN" sz="2000" b="1" dirty="0">
                <a:latin typeface="Times New Roman" panose="02020603050405020304" pitchFamily="18" charset="0"/>
                <a:cs typeface="Times New Roman" panose="02020603050405020304" pitchFamily="18" charset="0"/>
              </a:rPr>
              <a:t>MongoDB Documentation.</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NoSQL Database for Modern Applications.</a:t>
            </a:r>
            <a:r>
              <a:rPr lang="en-IN" sz="2000" dirty="0">
                <a:latin typeface="Times New Roman" panose="02020603050405020304" pitchFamily="18" charset="0"/>
                <a:cs typeface="Times New Roman" panose="02020603050405020304" pitchFamily="18" charset="0"/>
              </a:rPr>
              <a:t> Retrieved from </a:t>
            </a:r>
            <a:r>
              <a:rPr lang="en-IN" sz="2000" u="sng" dirty="0">
                <a:latin typeface="Times New Roman" panose="02020603050405020304" pitchFamily="18" charset="0"/>
                <a:cs typeface="Times New Roman" panose="02020603050405020304" pitchFamily="18" charset="0"/>
                <a:hlinkClick r:id="rId6"/>
              </a:rPr>
              <a:t>https://www.mongodb.com/docs/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pPr lvl="0"/>
            <a:r>
              <a:rPr lang="en-IN" sz="2000" b="1" dirty="0">
                <a:latin typeface="Times New Roman" panose="02020603050405020304" pitchFamily="18" charset="0"/>
                <a:cs typeface="Times New Roman" panose="02020603050405020304" pitchFamily="18" charset="0"/>
              </a:rPr>
              <a:t>Express.js Official Documentation.</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Fast, unopinionated, minimalist web framework for Node.js.</a:t>
            </a:r>
            <a:r>
              <a:rPr lang="en-IN" sz="2000" dirty="0">
                <a:latin typeface="Times New Roman" panose="02020603050405020304" pitchFamily="18" charset="0"/>
                <a:cs typeface="Times New Roman" panose="02020603050405020304" pitchFamily="18" charset="0"/>
              </a:rPr>
              <a:t> Retrieved from </a:t>
            </a:r>
            <a:r>
              <a:rPr lang="en-IN" sz="2000" u="sng" dirty="0">
                <a:latin typeface="Times New Roman" panose="02020603050405020304" pitchFamily="18" charset="0"/>
                <a:cs typeface="Times New Roman" panose="02020603050405020304" pitchFamily="18" charset="0"/>
                <a:hlinkClick r:id="rId7"/>
              </a:rPr>
              <a:t>https://expressjs.com/</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pPr lvl="0"/>
            <a:r>
              <a:rPr lang="en-IN" sz="2000" b="1" dirty="0">
                <a:latin typeface="Times New Roman" panose="02020603050405020304" pitchFamily="18" charset="0"/>
                <a:cs typeface="Times New Roman" panose="02020603050405020304" pitchFamily="18" charset="0"/>
              </a:rPr>
              <a:t>React.js Documentation.</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A JavaScript library for building user interfaces.</a:t>
            </a:r>
            <a:r>
              <a:rPr lang="en-IN" sz="2000" dirty="0">
                <a:latin typeface="Times New Roman" panose="02020603050405020304" pitchFamily="18" charset="0"/>
                <a:cs typeface="Times New Roman" panose="02020603050405020304" pitchFamily="18" charset="0"/>
              </a:rPr>
              <a:t> Retrieved from </a:t>
            </a:r>
            <a:r>
              <a:rPr lang="en-IN" sz="2000" u="sng" dirty="0">
                <a:latin typeface="Times New Roman" panose="02020603050405020304" pitchFamily="18" charset="0"/>
                <a:cs typeface="Times New Roman" panose="02020603050405020304" pitchFamily="18" charset="0"/>
                <a:hlinkClick r:id="rId8"/>
              </a:rPr>
              <a:t>https://react.dev/</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pPr lvl="0"/>
            <a:r>
              <a:rPr lang="en-IN" sz="2000" b="1" dirty="0">
                <a:latin typeface="Times New Roman" panose="02020603050405020304" pitchFamily="18" charset="0"/>
                <a:cs typeface="Times New Roman" panose="02020603050405020304" pitchFamily="18" charset="0"/>
              </a:rPr>
              <a:t>Node.js Documentation.</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Node.js JavaScript runtime built on Chrome’s V8 JavaScript engine.</a:t>
            </a:r>
            <a:r>
              <a:rPr lang="en-IN" sz="2000" dirty="0">
                <a:latin typeface="Times New Roman" panose="02020603050405020304" pitchFamily="18" charset="0"/>
                <a:cs typeface="Times New Roman" panose="02020603050405020304" pitchFamily="18" charset="0"/>
              </a:rPr>
              <a:t> Retrieved from </a:t>
            </a:r>
            <a:r>
              <a:rPr lang="en-IN" sz="2000" u="sng" dirty="0">
                <a:latin typeface="Times New Roman" panose="02020603050405020304" pitchFamily="18" charset="0"/>
                <a:cs typeface="Times New Roman" panose="02020603050405020304" pitchFamily="18" charset="0"/>
                <a:hlinkClick r:id="rId9"/>
              </a:rPr>
              <a:t>https://nodejs.org/en/docs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pPr lvl="0"/>
            <a:r>
              <a:rPr lang="en-IN" sz="2000" b="1" dirty="0">
                <a:latin typeface="Times New Roman" panose="02020603050405020304" pitchFamily="18" charset="0"/>
                <a:cs typeface="Times New Roman" panose="02020603050405020304" pitchFamily="18" charset="0"/>
              </a:rPr>
              <a:t>Bootstrap Official Documentation.</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Front-end component library for responsive web design.</a:t>
            </a:r>
            <a:r>
              <a:rPr lang="en-IN" sz="2000" dirty="0">
                <a:latin typeface="Times New Roman" panose="02020603050405020304" pitchFamily="18" charset="0"/>
                <a:cs typeface="Times New Roman" panose="02020603050405020304" pitchFamily="18" charset="0"/>
              </a:rPr>
              <a:t> Retrieved from https://getbootstrap.com/docs/</a:t>
            </a:r>
          </a:p>
          <a:p>
            <a:r>
              <a:rPr lang="en-IN" sz="2000" dirty="0">
                <a:latin typeface="Times New Roman" panose="02020603050405020304" pitchFamily="18" charset="0"/>
                <a:cs typeface="Times New Roman" panose="02020603050405020304" pitchFamily="18" charset="0"/>
              </a:rPr>
              <a:t> </a:t>
            </a:r>
          </a:p>
          <a:p>
            <a:pPr lvl="0"/>
            <a:r>
              <a:rPr lang="en-IN" sz="2000" b="1" dirty="0" err="1">
                <a:latin typeface="Times New Roman" panose="02020603050405020304" pitchFamily="18" charset="0"/>
                <a:cs typeface="Times New Roman" panose="02020603050405020304" pitchFamily="18" charset="0"/>
              </a:rPr>
              <a:t>Cloudinary</a:t>
            </a:r>
            <a:r>
              <a:rPr lang="en-IN" sz="2000" b="1" dirty="0">
                <a:latin typeface="Times New Roman" panose="02020603050405020304" pitchFamily="18" charset="0"/>
                <a:cs typeface="Times New Roman" panose="02020603050405020304" pitchFamily="18" charset="0"/>
              </a:rPr>
              <a:t> Developer Guide.</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Media management and optimization platform.</a:t>
            </a:r>
            <a:r>
              <a:rPr lang="en-IN" sz="2000" dirty="0">
                <a:latin typeface="Times New Roman" panose="02020603050405020304" pitchFamily="18" charset="0"/>
                <a:cs typeface="Times New Roman" panose="02020603050405020304" pitchFamily="18" charset="0"/>
              </a:rPr>
              <a:t> Retrieved from </a:t>
            </a:r>
            <a:r>
              <a:rPr lang="en-IN" sz="2000" u="sng" dirty="0">
                <a:latin typeface="Times New Roman" panose="02020603050405020304" pitchFamily="18" charset="0"/>
                <a:cs typeface="Times New Roman" panose="02020603050405020304" pitchFamily="18" charset="0"/>
                <a:hlinkClick r:id="rId10"/>
              </a:rPr>
              <a:t>https://cloudinary.com/documentation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pPr lvl="0"/>
            <a:r>
              <a:rPr lang="en-IN" sz="2000" b="1" dirty="0">
                <a:latin typeface="Times New Roman" panose="02020603050405020304" pitchFamily="18" charset="0"/>
                <a:cs typeface="Times New Roman" panose="02020603050405020304" pitchFamily="18" charset="0"/>
              </a:rPr>
              <a:t>JWT.io.</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Introduction to JSON Web Tokens for Secure Authentication.</a:t>
            </a:r>
            <a:r>
              <a:rPr lang="en-IN" sz="2000" dirty="0">
                <a:latin typeface="Times New Roman" panose="02020603050405020304" pitchFamily="18" charset="0"/>
                <a:cs typeface="Times New Roman" panose="02020603050405020304" pitchFamily="18" charset="0"/>
              </a:rPr>
              <a:t> Retrieved from </a:t>
            </a:r>
            <a:r>
              <a:rPr lang="en-IN" sz="2000" u="sng" dirty="0">
                <a:latin typeface="Times New Roman" panose="02020603050405020304" pitchFamily="18" charset="0"/>
                <a:cs typeface="Times New Roman" panose="02020603050405020304" pitchFamily="18" charset="0"/>
                <a:hlinkClick r:id="rId11"/>
              </a:rPr>
              <a:t>https://jwt.io/introduction/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pPr lvl="0"/>
            <a:r>
              <a:rPr lang="en-IN" sz="2000" b="1" dirty="0">
                <a:latin typeface="Times New Roman" panose="02020603050405020304" pitchFamily="18" charset="0"/>
                <a:cs typeface="Times New Roman" panose="02020603050405020304" pitchFamily="18" charset="0"/>
              </a:rPr>
              <a:t>MDN Web Docs.</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JavaScript and Web Development Tutorials and References.</a:t>
            </a:r>
            <a:r>
              <a:rPr lang="en-IN" sz="2000" dirty="0">
                <a:latin typeface="Times New Roman" panose="02020603050405020304" pitchFamily="18" charset="0"/>
                <a:cs typeface="Times New Roman" panose="02020603050405020304" pitchFamily="18" charset="0"/>
              </a:rPr>
              <a:t> Retrieved from </a:t>
            </a:r>
            <a:r>
              <a:rPr lang="en-IN" sz="2000" u="sng" dirty="0">
                <a:latin typeface="Times New Roman" panose="02020603050405020304" pitchFamily="18" charset="0"/>
                <a:cs typeface="Times New Roman" panose="02020603050405020304" pitchFamily="18" charset="0"/>
                <a:hlinkClick r:id="rId12"/>
              </a:rPr>
              <a:t>https://developer.mozilla.org/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pPr lvl="0"/>
            <a:r>
              <a:rPr lang="en-IN" sz="2000" b="1" dirty="0" err="1">
                <a:latin typeface="Times New Roman" panose="02020603050405020304" pitchFamily="18" charset="0"/>
                <a:cs typeface="Times New Roman" panose="02020603050405020304" pitchFamily="18" charset="0"/>
              </a:rPr>
              <a:t>GeeksforGeeks</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MERN Stack Development Tutorial Series.</a:t>
            </a:r>
            <a:r>
              <a:rPr lang="en-IN" sz="2000" dirty="0">
                <a:latin typeface="Times New Roman" panose="02020603050405020304" pitchFamily="18" charset="0"/>
                <a:cs typeface="Times New Roman" panose="02020603050405020304" pitchFamily="18" charset="0"/>
              </a:rPr>
              <a:t> Retrieved from </a:t>
            </a:r>
            <a:r>
              <a:rPr lang="en-IN" sz="2000" u="sng" dirty="0">
                <a:latin typeface="Times New Roman" panose="02020603050405020304" pitchFamily="18" charset="0"/>
                <a:cs typeface="Times New Roman" panose="02020603050405020304" pitchFamily="18" charset="0"/>
                <a:hlinkClick r:id="rId13"/>
              </a:rPr>
              <a:t>https://www.geeksforgeeks.org/mern-stack/</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pPr lvl="0"/>
            <a:r>
              <a:rPr lang="en-IN" sz="2000" b="1" dirty="0" err="1">
                <a:latin typeface="Times New Roman" panose="02020603050405020304" pitchFamily="18" charset="0"/>
                <a:cs typeface="Times New Roman" panose="02020603050405020304" pitchFamily="18" charset="0"/>
              </a:rPr>
              <a:t>FreeCodeCamp</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(2024). </a:t>
            </a:r>
            <a:r>
              <a:rPr lang="en-IN" sz="2000" i="1" dirty="0">
                <a:latin typeface="Times New Roman" panose="02020603050405020304" pitchFamily="18" charset="0"/>
                <a:cs typeface="Times New Roman" panose="02020603050405020304" pitchFamily="18" charset="0"/>
              </a:rPr>
              <a:t>Full Stack Web Development Guide using MERN Stack.</a:t>
            </a:r>
            <a:r>
              <a:rPr lang="en-IN" sz="2000" dirty="0">
                <a:latin typeface="Times New Roman" panose="02020603050405020304" pitchFamily="18" charset="0"/>
                <a:cs typeface="Times New Roman" panose="02020603050405020304" pitchFamily="18" charset="0"/>
              </a:rPr>
              <a:t> Retrieved from </a:t>
            </a:r>
            <a:r>
              <a:rPr lang="en-IN" sz="2000" u="sng" dirty="0">
                <a:latin typeface="Times New Roman" panose="02020603050405020304" pitchFamily="18" charset="0"/>
                <a:cs typeface="Times New Roman" panose="02020603050405020304" pitchFamily="18" charset="0"/>
                <a:hlinkClick r:id="rId14"/>
              </a:rPr>
              <a:t>https://www.freecodecamp.org/</a:t>
            </a:r>
            <a:endParaRPr lang="en-IN" sz="20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p>
          <a:p>
            <a:r>
              <a:rPr lang="en-IN" dirty="0"/>
              <a:t> </a:t>
            </a:r>
          </a:p>
          <a:p>
            <a:pPr eaLnBrk="0" fontAlgn="base" hangingPunct="0">
              <a:spcBef>
                <a:spcPct val="0"/>
              </a:spcBef>
              <a:spcAft>
                <a:spcPct val="0"/>
              </a:spcAft>
              <a:buFontTx/>
              <a:buChar char="•"/>
            </a:pPr>
            <a:endParaRPr lang="en-US" altLang="en-US" dirty="0">
              <a:latin typeface="Arial" panose="020B0604020202020204" pitchFamily="34" charset="0"/>
            </a:endParaRPr>
          </a:p>
          <a:p>
            <a:pPr eaLnBrk="0" fontAlgn="base" hangingPunct="0">
              <a:spcBef>
                <a:spcPct val="0"/>
              </a:spcBef>
              <a:spcAft>
                <a:spcPct val="0"/>
              </a:spcAft>
              <a:buFontTx/>
              <a:buChar char="•"/>
            </a:pPr>
            <a:endParaRPr lang="en-US" altLang="en-US" dirty="0">
              <a:latin typeface="Arial" panose="020B0604020202020204" pitchFamily="34" charset="0"/>
            </a:endParaRPr>
          </a:p>
          <a:p>
            <a:pPr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endParaRPr lang="en-US" altLang="en-US" dirty="0">
              <a:latin typeface="Arial" panose="020B0604020202020204" pitchFamily="34" charset="0"/>
            </a:endParaRPr>
          </a:p>
        </p:txBody>
      </p:sp>
    </p:spTree>
    <p:extLst>
      <p:ext uri="{BB962C8B-B14F-4D97-AF65-F5344CB8AC3E}">
        <p14:creationId xmlns:p14="http://schemas.microsoft.com/office/powerpoint/2010/main" val="206215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TextBox 2"/>
          <p:cNvSpPr txBox="1"/>
          <p:nvPr/>
        </p:nvSpPr>
        <p:spPr>
          <a:xfrm>
            <a:off x="4004275" y="4803081"/>
            <a:ext cx="10279451" cy="680838"/>
          </a:xfrm>
          <a:prstGeom prst="rect">
            <a:avLst/>
          </a:prstGeom>
        </p:spPr>
        <p:txBody>
          <a:bodyPr lIns="0" tIns="0" rIns="0" bIns="0" rtlCol="0" anchor="t">
            <a:spAutoFit/>
          </a:bodyPr>
          <a:lstStyle/>
          <a:p>
            <a:pPr algn="ctr">
              <a:lnSpc>
                <a:spcPts val="5363"/>
              </a:lnSpc>
            </a:pPr>
            <a:r>
              <a:rPr lang="en-US" sz="4469" spc="446">
                <a:solidFill>
                  <a:srgbClr val="6BD4CD"/>
                </a:solidFill>
                <a:latin typeface="Glacial Indifferen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3199</TotalTime>
  <Words>1448</Words>
  <Application>Microsoft Office PowerPoint</Application>
  <PresentationFormat>Custom</PresentationFormat>
  <Paragraphs>146</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Wingdings</vt:lpstr>
      <vt:lpstr>Calibri</vt:lpstr>
      <vt:lpstr>Arial</vt:lpstr>
      <vt:lpstr>Glacial Indifference</vt:lpstr>
      <vt:lpstr>Glacial Indifference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dc:creator>Aadhan Navilan</dc:creator>
  <cp:lastModifiedBy>Utkarsh Srivastava</cp:lastModifiedBy>
  <cp:revision>94</cp:revision>
  <dcterms:created xsi:type="dcterms:W3CDTF">2006-08-16T00:00:00Z</dcterms:created>
  <dcterms:modified xsi:type="dcterms:W3CDTF">2025-12-06T05:02:14Z</dcterms:modified>
  <dc:identifier>DAF3HU4MsMc</dc:identifier>
</cp:coreProperties>
</file>